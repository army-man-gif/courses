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50"/>
  </p:notesMasterIdLst>
  <p:sldIdLst>
    <p:sldId id="256" r:id="rId2"/>
    <p:sldId id="257" r:id="rId3"/>
    <p:sldId id="1341" r:id="rId4"/>
    <p:sldId id="1324" r:id="rId5"/>
    <p:sldId id="1339" r:id="rId6"/>
    <p:sldId id="258" r:id="rId7"/>
    <p:sldId id="1340" r:id="rId8"/>
    <p:sldId id="1254" r:id="rId9"/>
    <p:sldId id="1256" r:id="rId10"/>
    <p:sldId id="1255" r:id="rId11"/>
    <p:sldId id="1321" r:id="rId12"/>
    <p:sldId id="1322" r:id="rId13"/>
    <p:sldId id="1240" r:id="rId14"/>
    <p:sldId id="1262" r:id="rId15"/>
    <p:sldId id="1263" r:id="rId16"/>
    <p:sldId id="1264" r:id="rId17"/>
    <p:sldId id="1265" r:id="rId18"/>
    <p:sldId id="1266" r:id="rId19"/>
    <p:sldId id="1267" r:id="rId20"/>
    <p:sldId id="1268" r:id="rId21"/>
    <p:sldId id="1327" r:id="rId22"/>
    <p:sldId id="1329" r:id="rId23"/>
    <p:sldId id="1332" r:id="rId24"/>
    <p:sldId id="1330" r:id="rId25"/>
    <p:sldId id="290" r:id="rId26"/>
    <p:sldId id="291" r:id="rId27"/>
    <p:sldId id="292" r:id="rId28"/>
    <p:sldId id="293" r:id="rId29"/>
    <p:sldId id="294" r:id="rId30"/>
    <p:sldId id="1333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9" r:id="rId39"/>
    <p:sldId id="310" r:id="rId40"/>
    <p:sldId id="311" r:id="rId41"/>
    <p:sldId id="1335" r:id="rId42"/>
    <p:sldId id="1336" r:id="rId43"/>
    <p:sldId id="1337" r:id="rId44"/>
    <p:sldId id="1338" r:id="rId45"/>
    <p:sldId id="1328" r:id="rId46"/>
    <p:sldId id="267" r:id="rId47"/>
    <p:sldId id="268" r:id="rId48"/>
    <p:sldId id="269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CD2C74-B293-59E2-2B96-6324C5C0B16A}" v="57" dt="2025-09-08T16:58:03.557"/>
    <p1510:client id="{8E22B5CC-AFC8-9CD6-44E9-B01AD49BA482}" v="5" dt="2025-09-08T10:04:26.794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89987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6F852-7A07-7045-A834-2C4EF7B75A6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01EDD5-97F0-BA47-9D99-8FAC7C74E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61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It provides a clear and simple way to visualize the database design, making it easier for everyone involved to understand and discuss.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1EDD5-97F0-BA47-9D99-8FAC7C74E7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67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8995B-08F0-EEBB-DF86-CABFD600F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6C9B1-6DBD-50C8-A561-ADBBF0041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5835B-AADE-3B4A-7B10-6458129C6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It provides a clear and simple way to visualize the database design, making it easier for everyone involved to understand and discuss.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6E883-BCE2-7F24-0825-DC7CDE79F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1EDD5-97F0-BA47-9D99-8FAC7C74E7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98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77841" y="1286677"/>
            <a:ext cx="9144000" cy="2387600"/>
          </a:xfrm>
          <a:prstGeom prst="rect">
            <a:avLst/>
          </a:prstGeom>
          <a:solidFill>
            <a:schemeClr val="bg1"/>
          </a:solidFill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77841" y="3674277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F70169D-EE12-91DD-C274-7DD153D21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195497"/>
            <a:ext cx="2635601" cy="4792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560F2C9-9372-B4EA-FD55-10766EB0E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141" y="5417276"/>
            <a:ext cx="5600700" cy="12892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64CE6E0-1991-7CC2-3228-E4A9872CC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41" y="1270000"/>
            <a:ext cx="2667000" cy="412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760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Title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59760" y="1274763"/>
            <a:ext cx="836168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 </a:t>
            </a:r>
            <a:br>
              <a:rPr lang="en-GB" dirty="0"/>
            </a:br>
            <a:r>
              <a:rPr lang="en-GB" dirty="0"/>
              <a:t>Should be between </a:t>
            </a:r>
            <a:br>
              <a:rPr lang="en-GB" dirty="0"/>
            </a:br>
            <a:r>
              <a:rPr lang="en-GB" dirty="0"/>
              <a:t>1-3 lines max. </a:t>
            </a:r>
            <a:endParaRPr lang="en-US" dirty="0"/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59758" y="3707702"/>
            <a:ext cx="836168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004D5CD-1028-023E-1A5D-3C1E0FD4D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6075022"/>
            <a:ext cx="2635601" cy="4792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9E5D75-EA66-17C6-8119-0F3593CC5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320" y="5448555"/>
            <a:ext cx="6224270" cy="1344358"/>
          </a:xfrm>
          <a:prstGeom prst="rect">
            <a:avLst/>
          </a:prstGeom>
        </p:spPr>
      </p:pic>
      <p:pic>
        <p:nvPicPr>
          <p:cNvPr id="27" name="Picture 26" descr="A computer screen with code and cloud&#10;&#10;AI-generated content may be incorrect.">
            <a:extLst>
              <a:ext uri="{FF2B5EF4-FFF2-40B4-BE49-F238E27FC236}">
                <a16:creationId xmlns:a16="http://schemas.microsoft.com/office/drawing/2014/main" id="{74AD1BCB-FF0C-133F-7A37-56116C0DB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53" y="1274763"/>
            <a:ext cx="2780348" cy="1853565"/>
          </a:xfrm>
          <a:prstGeom prst="rect">
            <a:avLst/>
          </a:prstGeom>
          <a:effectLst>
            <a:reflection stA="41000" endPos="65000" dist="1143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5424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437430"/>
            <a:ext cx="10861040" cy="577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9" name="3. Content Placeholder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353695"/>
            <a:ext cx="10861040" cy="448830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831E387-C2E6-8183-4FD6-1B0A81258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9" y="6180925"/>
            <a:ext cx="2635601" cy="4792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28549A-B9A2-E0C2-9A0C-BC543965E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677" y="6101715"/>
            <a:ext cx="351472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585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17" name="3. Content Placeholder (1)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1B1B1B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4. Content Placeholder (2)">
            <a:extLst>
              <a:ext uri="{FF2B5EF4-FFF2-40B4-BE49-F238E27FC236}">
                <a16:creationId xmlns:a16="http://schemas.microsoft.com/office/drawing/2014/main" id="{53C047A4-2E76-022B-2525-898053FDCC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03620" y="1310641"/>
            <a:ext cx="5181600" cy="43789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1B1B1B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9CECC89-37C6-DD92-BD75-F5B6FD637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" y="6180925"/>
            <a:ext cx="2635601" cy="4792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09038A-B821-C355-53EC-71D38F1B0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037" y="6072907"/>
            <a:ext cx="351472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763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3" name="3. Content Placeholder (1)">
            <a:extLst>
              <a:ext uri="{FF2B5EF4-FFF2-40B4-BE49-F238E27FC236}">
                <a16:creationId xmlns:a16="http://schemas.microsoft.com/office/drawing/2014/main" id="{A162B99D-4A4D-B778-5FD2-9F4A22B0B3A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68019" y="1636464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4. Text Box Placeholder (1)">
            <a:extLst>
              <a:ext uri="{FF2B5EF4-FFF2-40B4-BE49-F238E27FC236}">
                <a16:creationId xmlns:a16="http://schemas.microsoft.com/office/drawing/2014/main" id="{6D6CB8B4-9C8E-A2FA-558C-30A5D08270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069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4" name="5. Content Placeholder (2)">
            <a:extLst>
              <a:ext uri="{FF2B5EF4-FFF2-40B4-BE49-F238E27FC236}">
                <a16:creationId xmlns:a16="http://schemas.microsoft.com/office/drawing/2014/main" id="{A2B13861-080E-609A-01A7-5EDC25A0B0F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836000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6. Text Box Placeholder (2)">
            <a:extLst>
              <a:ext uri="{FF2B5EF4-FFF2-40B4-BE49-F238E27FC236}">
                <a16:creationId xmlns:a16="http://schemas.microsoft.com/office/drawing/2014/main" id="{005774E2-5CA0-1157-5F43-7B5C9996EF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5525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9" name="7. Content Placeholder (3)">
            <a:extLst>
              <a:ext uri="{FF2B5EF4-FFF2-40B4-BE49-F238E27FC236}">
                <a16:creationId xmlns:a16="http://schemas.microsoft.com/office/drawing/2014/main" id="{5565E762-8883-AB43-D811-12B759024A9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714257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8. Text Box Placeholder (3)">
            <a:extLst>
              <a:ext uri="{FF2B5EF4-FFF2-40B4-BE49-F238E27FC236}">
                <a16:creationId xmlns:a16="http://schemas.microsoft.com/office/drawing/2014/main" id="{D584B818-73B8-22FE-5635-36F576CEAB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13782" y="4400389"/>
            <a:ext cx="2520475" cy="9810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sub copy here.</a:t>
            </a:r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393837B-1B16-F25B-143D-A10BAF58B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9" y="583537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683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Divider Slide -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 Title Placeholder">
            <a:extLst>
              <a:ext uri="{FF2B5EF4-FFF2-40B4-BE49-F238E27FC236}">
                <a16:creationId xmlns:a16="http://schemas.microsoft.com/office/drawing/2014/main" id="{4D8642A1-7E6D-B42F-7749-8DC80C6DED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754224"/>
            <a:ext cx="6520180" cy="97604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4" name="2. Subtitle Placeholder">
            <a:extLst>
              <a:ext uri="{FF2B5EF4-FFF2-40B4-BE49-F238E27FC236}">
                <a16:creationId xmlns:a16="http://schemas.microsoft.com/office/drawing/2014/main" id="{798414E1-64D1-96D6-D06F-F94F3202C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2059593"/>
            <a:ext cx="6353996" cy="13694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52863"/>
            <a:ext cx="12192000" cy="3005137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6B7F87-1CCB-931C-DAFC-042D7E687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478" y="62278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73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Divider Slide -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. Title Placeholder">
            <a:extLst>
              <a:ext uri="{FF2B5EF4-FFF2-40B4-BE49-F238E27FC236}">
                <a16:creationId xmlns:a16="http://schemas.microsoft.com/office/drawing/2014/main" id="{DC759DBE-3BA0-9E84-5596-2AD69AA128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headline here.</a:t>
            </a:r>
            <a:endParaRPr lang="en-US"/>
          </a:p>
        </p:txBody>
      </p:sp>
      <p:sp>
        <p:nvSpPr>
          <p:cNvPr id="7" name="2. Subtitle Placeholder">
            <a:extLst>
              <a:ext uri="{FF2B5EF4-FFF2-40B4-BE49-F238E27FC236}">
                <a16:creationId xmlns:a16="http://schemas.microsoft.com/office/drawing/2014/main" id="{02A192BC-C9DB-F0AB-B1DE-03D15E5A87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7650" y="1"/>
            <a:ext cx="5784349" cy="6858000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26F1A4B-7C20-D3E8-BAAB-933BDC260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9" y="583537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612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Divider Slide -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7653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title here.</a:t>
            </a:r>
            <a:endParaRPr lang="en-US"/>
          </a:p>
        </p:txBody>
      </p:sp>
      <p:sp>
        <p:nvSpPr>
          <p:cNvPr id="8" name="2. Subtitle Placeholder">
            <a:extLst>
              <a:ext uri="{FF2B5EF4-FFF2-40B4-BE49-F238E27FC236}">
                <a16:creationId xmlns:a16="http://schemas.microsoft.com/office/drawing/2014/main" id="{F1BF5AB1-F146-83EF-D63E-DD9EA52569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7653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5784349" cy="6858000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BF526FB-1163-BD4A-7E80-3940E63F4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653" y="583537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324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C91B-EA6B-4FF5-8FD4-DC48113BE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A7720-8308-3E9D-D005-2A34602E6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F2EBA-AFF9-F6A6-98D2-BE7C444A3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C9C2-86C9-4B41-B256-07DE415B42A7}" type="datetime1">
              <a:rPr lang="en-GB" smtClean="0"/>
              <a:t>24/09/2025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BFC3A-16A5-FC35-3A93-BF7CACC1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0EFD0-C6F2-8764-B824-F5303F88E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E1C1-71D4-4A45-AA15-7F84C65D8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6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17D8-6072-E243-ABD5-B501EF432BD9}" type="datetime1">
              <a:rPr lang="en-GB" smtClean="0"/>
              <a:t>24/09/2025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371167"/>
            <a:ext cx="2743200" cy="365125"/>
          </a:xfrm>
        </p:spPr>
        <p:txBody>
          <a:bodyPr/>
          <a:lstStyle>
            <a:lvl1pPr>
              <a:defRPr sz="2000">
                <a:solidFill>
                  <a:srgbClr val="00B0F0"/>
                </a:solidFill>
              </a:defRPr>
            </a:lvl1pPr>
          </a:lstStyle>
          <a:p>
            <a:fld id="{DFBCB640-E2E4-46AC-8607-2102058E59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31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2416969" y="1946672"/>
            <a:ext cx="7358063" cy="4018360"/>
          </a:xfrm>
          <a:prstGeom prst="rect">
            <a:avLst/>
          </a:prstGeom>
        </p:spPr>
        <p:txBody>
          <a:bodyPr/>
          <a:lstStyle>
            <a:lvl1pPr>
              <a:spcBef>
                <a:spcPts val="1650"/>
              </a:spcBef>
            </a:lvl1pPr>
            <a:lvl2pPr>
              <a:spcBef>
                <a:spcPts val="1650"/>
              </a:spcBef>
            </a:lvl2pPr>
            <a:lvl3pPr>
              <a:spcBef>
                <a:spcPts val="1650"/>
              </a:spcBef>
            </a:lvl3pPr>
            <a:lvl4pPr>
              <a:spcBef>
                <a:spcPts val="1650"/>
              </a:spcBef>
            </a:lvl4pPr>
            <a:lvl5pPr>
              <a:spcBef>
                <a:spcPts val="1650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055798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Text"/>
          <p:cNvSpPr txBox="1">
            <a:spLocks noGrp="1"/>
          </p:cNvSpPr>
          <p:nvPr>
            <p:ph type="title"/>
          </p:nvPr>
        </p:nvSpPr>
        <p:spPr>
          <a:xfrm>
            <a:off x="2416969" y="2089547"/>
            <a:ext cx="7358063" cy="267890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697448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C08AA-2148-527A-BB20-1D271A404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0"/>
            <a:ext cx="1051560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797B6-4643-3710-FBDF-B4E98217F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347469"/>
            <a:ext cx="10515600" cy="4829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46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5" r:id="rId10"/>
    <p:sldLayoutId id="2147483676" r:id="rId11"/>
    <p:sldLayoutId id="2147483677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1B1B1B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hipster.tech/jdl/relationships" TargetMode="Externa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hipster.tech/jdl-studio/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t&amp;source=web&amp;rct=j&amp;opi=89978449&amp;url=https://www.se.rit.edu/~swen-344/slides/DB/rabb/03.1%2520Normalization.pptx&amp;ved=2ahUKEwj3paTfq5aOAxWiQUEAHYpuOboQFnoECB0QAQ&amp;usg=AOvVaw0SWaerAxIib9NHFQ0wYVxj" TargetMode="External"/><Relationship Id="rId2" Type="http://schemas.openxmlformats.org/officeDocument/2006/relationships/hyperlink" Target="https://www.google.com/url?sa=t&amp;source=web&amp;rct=j&amp;opi=89978449&amp;url=https://www.cl.cam.ac.uk/teaching/0708/Databases/lec07.ppt&amp;ved=2ahUKEwj3paTfq5aOAxWiQUEAHYpuOboQFnoECBYQAQ&amp;usg=AOvVaw1o7rPd5A1YL52fUzkpKZy_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F96DB-11E7-AD8B-E31E-ADC8DF91A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3042"/>
            <a:ext cx="9144000" cy="2387600"/>
          </a:xfrm>
        </p:spPr>
        <p:txBody>
          <a:bodyPr/>
          <a:lstStyle/>
          <a:p>
            <a:r>
              <a:rPr lang="en-GB"/>
              <a:t>Entity-Relationship (ER) Model</a:t>
            </a:r>
            <a:endParaRPr lang="en-GB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E3333-A86D-902B-77E2-6079401DA6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1158"/>
            <a:ext cx="9144000" cy="1655762"/>
          </a:xfrm>
        </p:spPr>
        <p:txBody>
          <a:bodyPr/>
          <a:lstStyle/>
          <a:p>
            <a:r>
              <a:rPr lang="en-GB" noProof="0" dirty="0"/>
              <a:t>Week 2 – Part 1</a:t>
            </a:r>
          </a:p>
        </p:txBody>
      </p:sp>
    </p:spTree>
    <p:extLst>
      <p:ext uri="{BB962C8B-B14F-4D97-AF65-F5344CB8AC3E}">
        <p14:creationId xmlns:p14="http://schemas.microsoft.com/office/powerpoint/2010/main" val="3279507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70414-BF39-61BF-7136-7D20443EF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37430"/>
            <a:ext cx="1840411" cy="577340"/>
          </a:xfrm>
        </p:spPr>
        <p:txBody>
          <a:bodyPr/>
          <a:lstStyle/>
          <a:p>
            <a:r>
              <a:rPr lang="en-GB" noProof="0" dirty="0"/>
              <a:t>This Week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DC2C41-F739-11C1-BB4C-4B7018A23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413950"/>
              </p:ext>
            </p:extLst>
          </p:nvPr>
        </p:nvGraphicFramePr>
        <p:xfrm>
          <a:off x="2602411" y="263671"/>
          <a:ext cx="9399181" cy="6275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411">
                  <a:extLst>
                    <a:ext uri="{9D8B030D-6E8A-4147-A177-3AD203B41FA5}">
                      <a16:colId xmlns:a16="http://schemas.microsoft.com/office/drawing/2014/main" val="3694587546"/>
                    </a:ext>
                  </a:extLst>
                </a:gridCol>
                <a:gridCol w="2320423">
                  <a:extLst>
                    <a:ext uri="{9D8B030D-6E8A-4147-A177-3AD203B41FA5}">
                      <a16:colId xmlns:a16="http://schemas.microsoft.com/office/drawing/2014/main" val="1946343675"/>
                    </a:ext>
                  </a:extLst>
                </a:gridCol>
                <a:gridCol w="1424821">
                  <a:extLst>
                    <a:ext uri="{9D8B030D-6E8A-4147-A177-3AD203B41FA5}">
                      <a16:colId xmlns:a16="http://schemas.microsoft.com/office/drawing/2014/main" val="2219019823"/>
                    </a:ext>
                  </a:extLst>
                </a:gridCol>
                <a:gridCol w="4941526">
                  <a:extLst>
                    <a:ext uri="{9D8B030D-6E8A-4147-A177-3AD203B41FA5}">
                      <a16:colId xmlns:a16="http://schemas.microsoft.com/office/drawing/2014/main" val="3697729728"/>
                    </a:ext>
                  </a:extLst>
                </a:gridCol>
              </a:tblGrid>
              <a:tr h="59337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Lecture Dates (Edgbaston)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Lab Dates (Edgbaston)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Topic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920893"/>
                  </a:ext>
                </a:extLst>
              </a:tr>
              <a:tr h="3762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Group 1 - Wednesdays (10:00-12:00) 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Group 2 - Fridays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 (12:00-14:00)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Fridays 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(14:00-17:00)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Introduction to databases;  Database design guidelines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773942"/>
                  </a:ext>
                </a:extLst>
              </a:tr>
              <a:tr h="59542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Database design; Entity relation (ER) modelling; Keys; </a:t>
                      </a:r>
                      <a:r>
                        <a:rPr lang="en-US" sz="1600" dirty="0" err="1">
                          <a:latin typeface="+mn-lt"/>
                        </a:rPr>
                        <a:t>Normalisation</a:t>
                      </a:r>
                      <a:r>
                        <a:rPr lang="en-US" sz="1600" dirty="0">
                          <a:latin typeface="+mn-lt"/>
                        </a:rPr>
                        <a:t>​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455715"/>
                  </a:ext>
                </a:extLst>
              </a:tr>
              <a:tr h="119358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289384"/>
                  </a:ext>
                </a:extLst>
              </a:tr>
              <a:tr h="593377">
                <a:tc vMerge="1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Creating and populating databases; </a:t>
                      </a:r>
                      <a:r>
                        <a:rPr lang="en-US" sz="16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PostgreSQL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287852"/>
                  </a:ext>
                </a:extLst>
              </a:tr>
              <a:tr h="59337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SQL Querying – Operators, Ordering, Aggregation; NoSQL and Graph Databases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254541"/>
                  </a:ext>
                </a:extLst>
              </a:tr>
              <a:tr h="34353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NoSQL and Graph Databases; </a:t>
                      </a:r>
                      <a:r>
                        <a:rPr lang="en-US" sz="16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Class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486376"/>
                  </a:ext>
                </a:extLst>
              </a:tr>
              <a:tr h="34353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Assessment support week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216521"/>
                  </a:ext>
                </a:extLst>
              </a:tr>
              <a:tr h="59337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programming introduction; Tech stack, Template application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008016"/>
                  </a:ext>
                </a:extLst>
              </a:tr>
              <a:tr h="59337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8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applications vs Static pages; Tech stack concepts; REST APIs; RESTFUL style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997059"/>
                  </a:ext>
                </a:extLst>
              </a:tr>
              <a:tr h="59337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9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SpringBoot</a:t>
                      </a: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application structure,; </a:t>
                      </a:r>
                      <a:r>
                        <a:rPr lang="en-GB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SpringBoot</a:t>
                      </a: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annotations, case study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342401"/>
                  </a:ext>
                </a:extLst>
              </a:tr>
              <a:tr h="59337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Front end concepts, TypeScript fundamentals, Angular front end development,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303297"/>
                  </a:ext>
                </a:extLst>
              </a:tr>
              <a:tr h="34353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Class 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074625"/>
                  </a:ext>
                </a:extLst>
              </a:tr>
            </a:tbl>
          </a:graphicData>
        </a:graphic>
      </p:graphicFrame>
      <p:sp>
        <p:nvSpPr>
          <p:cNvPr id="11" name="Right Arrow 10">
            <a:extLst>
              <a:ext uri="{FF2B5EF4-FFF2-40B4-BE49-F238E27FC236}">
                <a16:creationId xmlns:a16="http://schemas.microsoft.com/office/drawing/2014/main" id="{64F37C26-01AE-EAE0-0002-0F42A02D5548}"/>
              </a:ext>
            </a:extLst>
          </p:cNvPr>
          <p:cNvSpPr/>
          <p:nvPr/>
        </p:nvSpPr>
        <p:spPr>
          <a:xfrm>
            <a:off x="589385" y="1307049"/>
            <a:ext cx="2185639" cy="4683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22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95903-44DF-596A-5E00-909B146C6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DAD9DF-1A08-7125-64C5-31E818912B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noProof="0" dirty="0"/>
              <a:t>What is ER Model?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noProof="0" dirty="0"/>
              <a:t>Why do we need Model?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Various </a:t>
            </a:r>
            <a:r>
              <a:rPr lang="en-US" dirty="0"/>
              <a:t>symbols and syntax for 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ER model examples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Tools we can use for ER diagrams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27097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3B1A-F654-A2CC-CC14-13C90878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700" b="1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Introduction to ER Model</a:t>
            </a:r>
            <a:endParaRPr lang="en-US" sz="2700" b="1">
              <a:solidFill>
                <a:srgbClr val="0066CC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45E4E-3D6B-EFF1-161D-FA2FB4AB14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An </a:t>
            </a:r>
            <a:r>
              <a:rPr lang="en-GB" b="1" dirty="0"/>
              <a:t>Entity-Relationship (ER) Model</a:t>
            </a:r>
            <a:r>
              <a:rPr lang="en-GB" dirty="0"/>
              <a:t> is a graphical representation of a database that shows the relationships between different pieces of information.</a:t>
            </a:r>
          </a:p>
          <a:p>
            <a:pPr algn="just"/>
            <a:r>
              <a:rPr lang="en-GB" dirty="0"/>
              <a:t>Think of it as a </a:t>
            </a:r>
            <a:r>
              <a:rPr lang="en-GB" b="1" dirty="0"/>
              <a:t>blueprint for a database</a:t>
            </a:r>
            <a:r>
              <a:rPr lang="en-GB" dirty="0"/>
              <a:t>. Just like an architect creates a blueprint before building a house, a database designer creates an ER model before building a database.</a:t>
            </a:r>
          </a:p>
          <a:p>
            <a:pPr algn="just"/>
            <a:r>
              <a:rPr lang="en-GB" dirty="0"/>
              <a:t>This model helps us understand the structure of the data, how different parts of the data are connected, and what rules apply to the data.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952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CE73A-0F76-DF44-0364-FBA9A2AA7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AE60FB93-B050-FB66-3994-BB0DB06E88C3}"/>
              </a:ext>
            </a:extLst>
          </p:cNvPr>
          <p:cNvSpPr/>
          <p:nvPr/>
        </p:nvSpPr>
        <p:spPr>
          <a:xfrm>
            <a:off x="3225768" y="382473"/>
            <a:ext cx="4855496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Do We Need Modeling?</a:t>
            </a:r>
            <a:endParaRPr lang="en-US" sz="2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D3A7F4-F93A-FD45-34E3-BDF0BBE20466}"/>
              </a:ext>
            </a:extLst>
          </p:cNvPr>
          <p:cNvSpPr txBox="1"/>
          <p:nvPr/>
        </p:nvSpPr>
        <p:spPr>
          <a:xfrm>
            <a:off x="878620" y="1028343"/>
            <a:ext cx="1082990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Database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especially using ER Models, is crucial before building any database system. Here's why: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Clarity and Communication: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 It provides a clear visual representation of the database structure, making it easy for developers, clients, and stakeholders to understand and discuss the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Better Design: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 It helps in identifying and correcting design flaws early in the development process, saving time and resources.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Reduced Redundancy: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 By visualizing relationships, we can minimize data duplication, leading to more efficient and consistent databases.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Data Integrity: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 It helps in defining rules and constraints to ensure the accuracy and reliability of the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Scalability: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 A well-designed model can easily be expanded or modified as the system grows, ensuring future flexibility.</a:t>
            </a:r>
          </a:p>
        </p:txBody>
      </p:sp>
    </p:spTree>
    <p:extLst>
      <p:ext uri="{BB962C8B-B14F-4D97-AF65-F5344CB8AC3E}">
        <p14:creationId xmlns:p14="http://schemas.microsoft.com/office/powerpoint/2010/main" val="3669682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DEE8B-1712-B6B0-6D7B-5961EE0A1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715" y="4214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noProof="0"/>
            </a:br>
            <a:r>
              <a:rPr lang="en-GB" b="1"/>
              <a:t>Basic Components of ER Model</a:t>
            </a:r>
            <a:br>
              <a:rPr lang="en-GB" b="1"/>
            </a:b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27690-A2C8-D3B6-8A48-172312B668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049" y="1735604"/>
            <a:ext cx="10515600" cy="23160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>
                <a:solidFill>
                  <a:srgbClr val="212529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ER model describes data in terms of :</a:t>
            </a:r>
          </a:p>
          <a:p>
            <a:r>
              <a:rPr lang="en-US">
                <a:solidFill>
                  <a:srgbClr val="FF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en-US">
                <a:solidFill>
                  <a:srgbClr val="212529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or mathematical object </a:t>
            </a:r>
            <a:r>
              <a:rPr lang="en-US" err="1">
                <a:solidFill>
                  <a:srgbClr val="212529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>
                <a:solidFill>
                  <a:srgbClr val="212529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anything you can (want/need) to define.</a:t>
            </a:r>
          </a:p>
          <a:p>
            <a:r>
              <a:rPr lang="en-US">
                <a:solidFill>
                  <a:srgbClr val="FF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lang="en-US">
                <a:solidFill>
                  <a:srgbClr val="212529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between two entities </a:t>
            </a:r>
          </a:p>
          <a:p>
            <a:r>
              <a:rPr lang="en-US">
                <a:solidFill>
                  <a:srgbClr val="FF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  <a:r>
              <a:rPr lang="en-US">
                <a:solidFill>
                  <a:srgbClr val="212529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properties of the entities (</a:t>
            </a:r>
            <a:r>
              <a:rPr lang="en-US" err="1">
                <a:solidFill>
                  <a:srgbClr val="212529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>
                <a:solidFill>
                  <a:srgbClr val="212529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domains of the relation)</a:t>
            </a:r>
          </a:p>
          <a:p>
            <a:pPr lvl="1"/>
            <a:r>
              <a:rPr lang="en-US">
                <a:solidFill>
                  <a:srgbClr val="212529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collection od entities sharing the same attributes is called an entity type, analogous to a class in OOP</a:t>
            </a:r>
          </a:p>
          <a:p>
            <a:endParaRPr lang="en-GB" noProof="0"/>
          </a:p>
        </p:txBody>
      </p:sp>
      <p:pic>
        <p:nvPicPr>
          <p:cNvPr id="6" name="Picture 5" descr="A close-up of a white card&#10;&#10;AI-generated content may be incorrect.">
            <a:extLst>
              <a:ext uri="{FF2B5EF4-FFF2-40B4-BE49-F238E27FC236}">
                <a16:creationId xmlns:a16="http://schemas.microsoft.com/office/drawing/2014/main" id="{6C073539-B0D6-BC3F-3250-2B3089D2F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183" y="4087374"/>
            <a:ext cx="7772400" cy="245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444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6922B4-6AFF-4580-F157-828FFF3BB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99532" cy="592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016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D15EDC-C2FF-55EC-4DC1-0BFB303D0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87316" cy="559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296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F13544-7783-AA21-DB30-56F95C2C2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79079" cy="570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17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78CD78-4C9A-6780-32DB-0F2768F95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7" y="107722"/>
            <a:ext cx="8989040" cy="599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70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B05F02-628F-B0B3-1363-F07DF63033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251" b="32521"/>
          <a:stretch/>
        </p:blipFill>
        <p:spPr>
          <a:xfrm>
            <a:off x="-177974" y="0"/>
            <a:ext cx="8989040" cy="8534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ED6E2D-DA54-B876-4950-7360A8A0B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859520" cy="629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70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3E9CD-F355-012A-DE7B-1B0342E580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948" b="9619"/>
          <a:stretch/>
        </p:blipFill>
        <p:spPr>
          <a:xfrm>
            <a:off x="0" y="437430"/>
            <a:ext cx="11814174" cy="9013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5C5C35-BA41-A5EF-70E7-F340915843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986" r="34748"/>
          <a:stretch/>
        </p:blipFill>
        <p:spPr>
          <a:xfrm>
            <a:off x="599439" y="1818640"/>
            <a:ext cx="9991421" cy="413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05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F210B6-E887-9529-51B2-6A77F2E1D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98000" cy="623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945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D148E4-3906-7E01-7070-FC5CC10C30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573"/>
          <a:stretch/>
        </p:blipFill>
        <p:spPr>
          <a:xfrm>
            <a:off x="0" y="0"/>
            <a:ext cx="9641440" cy="299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AAAEA3-2920-F2AC-B120-29E740E81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84" y="3743960"/>
            <a:ext cx="8225413" cy="227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546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FC9B17-73FA-DAE2-8E7E-1E1124296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98286" cy="614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62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C03987-0CFB-3C7B-4067-E4023C88A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498841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37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7DFDCC-D032-3DA2-AF3F-F2EE4AC1D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14080" cy="586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91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E5298E-1F54-2DD8-2701-DADE5E23D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20480" cy="609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18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6DE9CE-9315-DCA4-8FD9-4A89F8CA98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6511"/>
          <a:stretch/>
        </p:blipFill>
        <p:spPr>
          <a:xfrm>
            <a:off x="254451" y="121708"/>
            <a:ext cx="9194349" cy="1381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12EB47-3B96-453C-DE57-DC52746522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130" b="16214"/>
          <a:stretch/>
        </p:blipFill>
        <p:spPr>
          <a:xfrm>
            <a:off x="314960" y="1603268"/>
            <a:ext cx="4582861" cy="51330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A328E-C151-628C-0BAA-99464B4A3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641" y="1586107"/>
            <a:ext cx="6662557" cy="478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856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75E336-957B-8B22-0E84-FFCE6B3B9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65039" cy="615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359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1F2E3-DBCD-2F94-68AB-8E716DA95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4200" b="1"/>
              <a:t>Tools for ER Diagramming</a:t>
            </a:r>
            <a:endParaRPr lang="en-US" sz="4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E4B45-AE9D-FD11-BB56-0DAA1C28C3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533939"/>
            <a:ext cx="3429000" cy="3410712"/>
          </a:xfrm>
        </p:spPr>
        <p:txBody>
          <a:bodyPr anchor="t">
            <a:normAutofit lnSpcReduction="10000"/>
          </a:bodyPr>
          <a:lstStyle/>
          <a:p>
            <a:r>
              <a:rPr lang="en-GB" sz="1600" b="1" dirty="0"/>
              <a:t>Free/Open Source Tools:</a:t>
            </a:r>
          </a:p>
          <a:p>
            <a:pPr lvl="1"/>
            <a:r>
              <a:rPr lang="en-GB" sz="1600" b="1" dirty="0" err="1"/>
              <a:t>Draw.io</a:t>
            </a:r>
            <a:r>
              <a:rPr lang="en-GB" sz="1600" dirty="0"/>
              <a:t>: Browser-based, easy to use</a:t>
            </a:r>
          </a:p>
          <a:p>
            <a:pPr lvl="1"/>
            <a:r>
              <a:rPr lang="en-GB" sz="1600" b="1" dirty="0"/>
              <a:t>MySQL Workbench</a:t>
            </a:r>
            <a:r>
              <a:rPr lang="en-GB" sz="1600" dirty="0"/>
              <a:t>: For MySQL databases</a:t>
            </a:r>
          </a:p>
          <a:p>
            <a:pPr lvl="1"/>
            <a:r>
              <a:rPr lang="en-GB" sz="1600" b="1" dirty="0" err="1"/>
              <a:t>ERDPlus</a:t>
            </a:r>
            <a:r>
              <a:rPr lang="en-GB" sz="1600" dirty="0"/>
              <a:t>: Web-based for educational use</a:t>
            </a:r>
          </a:p>
          <a:p>
            <a:r>
              <a:rPr lang="en-GB" sz="1600" b="1" dirty="0"/>
              <a:t>Commercial Tools:</a:t>
            </a:r>
          </a:p>
          <a:p>
            <a:pPr lvl="1"/>
            <a:r>
              <a:rPr lang="en-GB" sz="1600" b="1" dirty="0" err="1"/>
              <a:t>Lucidchart</a:t>
            </a:r>
            <a:r>
              <a:rPr lang="en-GB" sz="1600" dirty="0"/>
              <a:t>: Cloud-based collaboration</a:t>
            </a:r>
          </a:p>
          <a:p>
            <a:pPr lvl="1"/>
            <a:r>
              <a:rPr lang="en-GB" sz="1600" b="1" dirty="0"/>
              <a:t>Visual Paradigm</a:t>
            </a:r>
            <a:r>
              <a:rPr lang="en-GB" sz="1600" dirty="0"/>
              <a:t>: Professional design tool</a:t>
            </a:r>
          </a:p>
          <a:p>
            <a:pPr lvl="1"/>
            <a:r>
              <a:rPr lang="en-GB" sz="1600" b="1" dirty="0"/>
              <a:t>Microsoft Visio</a:t>
            </a:r>
            <a:r>
              <a:rPr lang="en-GB" sz="1600" dirty="0"/>
              <a:t>: Part of Microsoft Office</a:t>
            </a:r>
          </a:p>
          <a:p>
            <a:endParaRPr lang="en-US" sz="1600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A33221AC-A461-CFA1-22C1-D6EEF05D4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31" y="640080"/>
            <a:ext cx="6680049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40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F0447-45F1-6FFB-D96C-332020B75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200" b="1" dirty="0"/>
              <a:t>Tools for ER Diagramming</a:t>
            </a:r>
            <a:br>
              <a:rPr lang="en-GB" sz="4200" b="1" dirty="0"/>
            </a:br>
            <a:r>
              <a:rPr lang="en-US" sz="4200" b="1" dirty="0" err="1"/>
              <a:t>JHipster</a:t>
            </a:r>
            <a:r>
              <a:rPr lang="en-GB" sz="4200" b="1" dirty="0"/>
              <a:t> Domain Language - JDL</a:t>
            </a:r>
            <a:endParaRPr lang="en-US" dirty="0"/>
          </a:p>
        </p:txBody>
      </p:sp>
      <p:pic>
        <p:nvPicPr>
          <p:cNvPr id="5" name="Content Placeholder 4" descr="A group of people with text overlay&#10;&#10;AI-generated content may be incorrect.">
            <a:extLst>
              <a:ext uri="{FF2B5EF4-FFF2-40B4-BE49-F238E27FC236}">
                <a16:creationId xmlns:a16="http://schemas.microsoft.com/office/drawing/2014/main" id="{F1BB66D6-D451-370A-E8B7-E06D042310F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81049" y="1546128"/>
            <a:ext cx="7966842" cy="427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677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FAFE5B-66D0-44CD-CA84-FA2FBA1350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03309" y="776069"/>
            <a:ext cx="7978421" cy="448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716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46B0C-5479-8A12-0261-A6E7C420B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US" sz="4200" b="1"/>
              <a:t>What is </a:t>
            </a:r>
            <a:r>
              <a:rPr lang="en-US" sz="4200" b="1" err="1"/>
              <a:t>JHipster</a:t>
            </a:r>
            <a:r>
              <a:rPr lang="en-US" sz="4200" b="1"/>
              <a:t> JDL?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A6A02-9014-29E6-6716-B669CA584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1178" y="200565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JDL = </a:t>
            </a:r>
            <a:r>
              <a:rPr lang="en-US" b="1" dirty="0" err="1">
                <a:ea typeface="+mn-lt"/>
                <a:cs typeface="+mn-lt"/>
              </a:rPr>
              <a:t>JHipster</a:t>
            </a:r>
            <a:r>
              <a:rPr lang="en-US" b="1" dirty="0">
                <a:ea typeface="+mn-lt"/>
                <a:cs typeface="+mn-lt"/>
              </a:rPr>
              <a:t> Domain Language</a:t>
            </a:r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A </a:t>
            </a:r>
            <a:r>
              <a:rPr lang="en-US" b="1" dirty="0">
                <a:ea typeface="+mn-lt"/>
                <a:cs typeface="+mn-lt"/>
              </a:rPr>
              <a:t>DSL (Domain-Specific Language)</a:t>
            </a:r>
            <a:r>
              <a:rPr lang="en-US" dirty="0">
                <a:ea typeface="+mn-lt"/>
                <a:cs typeface="+mn-lt"/>
              </a:rPr>
              <a:t> to describe entities, fields, relationships, and configurations</a:t>
            </a:r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Used to quickly </a:t>
            </a:r>
            <a:r>
              <a:rPr lang="en-US" b="1" dirty="0">
                <a:ea typeface="+mn-lt"/>
                <a:cs typeface="+mn-lt"/>
              </a:rPr>
              <a:t>generate code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ER diagrams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Can be written in </a:t>
            </a:r>
            <a:r>
              <a:rPr lang="en-US" dirty="0">
                <a:latin typeface="Consolas"/>
              </a:rPr>
              <a:t>.</a:t>
            </a:r>
            <a:r>
              <a:rPr lang="en-US" dirty="0" err="1">
                <a:latin typeface="Consolas"/>
              </a:rPr>
              <a:t>jdl</a:t>
            </a:r>
            <a:r>
              <a:rPr lang="en-US" dirty="0">
                <a:ea typeface="+mn-lt"/>
                <a:cs typeface="+mn-lt"/>
              </a:rPr>
              <a:t> files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504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JDL Ent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JDL Entity</a:t>
            </a:r>
          </a:p>
        </p:txBody>
      </p:sp>
      <p:sp>
        <p:nvSpPr>
          <p:cNvPr id="656" name="🤔 think Java or UML or OO class…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t>🤔 think Java or UML or OO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class</a:t>
            </a:r>
          </a:p>
          <a:p>
            <a:pPr marL="0" indent="0">
              <a:buNone/>
            </a:pPr>
            <a:r>
              <a:t> </a:t>
            </a:r>
            <a:r>
              <a:rPr b="1"/>
              <a:t>with</a:t>
            </a:r>
            <a:r>
              <a:t> attributes</a:t>
            </a:r>
          </a:p>
          <a:p>
            <a:pPr marL="0" indent="0">
              <a:buNone/>
            </a:pPr>
            <a:r>
              <a:t> </a:t>
            </a:r>
            <a:r>
              <a:rPr b="1"/>
              <a:t>without</a:t>
            </a:r>
            <a:r>
              <a:t> operations</a:t>
            </a:r>
          </a:p>
        </p:txBody>
      </p:sp>
      <p:pic>
        <p:nvPicPr>
          <p:cNvPr id="657" name="Screenshot 2024-01-25 at 16.01.43.png" descr="Screenshot 2024-01-25 at 16.01.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047" y="2836109"/>
            <a:ext cx="8692844" cy="33448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Screenshot 2024-01-25 at 15.20.42.png" descr="Screenshot 2024-01-25 at 15.20.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839" y="714041"/>
            <a:ext cx="7544507" cy="7763051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660" name="Table 1"/>
          <p:cNvGraphicFramePr/>
          <p:nvPr/>
        </p:nvGraphicFramePr>
        <p:xfrm>
          <a:off x="288403" y="443013"/>
          <a:ext cx="5916397" cy="6517200"/>
        </p:xfrm>
        <a:graphic>
          <a:graphicData uri="http://schemas.openxmlformats.org/drawingml/2006/table">
            <a:tbl>
              <a:tblPr bandRow="1"/>
              <a:tblGrid>
                <a:gridCol w="1868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7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120">
                <a:tc gridSpan="2"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 b="1" dirty="0"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25400" marR="25400" marT="25400" marB="254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String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>
                          <a:sym typeface="Helvetica Light"/>
                        </a:rPr>
                        <a:t> Textual data.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TextBlob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>
                          <a:sym typeface="Helvetica Light"/>
                        </a:rPr>
                        <a:t> Large blocks of text (stored as binary)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">
                <a:tc gridSpan="2"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 b="1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Numeric</a:t>
                      </a:r>
                    </a:p>
                  </a:txBody>
                  <a:tcPr marL="25400" marR="25400" marT="25400" marB="254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Integer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>
                          <a:sym typeface="Helvetica Light"/>
                        </a:rPr>
                        <a:t>Whole numbers.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>
                          <a:sym typeface="Helvetica Light"/>
                        </a:rPr>
                        <a:t>Large whole numbers.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BigDecimal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>
                          <a:sym typeface="Helvetica Light"/>
                        </a:rPr>
                        <a:t>Massive, precise decimal numbers.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Float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>
                          <a:sym typeface="Helvetica Light"/>
                        </a:rPr>
                        <a:t>Floating-point numbers.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Double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>
                          <a:sym typeface="Helvetica Light"/>
                        </a:rPr>
                        <a:t>Double-precision floats.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92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Boolean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3600">
                          <a:sym typeface="Helvetica Light"/>
                        </a:defRPr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true</a:t>
                      </a:r>
                      <a:r>
                        <a:rPr sz="1800"/>
                        <a:t> or </a:t>
                      </a: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false</a:t>
                      </a:r>
                      <a:r>
                        <a:rPr sz="1800"/>
                        <a:t> values.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UUID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>
                          <a:sym typeface="Helvetica Light"/>
                        </a:rPr>
                        <a:t>Universally Unique Identifier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5120">
                <a:tc gridSpan="2"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 b="1">
                          <a:latin typeface="+mn-lt"/>
                          <a:ea typeface="+mn-ea"/>
                          <a:cs typeface="+mn-cs"/>
                        </a:rPr>
                        <a:t>Dates</a:t>
                      </a:r>
                    </a:p>
                  </a:txBody>
                  <a:tcPr marL="25400" marR="25400" marT="25400" marB="254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LocalDate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>
                          <a:sym typeface="Helvetica Light"/>
                        </a:rPr>
                        <a:t>A date without a time zone.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Instant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>
                          <a:sym typeface="Helvetica Light"/>
                        </a:rPr>
                        <a:t>A moment in time in milliseconds.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ZonedDateTime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>
                          <a:sym typeface="Helvetica Light"/>
                        </a:rPr>
                        <a:t>A date/time with time zone.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Duration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>
                          <a:sym typeface="Helvetica Light"/>
                        </a:rPr>
                        <a:t>An amount of time.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 b="1">
                          <a:latin typeface="+mn-lt"/>
                          <a:ea typeface="+mn-ea"/>
                          <a:cs typeface="+mn-cs"/>
                        </a:rPr>
                        <a:t>Other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1800"/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ImageBlob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>
                          <a:sym typeface="Helvetica Light"/>
                        </a:rPr>
                        <a:t>An Image stored as binary data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Blob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>
                          <a:sym typeface="Helvetica Light"/>
                        </a:rPr>
                        <a:t>Generic Binary data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enum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 dirty="0">
                          <a:sym typeface="Helvetica Light"/>
                        </a:rPr>
                        <a:t>An enumerated type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661" name="JDL Primitives types"/>
          <p:cNvSpPr txBox="1">
            <a:spLocks noGrp="1"/>
          </p:cNvSpPr>
          <p:nvPr>
            <p:ph type="title"/>
          </p:nvPr>
        </p:nvSpPr>
        <p:spPr>
          <a:xfrm>
            <a:off x="6343213" y="0"/>
            <a:ext cx="5560384" cy="801909"/>
          </a:xfrm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chemeClr val="accent3">
                    <a:lumMod val="75000"/>
                  </a:schemeClr>
                </a:solidFill>
              </a:rPr>
              <a:t>JDL Primitives types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rimitive modifi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r>
              <a:rPr dirty="0" err="1">
                <a:solidFill>
                  <a:schemeClr val="accent3">
                    <a:lumMod val="75000"/>
                  </a:schemeClr>
                </a:solidFill>
              </a:rPr>
              <a:t>rimitive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M</a:t>
            </a:r>
            <a:r>
              <a:rPr dirty="0" err="1">
                <a:solidFill>
                  <a:schemeClr val="accent3">
                    <a:lumMod val="75000"/>
                  </a:schemeClr>
                </a:solidFill>
              </a:rPr>
              <a:t>odifiers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4" name="After each type declaration can have:…"/>
          <p:cNvSpPr txBox="1">
            <a:spLocks noGrp="1"/>
          </p:cNvSpPr>
          <p:nvPr>
            <p:ph sz="half" idx="1"/>
          </p:nvPr>
        </p:nvSpPr>
        <p:spPr>
          <a:xfrm>
            <a:off x="762000" y="3429000"/>
            <a:ext cx="10861040" cy="2413000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dirty="0"/>
              <a:t>After each type declaration can have: </a:t>
            </a:r>
          </a:p>
          <a:p>
            <a:pPr marL="498929" indent="-340179"/>
            <a:r>
              <a:rPr sz="2500" dirty="0">
                <a:latin typeface="Courier"/>
                <a:ea typeface="Courier"/>
                <a:cs typeface="Courier"/>
                <a:sym typeface="Courier"/>
              </a:rPr>
              <a:t>unique</a:t>
            </a:r>
            <a:r>
              <a:rPr dirty="0"/>
              <a:t>          values must be unique across all instances of the entity</a:t>
            </a:r>
          </a:p>
          <a:p>
            <a:pPr marL="519339" indent="-360589"/>
            <a:r>
              <a:rPr sz="2650" dirty="0">
                <a:latin typeface="Courier"/>
                <a:ea typeface="Courier"/>
                <a:cs typeface="Courier"/>
                <a:sym typeface="Courier"/>
              </a:rPr>
              <a:t>required</a:t>
            </a:r>
            <a:r>
              <a:rPr dirty="0"/>
              <a:t>     value is mandatory and cannot be null/empty</a:t>
            </a:r>
          </a:p>
          <a:p>
            <a:pPr marL="485321" indent="-326571"/>
            <a:r>
              <a:rPr sz="2400" dirty="0" err="1">
                <a:latin typeface="Courier"/>
                <a:ea typeface="Courier"/>
                <a:cs typeface="Courier"/>
                <a:sym typeface="Courier"/>
              </a:rPr>
              <a:t>minlength</a:t>
            </a:r>
            <a:r>
              <a:rPr sz="2400" dirty="0">
                <a:latin typeface="Courier"/>
                <a:ea typeface="Courier"/>
                <a:cs typeface="Courier"/>
                <a:sym typeface="Courier"/>
              </a:rPr>
              <a:t>(n)</a:t>
            </a:r>
            <a:r>
              <a:rPr dirty="0"/>
              <a:t> &amp; </a:t>
            </a:r>
            <a:r>
              <a:rPr sz="2600" dirty="0" err="1">
                <a:latin typeface="Courier"/>
                <a:ea typeface="Courier"/>
                <a:cs typeface="Courier"/>
                <a:sym typeface="Courier"/>
              </a:rPr>
              <a:t>maxlength</a:t>
            </a:r>
            <a:r>
              <a:rPr sz="2600" dirty="0">
                <a:latin typeface="Courier"/>
                <a:ea typeface="Courier"/>
                <a:cs typeface="Courier"/>
                <a:sym typeface="Courier"/>
              </a:rPr>
              <a:t>(m)</a:t>
            </a:r>
            <a:r>
              <a:rPr dirty="0"/>
              <a:t>  length constraints for </a:t>
            </a:r>
            <a:r>
              <a:rPr b="1" dirty="0">
                <a:latin typeface="Courier"/>
                <a:ea typeface="Courier"/>
                <a:cs typeface="Courier"/>
                <a:sym typeface="Courier"/>
              </a:rPr>
              <a:t>string</a:t>
            </a:r>
          </a:p>
          <a:p>
            <a:pPr marL="512536" indent="-353786"/>
            <a:r>
              <a:rPr sz="2600" dirty="0">
                <a:latin typeface="Courier"/>
                <a:ea typeface="Courier"/>
                <a:cs typeface="Courier"/>
                <a:sym typeface="Courier"/>
              </a:rPr>
              <a:t>min(x)</a:t>
            </a:r>
            <a:r>
              <a:rPr dirty="0"/>
              <a:t> &amp; </a:t>
            </a:r>
            <a:r>
              <a:rPr sz="2600" dirty="0">
                <a:latin typeface="Courier"/>
                <a:ea typeface="Courier"/>
                <a:cs typeface="Courier"/>
                <a:sym typeface="Courier"/>
              </a:rPr>
              <a:t>max(y)</a:t>
            </a:r>
            <a:r>
              <a:rPr dirty="0"/>
              <a:t>                       value constraints for </a:t>
            </a:r>
            <a:r>
              <a:rPr b="1" dirty="0"/>
              <a:t>numeric</a:t>
            </a:r>
            <a:r>
              <a:rPr dirty="0"/>
              <a:t> attributes example:</a:t>
            </a:r>
          </a:p>
        </p:txBody>
      </p:sp>
      <p:pic>
        <p:nvPicPr>
          <p:cNvPr id="665" name="Screenshot 2024-01-25 at 15.54.33.png" descr="Screenshot 2024-01-25 at 15.54.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53" y="1290412"/>
            <a:ext cx="9875239" cy="83895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6" name="Screenshot 2024-01-25 at 15.57.03.png" descr="Screenshot 2024-01-25 at 15.57.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453" y="2405013"/>
            <a:ext cx="7569835" cy="9054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JDL Enum typ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chemeClr val="accent3">
                    <a:lumMod val="75000"/>
                  </a:schemeClr>
                </a:solidFill>
              </a:rPr>
              <a:t>JDL Enum type</a:t>
            </a:r>
          </a:p>
        </p:txBody>
      </p:sp>
      <p:pic>
        <p:nvPicPr>
          <p:cNvPr id="669" name="Screenshot 2024-01-25 at 15.35.03.png" descr="Screenshot 2024-01-25 at 15.35.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61" y="1161779"/>
            <a:ext cx="7730560" cy="4913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0" name="Screenshot 2024-01-25 at 15.35.22.png" descr="Screenshot 2024-01-25 at 15.35.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005" y="121254"/>
            <a:ext cx="4116762" cy="51636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Linking Entit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chemeClr val="accent3">
                    <a:lumMod val="75000"/>
                  </a:schemeClr>
                </a:solidFill>
              </a:rPr>
              <a:t>Linking Entities</a:t>
            </a:r>
          </a:p>
        </p:txBody>
      </p:sp>
      <p:sp>
        <p:nvSpPr>
          <p:cNvPr id="673" name="JDL does not support List / Set directly…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JDL </a:t>
            </a:r>
            <a:r>
              <a:rPr b="1"/>
              <a:t>does not support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List</a:t>
            </a:r>
            <a:r>
              <a:rPr b="1"/>
              <a:t> /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Set</a:t>
            </a:r>
            <a:r>
              <a:rPr b="1"/>
              <a:t> directly</a:t>
            </a:r>
          </a:p>
          <a:p>
            <a:r>
              <a:t>So no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List&lt;String&gt;</a:t>
            </a:r>
            <a:r>
              <a:t> or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Set&lt;String&gt;</a:t>
            </a:r>
            <a:r>
              <a:t>types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t>Use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relationship</a:t>
            </a:r>
            <a:r>
              <a:t> instead (next lectures topic)</a:t>
            </a:r>
          </a:p>
        </p:txBody>
      </p:sp>
      <p:pic>
        <p:nvPicPr>
          <p:cNvPr id="674" name="Screenshot 2024-01-25 at 15.40.34.png" descr="Screenshot 2024-01-25 at 15.40.34.png"/>
          <p:cNvPicPr>
            <a:picLocks noChangeAspect="1"/>
          </p:cNvPicPr>
          <p:nvPr/>
        </p:nvPicPr>
        <p:blipFill>
          <a:blip r:embed="rId2"/>
          <a:srcRect t="7569"/>
          <a:stretch>
            <a:fillRect/>
          </a:stretch>
        </p:blipFill>
        <p:spPr>
          <a:xfrm>
            <a:off x="3321269" y="2703244"/>
            <a:ext cx="8699852" cy="32896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JDL Entity Examp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JDL Entity Examples</a:t>
            </a:r>
          </a:p>
        </p:txBody>
      </p:sp>
      <p:pic>
        <p:nvPicPr>
          <p:cNvPr id="598" name="Screenshot 2025-02-02 at 15.53.27.png" descr="Screenshot 2025-02-02 at 15.53.27.png"/>
          <p:cNvPicPr>
            <a:picLocks noChangeAspect="1"/>
          </p:cNvPicPr>
          <p:nvPr/>
        </p:nvPicPr>
        <p:blipFill>
          <a:blip r:embed="rId2"/>
          <a:srcRect t="30592" r="1360" b="14393"/>
          <a:stretch>
            <a:fillRect/>
          </a:stretch>
        </p:blipFill>
        <p:spPr>
          <a:xfrm>
            <a:off x="149688" y="2854728"/>
            <a:ext cx="11848542" cy="1675232"/>
          </a:xfrm>
          <a:prstGeom prst="rect">
            <a:avLst/>
          </a:prstGeom>
          <a:ln w="12700">
            <a:miter lim="400000"/>
          </a:ln>
        </p:spPr>
      </p:pic>
      <p:pic>
        <p:nvPicPr>
          <p:cNvPr id="599" name="Screenshot 2025-02-02 at 15.53.42.png" descr="Screenshot 2025-02-02 at 15.53.42.png"/>
          <p:cNvPicPr>
            <a:picLocks noChangeAspect="1"/>
          </p:cNvPicPr>
          <p:nvPr/>
        </p:nvPicPr>
        <p:blipFill>
          <a:blip r:embed="rId3"/>
          <a:srcRect t="20720" b="25448"/>
          <a:stretch>
            <a:fillRect/>
          </a:stretch>
        </p:blipFill>
        <p:spPr>
          <a:xfrm>
            <a:off x="126218" y="1141233"/>
            <a:ext cx="11872012" cy="1587031"/>
          </a:xfrm>
          <a:prstGeom prst="rect">
            <a:avLst/>
          </a:prstGeom>
          <a:ln w="12700">
            <a:miter lim="400000"/>
          </a:ln>
        </p:spPr>
      </p:pic>
      <p:sp>
        <p:nvSpPr>
          <p:cNvPr id="600" name="entity Book {…"/>
          <p:cNvSpPr txBox="1"/>
          <p:nvPr/>
        </p:nvSpPr>
        <p:spPr>
          <a:xfrm>
            <a:off x="149688" y="4656424"/>
            <a:ext cx="11981699" cy="1380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numCol="5" spcCol="0" anchor="ctr"/>
          <a:lstStyle/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endParaRPr sz="800" dirty="0"/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entity Book {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title String required,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author String required,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publishedDate</a:t>
            </a:r>
            <a:r>
              <a:rPr sz="800" dirty="0"/>
              <a:t> Instant,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price </a:t>
            </a:r>
            <a:r>
              <a:rPr sz="800" dirty="0" err="1"/>
              <a:t>BigDecimal</a:t>
            </a:r>
            <a:r>
              <a:rPr sz="800" dirty="0"/>
              <a:t>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description </a:t>
            </a:r>
            <a:r>
              <a:rPr sz="800" dirty="0" err="1"/>
              <a:t>TextBlob</a:t>
            </a:r>
            <a:r>
              <a:rPr sz="800" dirty="0"/>
              <a:t>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coverImage</a:t>
            </a:r>
            <a:r>
              <a:rPr sz="800" dirty="0"/>
              <a:t> </a:t>
            </a:r>
            <a:r>
              <a:rPr sz="800" dirty="0" err="1"/>
              <a:t>ImageBlob</a:t>
            </a:r>
            <a:endParaRPr sz="800" dirty="0"/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}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endParaRPr sz="800" dirty="0"/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endParaRPr sz="800" dirty="0"/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entity Customer {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firstName</a:t>
            </a:r>
            <a:r>
              <a:rPr sz="800" dirty="0"/>
              <a:t> String required,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lastName</a:t>
            </a:r>
            <a:r>
              <a:rPr sz="800" dirty="0"/>
              <a:t> String required,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email String required,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phoneNumber</a:t>
            </a:r>
            <a:r>
              <a:rPr sz="800" dirty="0"/>
              <a:t> String,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dateOfBirth</a:t>
            </a:r>
            <a:r>
              <a:rPr sz="800" dirty="0"/>
              <a:t> Instant,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loyaltyPoints</a:t>
            </a:r>
            <a:r>
              <a:rPr sz="800" dirty="0"/>
              <a:t> Integer,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profilePicture</a:t>
            </a:r>
            <a:r>
              <a:rPr sz="800" dirty="0"/>
              <a:t> </a:t>
            </a:r>
            <a:r>
              <a:rPr sz="800" dirty="0" err="1"/>
              <a:t>ImageBlob</a:t>
            </a:r>
            <a:endParaRPr sz="800" dirty="0"/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}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endParaRPr sz="800" dirty="0"/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endParaRPr sz="800" dirty="0"/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entity Order {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orderNumber</a:t>
            </a:r>
            <a:r>
              <a:rPr sz="800" dirty="0"/>
              <a:t> String required,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orderDate</a:t>
            </a:r>
            <a:r>
              <a:rPr sz="800" dirty="0"/>
              <a:t> Instant required,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totalAmount</a:t>
            </a:r>
            <a:r>
              <a:rPr sz="800" dirty="0"/>
              <a:t> </a:t>
            </a:r>
            <a:r>
              <a:rPr sz="800" dirty="0" err="1"/>
              <a:t>BigDecimal</a:t>
            </a:r>
            <a:r>
              <a:rPr sz="800" dirty="0"/>
              <a:t> required,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shippingAddress</a:t>
            </a:r>
            <a:r>
              <a:rPr sz="800" dirty="0"/>
              <a:t> </a:t>
            </a:r>
            <a:r>
              <a:rPr sz="800" dirty="0" err="1"/>
              <a:t>TextBlob</a:t>
            </a:r>
            <a:r>
              <a:rPr sz="800" dirty="0"/>
              <a:t>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customerId</a:t>
            </a:r>
            <a:r>
              <a:rPr sz="800" dirty="0"/>
              <a:t> Long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}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endParaRPr sz="800" dirty="0"/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endParaRPr sz="800" dirty="0"/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entity Product {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name String required,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category String required,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price </a:t>
            </a:r>
            <a:r>
              <a:rPr sz="800" dirty="0" err="1"/>
              <a:t>BigDecimal</a:t>
            </a:r>
            <a:r>
              <a:rPr sz="800" dirty="0"/>
              <a:t> required,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stockQuantity</a:t>
            </a:r>
            <a:r>
              <a:rPr sz="800" dirty="0"/>
              <a:t> Integer required,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description </a:t>
            </a:r>
            <a:r>
              <a:rPr sz="800" dirty="0" err="1"/>
              <a:t>TextBlob</a:t>
            </a:r>
            <a:r>
              <a:rPr sz="800" dirty="0"/>
              <a:t>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productImage</a:t>
            </a:r>
            <a:r>
              <a:rPr sz="800" dirty="0"/>
              <a:t> </a:t>
            </a:r>
            <a:r>
              <a:rPr sz="800" dirty="0" err="1"/>
              <a:t>ImageBlob</a:t>
            </a:r>
            <a:endParaRPr sz="800" dirty="0"/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}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endParaRPr sz="800" dirty="0"/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endParaRPr sz="800" dirty="0"/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entity Event {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eventName</a:t>
            </a:r>
            <a:r>
              <a:rPr sz="800" dirty="0"/>
              <a:t> String required,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eventDate</a:t>
            </a:r>
            <a:r>
              <a:rPr sz="800" dirty="0"/>
              <a:t> Instant required,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location String required,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ticketPrice</a:t>
            </a:r>
            <a:r>
              <a:rPr sz="800" dirty="0"/>
              <a:t> </a:t>
            </a:r>
            <a:r>
              <a:rPr sz="800" dirty="0" err="1"/>
              <a:t>BigDecimal</a:t>
            </a:r>
            <a:r>
              <a:rPr sz="800" dirty="0"/>
              <a:t>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eventDescription</a:t>
            </a:r>
            <a:r>
              <a:rPr sz="800" dirty="0"/>
              <a:t> </a:t>
            </a:r>
            <a:r>
              <a:rPr sz="800" dirty="0" err="1"/>
              <a:t>TextBlob</a:t>
            </a:r>
            <a:r>
              <a:rPr sz="800" dirty="0"/>
              <a:t>,</a:t>
            </a:r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  </a:t>
            </a:r>
            <a:r>
              <a:rPr sz="800" dirty="0" err="1"/>
              <a:t>eventPoster</a:t>
            </a:r>
            <a:r>
              <a:rPr sz="800" dirty="0"/>
              <a:t> </a:t>
            </a:r>
            <a:r>
              <a:rPr sz="800" dirty="0" err="1"/>
              <a:t>ImageBlob</a:t>
            </a:r>
            <a:endParaRPr sz="800" dirty="0"/>
          </a:p>
          <a:p>
            <a:pPr algn="l">
              <a:defRPr sz="1500"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Multivalued typ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Multivalued types</a:t>
            </a:r>
          </a:p>
        </p:txBody>
      </p:sp>
      <p:sp>
        <p:nvSpPr>
          <p:cNvPr id="620" name="JDL does not support List so no List&lt;String&gt; or Set&lt;ImageBlob&gt;types…"/>
          <p:cNvSpPr txBox="1">
            <a:spLocks noGrp="1"/>
          </p:cNvSpPr>
          <p:nvPr>
            <p:ph sz="half" idx="1"/>
          </p:nvPr>
        </p:nvSpPr>
        <p:spPr>
          <a:xfrm>
            <a:off x="762000" y="1353695"/>
            <a:ext cx="8129752" cy="448830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53357" indent="-394607">
              <a:defRPr sz="4900"/>
            </a:pPr>
            <a:r>
              <a:rPr lang="en-GB" sz="2000" dirty="0"/>
              <a:t>J</a:t>
            </a:r>
            <a:r>
              <a:rPr sz="2000" dirty="0"/>
              <a:t>DL </a:t>
            </a:r>
            <a:r>
              <a:rPr sz="2000" b="1" dirty="0"/>
              <a:t>does not support </a:t>
            </a:r>
            <a:r>
              <a:rPr sz="2000" dirty="0">
                <a:ea typeface="Courier"/>
                <a:sym typeface="Courier"/>
              </a:rPr>
              <a:t>List </a:t>
            </a:r>
            <a:r>
              <a:rPr sz="2000" b="1" dirty="0"/>
              <a:t>so no</a:t>
            </a:r>
            <a:r>
              <a:rPr sz="2000" dirty="0"/>
              <a:t> </a:t>
            </a:r>
            <a:r>
              <a:rPr sz="2000" dirty="0">
                <a:ea typeface="Courier New"/>
                <a:sym typeface="Courier New"/>
              </a:rPr>
              <a:t>List&lt;String&gt;</a:t>
            </a:r>
            <a:r>
              <a:rPr sz="2000" dirty="0"/>
              <a:t> or </a:t>
            </a:r>
            <a:r>
              <a:rPr sz="2000" dirty="0">
                <a:ea typeface="Courier New"/>
                <a:sym typeface="Courier New"/>
              </a:rPr>
              <a:t>Set&lt;</a:t>
            </a:r>
            <a:r>
              <a:rPr sz="2000" dirty="0" err="1">
                <a:ea typeface="Courier New"/>
                <a:sym typeface="Courier New"/>
              </a:rPr>
              <a:t>ImageBlob</a:t>
            </a:r>
            <a:r>
              <a:rPr sz="2000" dirty="0">
                <a:ea typeface="Courier New"/>
                <a:sym typeface="Courier New"/>
              </a:rPr>
              <a:t>&gt;</a:t>
            </a:r>
            <a:r>
              <a:rPr sz="2000" b="1" dirty="0"/>
              <a:t>types</a:t>
            </a:r>
            <a:endParaRPr sz="2000" dirty="0">
              <a:ea typeface="Courier New"/>
              <a:sym typeface="Courier New"/>
            </a:endParaRPr>
          </a:p>
          <a:p>
            <a:pPr marL="0" indent="0">
              <a:buNone/>
              <a:defRPr sz="4900" b="1"/>
            </a:pPr>
            <a:r>
              <a:rPr lang="en-GB" sz="2000" dirty="0"/>
              <a:t>  </a:t>
            </a:r>
          </a:p>
          <a:p>
            <a:pPr marL="0" indent="0">
              <a:buNone/>
              <a:defRPr sz="4900" b="1"/>
            </a:pPr>
            <a:r>
              <a:rPr sz="2000" dirty="0"/>
              <a:t>Use </a:t>
            </a:r>
            <a:r>
              <a:rPr sz="2000" dirty="0">
                <a:ea typeface="Courier New"/>
                <a:sym typeface="Courier New"/>
              </a:rPr>
              <a:t>relationship</a:t>
            </a:r>
            <a:r>
              <a:rPr sz="2000" dirty="0"/>
              <a:t> instead</a:t>
            </a:r>
          </a:p>
        </p:txBody>
      </p:sp>
      <p:sp>
        <p:nvSpPr>
          <p:cNvPr id="621" name="entity Car…"/>
          <p:cNvSpPr txBox="1"/>
          <p:nvPr/>
        </p:nvSpPr>
        <p:spPr>
          <a:xfrm>
            <a:off x="6369268" y="2023645"/>
            <a:ext cx="1934849" cy="1180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l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1200" b="1" dirty="0">
                <a:latin typeface="Arial" panose="020B0604020202020204" pitchFamily="34" charset="0"/>
                <a:cs typeface="Arial" panose="020B0604020202020204" pitchFamily="34" charset="0"/>
              </a:rPr>
              <a:t>entity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Car</a:t>
            </a:r>
          </a:p>
          <a:p>
            <a:pPr algn="l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1200" b="1" dirty="0">
                <a:latin typeface="Arial" panose="020B0604020202020204" pitchFamily="34" charset="0"/>
                <a:cs typeface="Arial" panose="020B0604020202020204" pitchFamily="34" charset="0"/>
              </a:rPr>
              <a:t>entity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Engine</a:t>
            </a:r>
          </a:p>
          <a:p>
            <a:pPr algn="l">
              <a:defRPr>
                <a:latin typeface="Courier"/>
                <a:ea typeface="Courier"/>
                <a:cs typeface="Courier"/>
                <a:sym typeface="Courier"/>
              </a:defRPr>
            </a:pP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1200" b="1" dirty="0"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OneToOne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{  </a:t>
            </a:r>
          </a:p>
          <a:p>
            <a:pPr algn="l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 Car </a:t>
            </a:r>
            <a:r>
              <a:rPr sz="1200" b="1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 Engine  </a:t>
            </a:r>
          </a:p>
          <a:p>
            <a:pPr algn="l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pic>
        <p:nvPicPr>
          <p:cNvPr id="622" name="Screenshot 2025-02-02 at 16.49.28.png" descr="Screenshot 2025-02-02 at 16.49.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619" y="643649"/>
            <a:ext cx="2766421" cy="3341617"/>
          </a:xfrm>
          <a:prstGeom prst="rect">
            <a:avLst/>
          </a:prstGeom>
          <a:ln w="12700">
            <a:miter lim="400000"/>
          </a:ln>
        </p:spPr>
      </p:pic>
      <p:sp>
        <p:nvSpPr>
          <p:cNvPr id="623" name="Form Label: How is this relationship labeled in the +Create Car and View Car web form?"/>
          <p:cNvSpPr txBox="1"/>
          <p:nvPr/>
        </p:nvSpPr>
        <p:spPr>
          <a:xfrm>
            <a:off x="857192" y="4107449"/>
            <a:ext cx="10477616" cy="379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spcBef>
                <a:spcPts val="1650"/>
              </a:spcBef>
              <a:defRPr sz="4400"/>
            </a:pP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Form Label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: How is this relationship labeled in the </a:t>
            </a:r>
            <a:r>
              <a:rPr sz="2000" i="1" dirty="0">
                <a:latin typeface="Arial" panose="020B0604020202020204" pitchFamily="34" charset="0"/>
                <a:cs typeface="Arial" panose="020B0604020202020204" pitchFamily="34" charset="0"/>
              </a:rPr>
              <a:t>+Create Car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sz="2000" i="1" dirty="0">
                <a:latin typeface="Arial" panose="020B0604020202020204" pitchFamily="34" charset="0"/>
                <a:cs typeface="Arial" panose="020B0604020202020204" pitchFamily="34" charset="0"/>
              </a:rPr>
              <a:t>View Car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web form?</a:t>
            </a:r>
          </a:p>
        </p:txBody>
      </p:sp>
      <p:sp>
        <p:nvSpPr>
          <p:cNvPr id="624" name="Instance identity: How do we pick exactly which Engine a Car has?"/>
          <p:cNvSpPr txBox="1"/>
          <p:nvPr/>
        </p:nvSpPr>
        <p:spPr>
          <a:xfrm>
            <a:off x="857192" y="4688617"/>
            <a:ext cx="8325709" cy="379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spcBef>
                <a:spcPts val="1650"/>
              </a:spcBef>
              <a:defRPr sz="4500"/>
            </a:pP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Instance identity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: How do we pick exactly which </a:t>
            </a:r>
            <a:r>
              <a:rPr sz="2000" i="1" dirty="0">
                <a:latin typeface="Arial" panose="020B0604020202020204" pitchFamily="34" charset="0"/>
                <a:cs typeface="Arial" panose="020B0604020202020204" pitchFamily="34" charset="0"/>
              </a:rPr>
              <a:t>Engine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sz="2000" i="1" dirty="0">
                <a:latin typeface="Arial" panose="020B0604020202020204" pitchFamily="34" charset="0"/>
                <a:cs typeface="Arial" panose="020B0604020202020204" pitchFamily="34" charset="0"/>
              </a:rPr>
              <a:t>Car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has?</a:t>
            </a:r>
          </a:p>
        </p:txBody>
      </p:sp>
      <p:sp>
        <p:nvSpPr>
          <p:cNvPr id="625" name="Navigability/Bidirectionally/Ownership: Does the Engine ‘know’ which Car it belongs to?"/>
          <p:cNvSpPr txBox="1"/>
          <p:nvPr/>
        </p:nvSpPr>
        <p:spPr>
          <a:xfrm>
            <a:off x="857192" y="5193847"/>
            <a:ext cx="10477616" cy="687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>
              <a:spcBef>
                <a:spcPts val="1650"/>
              </a:spcBef>
              <a:defRPr sz="4300" b="1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Navigability/Bidirectionally/Ownership: Does the </a:t>
            </a:r>
            <a:r>
              <a:rPr sz="2000" i="1" dirty="0">
                <a:latin typeface="Arial" panose="020B0604020202020204" pitchFamily="34" charset="0"/>
                <a:cs typeface="Arial" panose="020B0604020202020204" pitchFamily="34" charset="0"/>
              </a:rPr>
              <a:t>Engine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‘know’ which </a:t>
            </a:r>
            <a:r>
              <a:rPr sz="2000" i="1" dirty="0">
                <a:latin typeface="Arial" panose="020B0604020202020204" pitchFamily="34" charset="0"/>
                <a:cs typeface="Arial" panose="020B0604020202020204" pitchFamily="34" charset="0"/>
              </a:rPr>
              <a:t>Car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it belongs to?</a:t>
            </a:r>
          </a:p>
        </p:txBody>
      </p:sp>
      <p:sp>
        <p:nvSpPr>
          <p:cNvPr id="626" name="Database: Car table has a foreign key column for engine"/>
          <p:cNvSpPr txBox="1"/>
          <p:nvPr/>
        </p:nvSpPr>
        <p:spPr>
          <a:xfrm>
            <a:off x="857192" y="3526281"/>
            <a:ext cx="10477616" cy="379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spcBef>
                <a:spcPts val="1650"/>
              </a:spcBef>
              <a:defRPr sz="4400"/>
            </a:pP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Database: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Car table has a foreign key column for engine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JDL Relationship Typ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JDL Relationship Types</a:t>
            </a:r>
          </a:p>
        </p:txBody>
      </p:sp>
      <p:sp>
        <p:nvSpPr>
          <p:cNvPr id="629" name="OneToOne: each instance of one entity is associated with exactly one instance of another entity…"/>
          <p:cNvSpPr txBox="1">
            <a:spLocks noGrp="1"/>
          </p:cNvSpPr>
          <p:nvPr>
            <p:ph sz="half" idx="1"/>
          </p:nvPr>
        </p:nvSpPr>
        <p:spPr>
          <a:xfrm>
            <a:off x="762000" y="1763600"/>
            <a:ext cx="10861040" cy="350208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b="1" dirty="0" err="1">
                <a:solidFill>
                  <a:schemeClr val="accent3">
                    <a:lumMod val="75000"/>
                  </a:schemeClr>
                </a:solidFill>
                <a:ea typeface="Courier"/>
                <a:sym typeface="Courier"/>
              </a:rPr>
              <a:t>OneToOne</a:t>
            </a:r>
            <a:r>
              <a:rPr b="1" dirty="0">
                <a:solidFill>
                  <a:schemeClr val="accent3">
                    <a:lumMod val="75000"/>
                  </a:schemeClr>
                </a:solidFill>
              </a:rPr>
              <a:t>:</a:t>
            </a:r>
            <a:r>
              <a:rPr dirty="0"/>
              <a:t> each instance of one entity is associated with </a:t>
            </a:r>
            <a:r>
              <a:rPr b="1" dirty="0"/>
              <a:t>exactly one</a:t>
            </a:r>
            <a:r>
              <a:rPr dirty="0"/>
              <a:t> instance of another entity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b="1" dirty="0" err="1">
                <a:solidFill>
                  <a:schemeClr val="accent3">
                    <a:lumMod val="75000"/>
                  </a:schemeClr>
                </a:solidFill>
                <a:ea typeface="Courier"/>
                <a:sym typeface="Courier"/>
              </a:rPr>
              <a:t>OneToMany</a:t>
            </a:r>
            <a:r>
              <a:rPr b="1" dirty="0">
                <a:solidFill>
                  <a:schemeClr val="accent3">
                    <a:lumMod val="75000"/>
                  </a:schemeClr>
                </a:solidFill>
              </a:rPr>
              <a:t>:</a:t>
            </a:r>
            <a:r>
              <a:rPr dirty="0"/>
              <a:t> each instance of one entity can be associated with multiple instances of another entity, instances of the second entity are associated with only one instance of the first entity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b="1" dirty="0" err="1">
                <a:solidFill>
                  <a:schemeClr val="accent3">
                    <a:lumMod val="75000"/>
                  </a:schemeClr>
                </a:solidFill>
                <a:ea typeface="Courier"/>
                <a:sym typeface="Courier"/>
              </a:rPr>
              <a:t>ManyToOne</a:t>
            </a:r>
            <a:r>
              <a:rPr b="1" dirty="0">
                <a:solidFill>
                  <a:schemeClr val="accent3">
                    <a:lumMod val="75000"/>
                  </a:schemeClr>
                </a:solidFill>
                <a:ea typeface="Courier"/>
                <a:sym typeface="Courier"/>
              </a:rPr>
              <a:t>:</a:t>
            </a:r>
            <a:r>
              <a:rPr dirty="0"/>
              <a:t> opposite of </a:t>
            </a:r>
            <a:r>
              <a:rPr b="1" dirty="0" err="1">
                <a:solidFill>
                  <a:schemeClr val="accent3">
                    <a:lumMod val="75000"/>
                  </a:schemeClr>
                </a:solidFill>
                <a:ea typeface="Courier"/>
                <a:sym typeface="Courier"/>
              </a:rPr>
              <a:t>OneToMany</a:t>
            </a:r>
            <a:endParaRPr b="1" dirty="0">
              <a:solidFill>
                <a:schemeClr val="accent3">
                  <a:lumMod val="75000"/>
                </a:schemeClr>
              </a:solidFill>
              <a:ea typeface="Courier"/>
              <a:sym typeface="Courie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b="1" dirty="0" err="1">
                <a:solidFill>
                  <a:schemeClr val="accent3">
                    <a:lumMod val="75000"/>
                  </a:schemeClr>
                </a:solidFill>
                <a:ea typeface="Courier"/>
                <a:sym typeface="Courier"/>
              </a:rPr>
              <a:t>ManyToMany</a:t>
            </a:r>
            <a:r>
              <a:rPr b="1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dirty="0"/>
              <a:t>relationship indicates that multiple instances of one entity can be associated with multiple instances of another entity</a:t>
            </a:r>
          </a:p>
        </p:txBody>
      </p:sp>
      <p:sp>
        <p:nvSpPr>
          <p:cNvPr id="630" name="https://www.jhipster.tech/jdl/relationships"/>
          <p:cNvSpPr txBox="1"/>
          <p:nvPr/>
        </p:nvSpPr>
        <p:spPr>
          <a:xfrm>
            <a:off x="2939414" y="6455683"/>
            <a:ext cx="2229778" cy="210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900" u="sng">
                <a:hlinkClick r:id="rId2"/>
              </a:rPr>
              <a:t>https://www.jhipster.tech/jdl/relationships</a:t>
            </a:r>
            <a:r>
              <a:rPr sz="900"/>
              <a:t>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OneToOne"/>
          <p:cNvSpPr txBox="1">
            <a:spLocks noGrp="1"/>
          </p:cNvSpPr>
          <p:nvPr>
            <p:ph type="title"/>
          </p:nvPr>
        </p:nvSpPr>
        <p:spPr>
          <a:xfrm>
            <a:off x="673026" y="178594"/>
            <a:ext cx="11157581" cy="171450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OneToOne</a:t>
            </a:r>
            <a:endParaRPr dirty="0"/>
          </a:p>
        </p:txBody>
      </p:sp>
      <p:sp>
        <p:nvSpPr>
          <p:cNvPr id="633" name="entity Car…"/>
          <p:cNvSpPr txBox="1"/>
          <p:nvPr/>
        </p:nvSpPr>
        <p:spPr>
          <a:xfrm>
            <a:off x="4312501" y="408498"/>
            <a:ext cx="4320093" cy="2103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algn="l">
              <a:defRPr sz="4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entity Car</a:t>
            </a:r>
          </a:p>
          <a:p>
            <a:pPr algn="l">
              <a:defRPr sz="4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entity Engine</a:t>
            </a:r>
          </a:p>
          <a:p>
            <a:pPr algn="l">
              <a:defRPr sz="4400">
                <a:latin typeface="Courier"/>
                <a:ea typeface="Courier"/>
                <a:cs typeface="Courier"/>
                <a:sym typeface="Courier"/>
              </a:defRPr>
            </a:pPr>
            <a:endParaRPr sz="2200" dirty="0"/>
          </a:p>
          <a:p>
            <a:pPr algn="l">
              <a:defRPr sz="4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relationship </a:t>
            </a:r>
            <a:r>
              <a:rPr sz="2200" dirty="0" err="1"/>
              <a:t>OneToOne</a:t>
            </a:r>
            <a:r>
              <a:rPr sz="2200" dirty="0"/>
              <a:t> {  </a:t>
            </a:r>
          </a:p>
          <a:p>
            <a:pPr algn="l">
              <a:defRPr sz="4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Car to Engine  </a:t>
            </a:r>
          </a:p>
          <a:p>
            <a:pPr algn="l">
              <a:defRPr sz="4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}</a:t>
            </a:r>
          </a:p>
        </p:txBody>
      </p:sp>
      <p:pic>
        <p:nvPicPr>
          <p:cNvPr id="634" name="Screenshot 2025-02-02 at 16.49.28.png" descr="Screenshot 2025-02-02 at 16.49.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426" y="22005"/>
            <a:ext cx="2766421" cy="3341617"/>
          </a:xfrm>
          <a:prstGeom prst="rect">
            <a:avLst/>
          </a:prstGeom>
          <a:ln w="12700">
            <a:miter lim="400000"/>
          </a:ln>
        </p:spPr>
      </p:pic>
      <p:pic>
        <p:nvPicPr>
          <p:cNvPr id="635" name="Screenshot 2025-02-02 at 17.16.49.png" descr="Screenshot 2025-02-02 at 17.16.49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55306" y="3738511"/>
            <a:ext cx="3481293" cy="1467060"/>
          </a:xfrm>
          <a:prstGeom prst="rect">
            <a:avLst/>
          </a:prstGeom>
          <a:ln w="12700">
            <a:miter lim="400000"/>
          </a:ln>
        </p:spPr>
      </p:pic>
      <p:pic>
        <p:nvPicPr>
          <p:cNvPr id="636" name="Screenshot 2025-02-02 at 17.16.12.png" descr="Screenshot 2025-02-02 at 17.16.1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0537" y="3525289"/>
            <a:ext cx="3821964" cy="1893531"/>
          </a:xfrm>
          <a:prstGeom prst="rect">
            <a:avLst/>
          </a:prstGeom>
          <a:ln w="12700">
            <a:miter lim="400000"/>
          </a:ln>
        </p:spPr>
      </p:pic>
      <p:sp>
        <p:nvSpPr>
          <p:cNvPr id="637" name="Form Label- defaults to Entity name i.e. Engine - customisable label"/>
          <p:cNvSpPr txBox="1"/>
          <p:nvPr/>
        </p:nvSpPr>
        <p:spPr>
          <a:xfrm>
            <a:off x="172152" y="2607705"/>
            <a:ext cx="8247967" cy="410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>
              <a:spcBef>
                <a:spcPts val="1650"/>
              </a:spcBef>
              <a:defRPr sz="4400"/>
            </a:pPr>
            <a:r>
              <a:rPr sz="2200" b="1" dirty="0"/>
              <a:t>Form Label</a:t>
            </a:r>
            <a:r>
              <a:rPr lang="en-GB" sz="2200" b="1" dirty="0"/>
              <a:t> </a:t>
            </a:r>
            <a:r>
              <a:rPr sz="2200" b="1" dirty="0"/>
              <a:t>-</a:t>
            </a:r>
            <a:r>
              <a:rPr sz="2200" dirty="0"/>
              <a:t> defaults to Entity name i.e. </a:t>
            </a:r>
            <a:r>
              <a:rPr sz="2200" dirty="0">
                <a:latin typeface="Courier"/>
                <a:ea typeface="Courier"/>
                <a:cs typeface="Courier"/>
                <a:sym typeface="Courier"/>
              </a:rPr>
              <a:t>Engine</a:t>
            </a:r>
            <a:r>
              <a:rPr sz="2200" dirty="0"/>
              <a:t> - </a:t>
            </a:r>
            <a:r>
              <a:rPr sz="2200" dirty="0" err="1"/>
              <a:t>customisable</a:t>
            </a:r>
            <a:r>
              <a:rPr sz="2200" dirty="0"/>
              <a:t> label</a:t>
            </a:r>
          </a:p>
        </p:txBody>
      </p:sp>
      <p:sp>
        <p:nvSpPr>
          <p:cNvPr id="638" name="Line"/>
          <p:cNvSpPr/>
          <p:nvPr/>
        </p:nvSpPr>
        <p:spPr>
          <a:xfrm flipH="1">
            <a:off x="1822596" y="3411702"/>
            <a:ext cx="954050" cy="1182547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00"/>
          </a:p>
        </p:txBody>
      </p:sp>
      <p:sp>
        <p:nvSpPr>
          <p:cNvPr id="639" name="Instance identity: defaults to Database ID of target - we can customise which field"/>
          <p:cNvSpPr txBox="1"/>
          <p:nvPr/>
        </p:nvSpPr>
        <p:spPr>
          <a:xfrm>
            <a:off x="1453275" y="3061975"/>
            <a:ext cx="10615055" cy="418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spcBef>
                <a:spcPts val="1650"/>
              </a:spcBef>
              <a:defRPr sz="4500"/>
            </a:pPr>
            <a:r>
              <a:rPr sz="2250" b="1"/>
              <a:t>Instance identity</a:t>
            </a:r>
            <a:r>
              <a:rPr sz="2250"/>
              <a:t>: defaults to Database </a:t>
            </a:r>
            <a:r>
              <a:rPr sz="2250">
                <a:latin typeface="Courier"/>
                <a:ea typeface="Courier"/>
                <a:cs typeface="Courier"/>
                <a:sym typeface="Courier"/>
              </a:rPr>
              <a:t>ID</a:t>
            </a:r>
            <a:r>
              <a:rPr sz="2250"/>
              <a:t> of target - we can customise which field</a:t>
            </a:r>
          </a:p>
        </p:txBody>
      </p:sp>
      <p:sp>
        <p:nvSpPr>
          <p:cNvPr id="640" name="Line"/>
          <p:cNvSpPr/>
          <p:nvPr/>
        </p:nvSpPr>
        <p:spPr>
          <a:xfrm>
            <a:off x="511707" y="3030835"/>
            <a:ext cx="668127" cy="1454270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00"/>
          </a:p>
        </p:txBody>
      </p:sp>
      <p:sp>
        <p:nvSpPr>
          <p:cNvPr id="641" name="Navigability : by default the Engine won’t ‘know’ which Car it belongs to"/>
          <p:cNvSpPr txBox="1"/>
          <p:nvPr/>
        </p:nvSpPr>
        <p:spPr>
          <a:xfrm>
            <a:off x="172152" y="5465056"/>
            <a:ext cx="11531796" cy="402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>
              <a:spcBef>
                <a:spcPts val="1650"/>
              </a:spcBef>
              <a:defRPr sz="4300" b="1"/>
            </a:pPr>
            <a:r>
              <a:rPr sz="2150" dirty="0"/>
              <a:t>Navigability : by default the </a:t>
            </a:r>
            <a:r>
              <a:rPr sz="2150" dirty="0">
                <a:latin typeface="Courier"/>
                <a:ea typeface="Courier"/>
                <a:cs typeface="Courier"/>
                <a:sym typeface="Courier"/>
              </a:rPr>
              <a:t>Engine</a:t>
            </a:r>
            <a:r>
              <a:rPr sz="2150" dirty="0"/>
              <a:t> won’t ‘know’ which </a:t>
            </a:r>
            <a:r>
              <a:rPr sz="2150" dirty="0">
                <a:latin typeface="Courier"/>
                <a:ea typeface="Courier"/>
                <a:cs typeface="Courier"/>
                <a:sym typeface="Courier"/>
              </a:rPr>
              <a:t>Car</a:t>
            </a:r>
            <a:r>
              <a:rPr sz="2150" dirty="0"/>
              <a:t> it belongs to</a:t>
            </a:r>
          </a:p>
        </p:txBody>
      </p:sp>
      <p:sp>
        <p:nvSpPr>
          <p:cNvPr id="642" name="Line"/>
          <p:cNvSpPr/>
          <p:nvPr/>
        </p:nvSpPr>
        <p:spPr>
          <a:xfrm flipV="1">
            <a:off x="606065" y="1991304"/>
            <a:ext cx="1416017" cy="70182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00"/>
          </a:p>
        </p:txBody>
      </p:sp>
      <p:sp>
        <p:nvSpPr>
          <p:cNvPr id="643" name="Line"/>
          <p:cNvSpPr/>
          <p:nvPr/>
        </p:nvSpPr>
        <p:spPr>
          <a:xfrm flipV="1">
            <a:off x="3110078" y="4619610"/>
            <a:ext cx="1907579" cy="921781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00"/>
          </a:p>
        </p:txBody>
      </p:sp>
      <p:pic>
        <p:nvPicPr>
          <p:cNvPr id="644" name="Screenshot 2025-02-02 at 17.44.33.png" descr="Screenshot 2025-02-02 at 17.44.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835" y="3525289"/>
            <a:ext cx="3370571" cy="2354783"/>
          </a:xfrm>
          <a:prstGeom prst="rect">
            <a:avLst/>
          </a:prstGeom>
          <a:ln w="12700">
            <a:miter lim="400000"/>
          </a:ln>
        </p:spPr>
      </p:pic>
      <p:sp>
        <p:nvSpPr>
          <p:cNvPr id="645" name="Constraint: only one target entity can belong to a source entity at a time"/>
          <p:cNvSpPr txBox="1"/>
          <p:nvPr/>
        </p:nvSpPr>
        <p:spPr>
          <a:xfrm>
            <a:off x="3475757" y="6034712"/>
            <a:ext cx="11675185" cy="402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spcBef>
                <a:spcPts val="1650"/>
              </a:spcBef>
              <a:defRPr sz="4300" b="1"/>
            </a:pPr>
            <a:r>
              <a:rPr sz="2150"/>
              <a:t>Constraint: only one target entity can belong to a source entity at a time</a:t>
            </a:r>
          </a:p>
        </p:txBody>
      </p:sp>
      <p:sp>
        <p:nvSpPr>
          <p:cNvPr id="646" name="Line"/>
          <p:cNvSpPr/>
          <p:nvPr/>
        </p:nvSpPr>
        <p:spPr>
          <a:xfrm flipV="1">
            <a:off x="8969775" y="5201450"/>
            <a:ext cx="532756" cy="913543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00"/>
          </a:p>
        </p:txBody>
      </p:sp>
      <p:sp>
        <p:nvSpPr>
          <p:cNvPr id="647" name="When should we use OneToOne relationships?"/>
          <p:cNvSpPr txBox="1"/>
          <p:nvPr/>
        </p:nvSpPr>
        <p:spPr>
          <a:xfrm>
            <a:off x="414223" y="6311683"/>
            <a:ext cx="11675185" cy="402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spcBef>
                <a:spcPts val="3300"/>
              </a:spcBef>
              <a:defRPr sz="4300" b="1"/>
            </a:lvl1pPr>
          </a:lstStyle>
          <a:p>
            <a:r>
              <a:rPr sz="2150" dirty="0"/>
              <a:t>When should we use </a:t>
            </a:r>
            <a:r>
              <a:rPr sz="2150" dirty="0" err="1"/>
              <a:t>OneToOne</a:t>
            </a:r>
            <a:r>
              <a:rPr sz="2150" dirty="0"/>
              <a:t> relationships?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When should we use OneToOne relationships?"/>
          <p:cNvSpPr txBox="1">
            <a:spLocks noGrp="1"/>
          </p:cNvSpPr>
          <p:nvPr>
            <p:ph type="title"/>
          </p:nvPr>
        </p:nvSpPr>
        <p:spPr>
          <a:xfrm>
            <a:off x="782996" y="178594"/>
            <a:ext cx="10874840" cy="1714501"/>
          </a:xfrm>
          <a:prstGeom prst="rect">
            <a:avLst/>
          </a:prstGeom>
        </p:spPr>
        <p:txBody>
          <a:bodyPr/>
          <a:lstStyle/>
          <a:p>
            <a:r>
              <a:t>When should we use OneToOne relationships?</a:t>
            </a:r>
          </a:p>
        </p:txBody>
      </p:sp>
      <p:sp>
        <p:nvSpPr>
          <p:cNvPr id="650" name="When two entities are basically one item…"/>
          <p:cNvSpPr txBox="1">
            <a:spLocks noGrp="1"/>
          </p:cNvSpPr>
          <p:nvPr>
            <p:ph type="body" sz="half" idx="1"/>
          </p:nvPr>
        </p:nvSpPr>
        <p:spPr>
          <a:xfrm>
            <a:off x="1297075" y="1893095"/>
            <a:ext cx="9083884" cy="260533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2000" dirty="0"/>
              <a:t>When two entities are </a:t>
            </a:r>
            <a:r>
              <a:rPr sz="2000" b="1" dirty="0"/>
              <a:t>basically one item</a:t>
            </a:r>
            <a:r>
              <a:rPr lang="en-GB" sz="2000" b="1" dirty="0"/>
              <a:t> </a:t>
            </a:r>
            <a:r>
              <a:rPr sz="2000" b="1" dirty="0"/>
              <a:t>but</a:t>
            </a:r>
            <a:r>
              <a:rPr sz="2000" dirty="0"/>
              <a:t> we separate out for modularity</a:t>
            </a:r>
          </a:p>
          <a:p>
            <a:pPr lvl="1"/>
            <a:r>
              <a:rPr dirty="0"/>
              <a:t>Examples:</a:t>
            </a:r>
          </a:p>
          <a:p>
            <a:pPr lvl="2"/>
            <a:r>
              <a:rPr sz="2000" dirty="0"/>
              <a:t>Car - Engine</a:t>
            </a:r>
          </a:p>
          <a:p>
            <a:pPr lvl="2"/>
            <a:r>
              <a:rPr sz="2000" dirty="0"/>
              <a:t>User - </a:t>
            </a:r>
            <a:r>
              <a:rPr sz="2000" dirty="0" err="1"/>
              <a:t>UserProfile</a:t>
            </a:r>
            <a:endParaRPr sz="2000" dirty="0"/>
          </a:p>
          <a:p>
            <a:pPr lvl="2"/>
            <a:r>
              <a:rPr sz="2000" dirty="0"/>
              <a:t>House - </a:t>
            </a:r>
            <a:r>
              <a:rPr sz="2000" dirty="0" err="1"/>
              <a:t>FrontDoor</a:t>
            </a:r>
            <a:endParaRPr sz="2000" dirty="0"/>
          </a:p>
        </p:txBody>
      </p:sp>
      <p:sp>
        <p:nvSpPr>
          <p:cNvPr id="651" name="When the target has lot of fields that would pollute the source entity…"/>
          <p:cNvSpPr txBox="1"/>
          <p:nvPr/>
        </p:nvSpPr>
        <p:spPr>
          <a:xfrm>
            <a:off x="1297075" y="4632339"/>
            <a:ext cx="7688003" cy="905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spcBef>
                <a:spcPts val="1650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When the target has lot of fields that would pollute the source entity</a:t>
            </a:r>
          </a:p>
          <a:p>
            <a:pPr>
              <a:spcBef>
                <a:spcPts val="1650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e.g. in the car example if engine contains many “parts” fields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Screenshot 2025-02-02 at 18.20.02.png" descr="Screenshot 2025-02-02 at 18.20.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20" y="3575602"/>
            <a:ext cx="4165443" cy="2376196"/>
          </a:xfrm>
          <a:prstGeom prst="rect">
            <a:avLst/>
          </a:prstGeom>
          <a:ln w="12700">
            <a:miter lim="400000"/>
          </a:ln>
        </p:spPr>
      </p:pic>
      <p:pic>
        <p:nvPicPr>
          <p:cNvPr id="654" name="Screenshot 2025-02-02 at 18.02.05.png" descr="Screenshot 2025-02-02 at 18.02.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572" y="151904"/>
            <a:ext cx="3177098" cy="2959283"/>
          </a:xfrm>
          <a:prstGeom prst="rect">
            <a:avLst/>
          </a:prstGeom>
          <a:ln w="12700">
            <a:miter lim="400000"/>
          </a:ln>
        </p:spPr>
      </p:pic>
      <p:sp>
        <p:nvSpPr>
          <p:cNvPr id="655" name="Customise Relations"/>
          <p:cNvSpPr txBox="1">
            <a:spLocks noGrp="1"/>
          </p:cNvSpPr>
          <p:nvPr>
            <p:ph type="title"/>
          </p:nvPr>
        </p:nvSpPr>
        <p:spPr>
          <a:xfrm>
            <a:off x="224820" y="492562"/>
            <a:ext cx="2798149" cy="171450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Customise</a:t>
            </a:r>
            <a:r>
              <a:rPr dirty="0"/>
              <a:t> Relations</a:t>
            </a:r>
          </a:p>
        </p:txBody>
      </p:sp>
      <p:sp>
        <p:nvSpPr>
          <p:cNvPr id="656" name="entity Car{…"/>
          <p:cNvSpPr txBox="1"/>
          <p:nvPr/>
        </p:nvSpPr>
        <p:spPr>
          <a:xfrm>
            <a:off x="3748008" y="243332"/>
            <a:ext cx="4695983" cy="20726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1300" dirty="0"/>
              <a:t>entity Car{</a:t>
            </a:r>
          </a:p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1300" dirty="0"/>
              <a:t> vin String</a:t>
            </a:r>
          </a:p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1300" dirty="0"/>
              <a:t>}</a:t>
            </a:r>
          </a:p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1300" dirty="0"/>
              <a:t>entity Engine{</a:t>
            </a:r>
          </a:p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1300" dirty="0"/>
              <a:t>  </a:t>
            </a:r>
            <a:r>
              <a:rPr sz="1300" dirty="0" err="1"/>
              <a:t>engineNumber</a:t>
            </a:r>
            <a:r>
              <a:rPr sz="1300" dirty="0"/>
              <a:t> String</a:t>
            </a:r>
          </a:p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1300" dirty="0"/>
              <a:t>}</a:t>
            </a:r>
          </a:p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endParaRPr sz="1300" dirty="0"/>
          </a:p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1300" dirty="0"/>
              <a:t>relationship </a:t>
            </a:r>
            <a:r>
              <a:rPr sz="1300" dirty="0" err="1"/>
              <a:t>OneToOne</a:t>
            </a:r>
            <a:r>
              <a:rPr sz="1300" dirty="0"/>
              <a:t> {  </a:t>
            </a:r>
          </a:p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1300" dirty="0"/>
              <a:t>  Car{</a:t>
            </a:r>
            <a:r>
              <a:rPr sz="1300" dirty="0" err="1"/>
              <a:t>theEngine</a:t>
            </a:r>
            <a:r>
              <a:rPr sz="1300" dirty="0"/>
              <a:t>(</a:t>
            </a:r>
            <a:r>
              <a:rPr sz="1300" dirty="0" err="1"/>
              <a:t>engineNumber</a:t>
            </a:r>
            <a:r>
              <a:rPr sz="1300" dirty="0"/>
              <a:t>)} to Engine  </a:t>
            </a:r>
          </a:p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1300" dirty="0"/>
              <a:t>}</a:t>
            </a:r>
          </a:p>
        </p:txBody>
      </p:sp>
      <p:sp>
        <p:nvSpPr>
          <p:cNvPr id="657" name="Form Label:…"/>
          <p:cNvSpPr txBox="1"/>
          <p:nvPr/>
        </p:nvSpPr>
        <p:spPr>
          <a:xfrm>
            <a:off x="82463" y="2724523"/>
            <a:ext cx="3915111" cy="43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lnSpc>
                <a:spcPct val="10000"/>
              </a:lnSpc>
              <a:spcBef>
                <a:spcPts val="1650"/>
              </a:spcBef>
              <a:defRPr sz="4400"/>
            </a:pPr>
            <a:r>
              <a:rPr sz="2200" b="1"/>
              <a:t>Form Label: </a:t>
            </a:r>
          </a:p>
          <a:p>
            <a:pPr>
              <a:lnSpc>
                <a:spcPct val="10000"/>
              </a:lnSpc>
              <a:spcBef>
                <a:spcPts val="1650"/>
              </a:spcBef>
              <a:defRPr sz="4400"/>
            </a:pPr>
            <a:r>
              <a:rPr sz="2200"/>
              <a:t>customised to “</a:t>
            </a:r>
            <a:r>
              <a:rPr sz="2200">
                <a:latin typeface="Courier"/>
                <a:ea typeface="Courier"/>
                <a:cs typeface="Courier"/>
                <a:sym typeface="Courier"/>
              </a:rPr>
              <a:t>The Engine”</a:t>
            </a:r>
            <a:r>
              <a:rPr sz="2200"/>
              <a:t> </a:t>
            </a:r>
          </a:p>
        </p:txBody>
      </p:sp>
      <p:sp>
        <p:nvSpPr>
          <p:cNvPr id="658" name="Instance identity:…"/>
          <p:cNvSpPr txBox="1"/>
          <p:nvPr/>
        </p:nvSpPr>
        <p:spPr>
          <a:xfrm>
            <a:off x="4037294" y="2940767"/>
            <a:ext cx="10615055" cy="497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lnSpc>
                <a:spcPct val="20000"/>
              </a:lnSpc>
              <a:spcBef>
                <a:spcPts val="1650"/>
              </a:spcBef>
              <a:defRPr sz="4500"/>
            </a:pPr>
            <a:r>
              <a:rPr sz="2250" b="1"/>
              <a:t>Instance identity</a:t>
            </a:r>
            <a:r>
              <a:rPr sz="2250"/>
              <a:t>: </a:t>
            </a:r>
          </a:p>
          <a:p>
            <a:pPr>
              <a:lnSpc>
                <a:spcPct val="20000"/>
              </a:lnSpc>
              <a:spcBef>
                <a:spcPts val="1650"/>
              </a:spcBef>
              <a:defRPr sz="4500"/>
            </a:pPr>
            <a:r>
              <a:rPr sz="2250"/>
              <a:t>customised to “</a:t>
            </a:r>
            <a:r>
              <a:rPr sz="2250">
                <a:latin typeface="Courier"/>
                <a:ea typeface="Courier"/>
                <a:cs typeface="Courier"/>
                <a:sym typeface="Courier"/>
              </a:rPr>
              <a:t>Engine Number</a:t>
            </a:r>
            <a:r>
              <a:rPr sz="2250"/>
              <a:t>” from </a:t>
            </a:r>
            <a:r>
              <a:rPr sz="2250">
                <a:latin typeface="Courier"/>
                <a:ea typeface="Courier"/>
                <a:cs typeface="Courier"/>
                <a:sym typeface="Courier"/>
              </a:rPr>
              <a:t>Engine</a:t>
            </a:r>
            <a:r>
              <a:rPr sz="2250"/>
              <a:t> </a:t>
            </a:r>
          </a:p>
        </p:txBody>
      </p:sp>
      <p:sp>
        <p:nvSpPr>
          <p:cNvPr id="659" name="Line"/>
          <p:cNvSpPr/>
          <p:nvPr/>
        </p:nvSpPr>
        <p:spPr>
          <a:xfrm>
            <a:off x="527154" y="3261717"/>
            <a:ext cx="538078" cy="1726462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00"/>
          </a:p>
        </p:txBody>
      </p:sp>
      <p:sp>
        <p:nvSpPr>
          <p:cNvPr id="660" name="Issue: How can an Engine ‘know’ which Car it belongs to?"/>
          <p:cNvSpPr txBox="1"/>
          <p:nvPr/>
        </p:nvSpPr>
        <p:spPr>
          <a:xfrm>
            <a:off x="1594199" y="6432542"/>
            <a:ext cx="11675185" cy="402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spcBef>
                <a:spcPts val="1650"/>
              </a:spcBef>
              <a:defRPr sz="4300" b="1"/>
            </a:pPr>
            <a:r>
              <a:rPr sz="2150"/>
              <a:t>Issue: How can an </a:t>
            </a:r>
            <a:r>
              <a:rPr sz="2150">
                <a:latin typeface="Courier"/>
                <a:ea typeface="Courier"/>
                <a:cs typeface="Courier"/>
                <a:sym typeface="Courier"/>
              </a:rPr>
              <a:t>Engine</a:t>
            </a:r>
            <a:r>
              <a:rPr sz="2150"/>
              <a:t> ‘know’ which </a:t>
            </a:r>
            <a:r>
              <a:rPr sz="2150">
                <a:latin typeface="Courier"/>
                <a:ea typeface="Courier"/>
                <a:cs typeface="Courier"/>
                <a:sym typeface="Courier"/>
              </a:rPr>
              <a:t>Car</a:t>
            </a:r>
            <a:r>
              <a:rPr sz="2150"/>
              <a:t> it belongs to?</a:t>
            </a:r>
          </a:p>
        </p:txBody>
      </p:sp>
      <p:sp>
        <p:nvSpPr>
          <p:cNvPr id="661" name="Line"/>
          <p:cNvSpPr/>
          <p:nvPr/>
        </p:nvSpPr>
        <p:spPr>
          <a:xfrm flipH="1" flipV="1">
            <a:off x="3096541" y="2387271"/>
            <a:ext cx="1518401" cy="374947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00"/>
          </a:p>
        </p:txBody>
      </p:sp>
      <p:sp>
        <p:nvSpPr>
          <p:cNvPr id="662" name="n.b. no spaces in JDL- use camelCase labels to get Title Case"/>
          <p:cNvSpPr txBox="1"/>
          <p:nvPr/>
        </p:nvSpPr>
        <p:spPr>
          <a:xfrm>
            <a:off x="1594199" y="5941474"/>
            <a:ext cx="11675185" cy="402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spcBef>
                <a:spcPts val="1650"/>
              </a:spcBef>
              <a:defRPr sz="4300" b="1"/>
            </a:pPr>
            <a:r>
              <a:rPr sz="2150" dirty="0"/>
              <a:t>n.b. no spaces in JDL</a:t>
            </a:r>
            <a:r>
              <a:rPr lang="en-GB" sz="2150" dirty="0"/>
              <a:t> </a:t>
            </a:r>
            <a:r>
              <a:rPr sz="2150" dirty="0"/>
              <a:t>- use </a:t>
            </a:r>
            <a:r>
              <a:rPr sz="2150" i="1" dirty="0"/>
              <a:t>camelCase</a:t>
            </a:r>
            <a:r>
              <a:rPr sz="2150" dirty="0"/>
              <a:t> labels to get </a:t>
            </a:r>
            <a:r>
              <a:rPr sz="2150" i="1" dirty="0"/>
              <a:t>Title Case</a:t>
            </a:r>
          </a:p>
        </p:txBody>
      </p:sp>
      <p:pic>
        <p:nvPicPr>
          <p:cNvPr id="663" name="Screenshot 2025-02-02 at 18.20.11.png" descr="Screenshot 2025-02-02 at 18.20.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202" y="3575602"/>
            <a:ext cx="4255905" cy="2099454"/>
          </a:xfrm>
          <a:prstGeom prst="rect">
            <a:avLst/>
          </a:prstGeom>
          <a:ln w="12700">
            <a:miter lim="400000"/>
          </a:ln>
        </p:spPr>
      </p:pic>
      <p:sp>
        <p:nvSpPr>
          <p:cNvPr id="664" name="Line"/>
          <p:cNvSpPr/>
          <p:nvPr/>
        </p:nvSpPr>
        <p:spPr>
          <a:xfrm flipV="1">
            <a:off x="799880" y="2300038"/>
            <a:ext cx="630023" cy="220910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00"/>
          </a:p>
        </p:txBody>
      </p:sp>
      <p:sp>
        <p:nvSpPr>
          <p:cNvPr id="665" name="Line"/>
          <p:cNvSpPr/>
          <p:nvPr/>
        </p:nvSpPr>
        <p:spPr>
          <a:xfrm flipH="1">
            <a:off x="2843771" y="3588245"/>
            <a:ext cx="1865196" cy="1486095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00"/>
          </a:p>
        </p:txBody>
      </p:sp>
      <p:sp>
        <p:nvSpPr>
          <p:cNvPr id="666" name="Line"/>
          <p:cNvSpPr/>
          <p:nvPr/>
        </p:nvSpPr>
        <p:spPr>
          <a:xfrm>
            <a:off x="6314312" y="3588245"/>
            <a:ext cx="2427245" cy="1080999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00"/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Screenshot 2025-02-02 at 18.02.05.png" descr="Screenshot 2025-02-02 at 18.02.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572" y="151904"/>
            <a:ext cx="3177098" cy="2959283"/>
          </a:xfrm>
          <a:prstGeom prst="rect">
            <a:avLst/>
          </a:prstGeom>
          <a:ln w="12700">
            <a:miter lim="400000"/>
          </a:ln>
        </p:spPr>
      </p:pic>
      <p:sp>
        <p:nvSpPr>
          <p:cNvPr id="669" name="Bidirectional Relations"/>
          <p:cNvSpPr txBox="1">
            <a:spLocks noGrp="1"/>
          </p:cNvSpPr>
          <p:nvPr>
            <p:ph type="title"/>
          </p:nvPr>
        </p:nvSpPr>
        <p:spPr>
          <a:xfrm>
            <a:off x="39917" y="151904"/>
            <a:ext cx="3177099" cy="1714501"/>
          </a:xfrm>
          <a:prstGeom prst="rect">
            <a:avLst/>
          </a:prstGeom>
        </p:spPr>
        <p:txBody>
          <a:bodyPr/>
          <a:lstStyle/>
          <a:p>
            <a:r>
              <a:rPr dirty="0"/>
              <a:t>Bidirectional Relations</a:t>
            </a:r>
          </a:p>
        </p:txBody>
      </p:sp>
      <p:sp>
        <p:nvSpPr>
          <p:cNvPr id="670" name="entity Car{…"/>
          <p:cNvSpPr txBox="1"/>
          <p:nvPr/>
        </p:nvSpPr>
        <p:spPr>
          <a:xfrm>
            <a:off x="4072264" y="95990"/>
            <a:ext cx="5205870" cy="3457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entity Car{</a:t>
            </a:r>
          </a:p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 vin String</a:t>
            </a:r>
          </a:p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}</a:t>
            </a:r>
          </a:p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entity Engine{</a:t>
            </a:r>
          </a:p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  </a:t>
            </a:r>
            <a:r>
              <a:rPr sz="2000" dirty="0" err="1"/>
              <a:t>engineNumber</a:t>
            </a:r>
            <a:r>
              <a:rPr sz="2000" dirty="0"/>
              <a:t> String</a:t>
            </a:r>
          </a:p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}</a:t>
            </a:r>
          </a:p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endParaRPr sz="2000" dirty="0"/>
          </a:p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relationship </a:t>
            </a:r>
            <a:r>
              <a:rPr sz="2000" dirty="0" err="1"/>
              <a:t>OneToOne</a:t>
            </a:r>
            <a:r>
              <a:rPr sz="2000" dirty="0"/>
              <a:t> {  </a:t>
            </a:r>
          </a:p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  Car{</a:t>
            </a:r>
            <a:r>
              <a:rPr sz="2000" dirty="0" err="1"/>
              <a:t>theEngine</a:t>
            </a:r>
            <a:r>
              <a:rPr sz="2000" dirty="0"/>
              <a:t>(</a:t>
            </a:r>
            <a:r>
              <a:rPr sz="2000" dirty="0" err="1"/>
              <a:t>engineNumber</a:t>
            </a:r>
            <a:r>
              <a:rPr sz="2000" dirty="0"/>
              <a:t>)} to Engine{</a:t>
            </a:r>
            <a:r>
              <a:rPr sz="2000" dirty="0" err="1"/>
              <a:t>theCar</a:t>
            </a:r>
            <a:r>
              <a:rPr sz="2000" dirty="0"/>
              <a:t>(vin)}</a:t>
            </a:r>
          </a:p>
          <a:p>
            <a:pPr algn="l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}</a:t>
            </a:r>
          </a:p>
        </p:txBody>
      </p:sp>
      <p:sp>
        <p:nvSpPr>
          <p:cNvPr id="671" name="Bidirectional Relationship:…"/>
          <p:cNvSpPr txBox="1"/>
          <p:nvPr/>
        </p:nvSpPr>
        <p:spPr>
          <a:xfrm>
            <a:off x="39917" y="3183388"/>
            <a:ext cx="10615055" cy="491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lnSpc>
                <a:spcPct val="20000"/>
              </a:lnSpc>
              <a:spcBef>
                <a:spcPts val="1650"/>
              </a:spcBef>
              <a:defRPr sz="4500"/>
            </a:pPr>
            <a:r>
              <a:rPr sz="2250" b="1"/>
              <a:t>Bidirectional Relationship:</a:t>
            </a:r>
          </a:p>
          <a:p>
            <a:pPr>
              <a:lnSpc>
                <a:spcPct val="20000"/>
              </a:lnSpc>
              <a:spcBef>
                <a:spcPts val="1650"/>
              </a:spcBef>
              <a:defRPr sz="4500"/>
            </a:pPr>
            <a:r>
              <a:rPr sz="2250"/>
              <a:t>Specific a label (+instance field) for the target</a:t>
            </a:r>
          </a:p>
        </p:txBody>
      </p:sp>
      <p:sp>
        <p:nvSpPr>
          <p:cNvPr id="672" name="Line"/>
          <p:cNvSpPr/>
          <p:nvPr/>
        </p:nvSpPr>
        <p:spPr>
          <a:xfrm flipV="1">
            <a:off x="3217016" y="2601672"/>
            <a:ext cx="2763756" cy="581715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00"/>
          </a:p>
        </p:txBody>
      </p:sp>
      <p:sp>
        <p:nvSpPr>
          <p:cNvPr id="673" name="n.b. this does not change the database - only the relationship owner (car) has the foreign key field"/>
          <p:cNvSpPr txBox="1"/>
          <p:nvPr/>
        </p:nvSpPr>
        <p:spPr>
          <a:xfrm>
            <a:off x="109459" y="5733156"/>
            <a:ext cx="5638633" cy="1064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spcBef>
                <a:spcPts val="3300"/>
              </a:spcBef>
              <a:defRPr sz="4300" b="1"/>
            </a:lvl1pPr>
          </a:lstStyle>
          <a:p>
            <a:r>
              <a:rPr sz="2150"/>
              <a:t>n.b. this does not change the database - only the relationship owner (car) has the foreign key field</a:t>
            </a:r>
          </a:p>
        </p:txBody>
      </p:sp>
      <p:pic>
        <p:nvPicPr>
          <p:cNvPr id="674" name="Screenshot 2025-02-02 at 18.20.11.png" descr="Screenshot 2025-02-02 at 18.20.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202" y="3764238"/>
            <a:ext cx="4255905" cy="2099454"/>
          </a:xfrm>
          <a:prstGeom prst="rect">
            <a:avLst/>
          </a:prstGeom>
          <a:ln w="12700">
            <a:miter lim="400000"/>
          </a:ln>
        </p:spPr>
      </p:pic>
      <p:sp>
        <p:nvSpPr>
          <p:cNvPr id="675" name="Line"/>
          <p:cNvSpPr/>
          <p:nvPr/>
        </p:nvSpPr>
        <p:spPr>
          <a:xfrm>
            <a:off x="2987533" y="3755863"/>
            <a:ext cx="5630688" cy="1424364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00"/>
          </a:p>
        </p:txBody>
      </p:sp>
      <p:pic>
        <p:nvPicPr>
          <p:cNvPr id="676" name="Screenshot 2025-02-02 at 18.20.02.png" descr="Screenshot 2025-02-02 at 18.20.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62" y="3928253"/>
            <a:ext cx="3326505" cy="18976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OneToMan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OneToMany</a:t>
            </a:r>
          </a:p>
        </p:txBody>
      </p:sp>
      <p:pic>
        <p:nvPicPr>
          <p:cNvPr id="679" name="Screenshot 2024-01-25 at 15.40.34.png" descr="Screenshot 2024-01-25 at 15.40.34.png"/>
          <p:cNvPicPr>
            <a:picLocks noChangeAspect="1"/>
          </p:cNvPicPr>
          <p:nvPr/>
        </p:nvPicPr>
        <p:blipFill>
          <a:blip r:embed="rId2"/>
          <a:srcRect t="7569" r="55261" b="5394"/>
          <a:stretch>
            <a:fillRect/>
          </a:stretch>
        </p:blipFill>
        <p:spPr>
          <a:xfrm>
            <a:off x="1854058" y="1978610"/>
            <a:ext cx="4333783" cy="3449102"/>
          </a:xfrm>
          <a:prstGeom prst="rect">
            <a:avLst/>
          </a:prstGeom>
          <a:ln w="12700">
            <a:miter lim="400000"/>
          </a:ln>
        </p:spPr>
      </p:pic>
      <p:pic>
        <p:nvPicPr>
          <p:cNvPr id="680" name="Screenshot 2024-01-25 at 15.40.34.png" descr="Screenshot 2024-01-25 at 15.40.34.png"/>
          <p:cNvPicPr>
            <a:picLocks noChangeAspect="1"/>
          </p:cNvPicPr>
          <p:nvPr/>
        </p:nvPicPr>
        <p:blipFill>
          <a:blip r:embed="rId2"/>
          <a:srcRect l="64422" t="7569" b="1764"/>
          <a:stretch>
            <a:fillRect/>
          </a:stretch>
        </p:blipFill>
        <p:spPr>
          <a:xfrm>
            <a:off x="7662329" y="1953915"/>
            <a:ext cx="2829806" cy="29501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JDL example relationship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JDL example relationships</a:t>
            </a:r>
          </a:p>
        </p:txBody>
      </p:sp>
      <p:pic>
        <p:nvPicPr>
          <p:cNvPr id="689" name="Screenshot 2024-01-25 at 16.48.35.png" descr="Screenshot 2024-01-25 at 16.48.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23637"/>
            <a:ext cx="3252342" cy="47484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0" name="Screenshot 2024-01-25 at 16.49.03.png" descr="Screenshot 2024-01-25 at 16.49.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679" y="1152946"/>
            <a:ext cx="3568012" cy="5318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91" name="Screenshot 2024-01-25 at 16.49.35.png" descr="Screenshot 2024-01-25 at 16.49.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028" y="1638867"/>
            <a:ext cx="3772904" cy="4542058"/>
          </a:xfrm>
          <a:prstGeom prst="rect">
            <a:avLst/>
          </a:prstGeom>
          <a:ln w="12700">
            <a:miter lim="400000"/>
          </a:ln>
        </p:spPr>
      </p:pic>
      <p:sp>
        <p:nvSpPr>
          <p:cNvPr id="692" name="N.b. User is a built in class - links your app to JHipster users/login"/>
          <p:cNvSpPr txBox="1"/>
          <p:nvPr/>
        </p:nvSpPr>
        <p:spPr>
          <a:xfrm>
            <a:off x="4522190" y="6504413"/>
            <a:ext cx="3701334" cy="210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900" b="1" dirty="0">
                <a:latin typeface="Arial" panose="020B0604020202020204" pitchFamily="34" charset="0"/>
                <a:cs typeface="Arial" panose="020B0604020202020204" pitchFamily="34" charset="0"/>
              </a:rPr>
              <a:t>N.b. </a:t>
            </a:r>
            <a:r>
              <a:rPr sz="900" b="1" dirty="0">
                <a:latin typeface="Arial" panose="020B0604020202020204" pitchFamily="34" charset="0"/>
                <a:ea typeface="Courier New"/>
                <a:cs typeface="Arial" panose="020B0604020202020204" pitchFamily="34" charset="0"/>
                <a:sym typeface="Courier New"/>
              </a:rPr>
              <a:t>User</a:t>
            </a:r>
            <a:r>
              <a:rPr sz="900" b="1" dirty="0">
                <a:latin typeface="Arial" panose="020B0604020202020204" pitchFamily="34" charset="0"/>
                <a:cs typeface="Arial" panose="020B0604020202020204" pitchFamily="34" charset="0"/>
              </a:rPr>
              <a:t> is a built in class - links your app to </a:t>
            </a:r>
            <a:r>
              <a:rPr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JHipster</a:t>
            </a:r>
            <a:r>
              <a:rPr sz="900" b="1" dirty="0">
                <a:latin typeface="Arial" panose="020B0604020202020204" pitchFamily="34" charset="0"/>
                <a:cs typeface="Arial" panose="020B0604020202020204" pitchFamily="34" charset="0"/>
              </a:rPr>
              <a:t> users/login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JDL relationships: example instan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JDL relationships: example instances</a:t>
            </a:r>
          </a:p>
        </p:txBody>
      </p:sp>
      <p:pic>
        <p:nvPicPr>
          <p:cNvPr id="695" name="Screenshot 2024-01-25 at 16.49.35.png" descr="Screenshot 2024-01-25 at 16.49.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8" y="3584705"/>
            <a:ext cx="2739024" cy="3297408"/>
          </a:xfrm>
          <a:prstGeom prst="rect">
            <a:avLst/>
          </a:prstGeom>
          <a:ln w="12700">
            <a:miter lim="400000"/>
          </a:ln>
        </p:spPr>
      </p:pic>
      <p:sp>
        <p:nvSpPr>
          <p:cNvPr id="696" name="StephenKing:Author"/>
          <p:cNvSpPr txBox="1"/>
          <p:nvPr/>
        </p:nvSpPr>
        <p:spPr>
          <a:xfrm>
            <a:off x="3164986" y="1493764"/>
            <a:ext cx="3170613" cy="503023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rPr sz="2800"/>
              <a:t>StephenKing:Author</a:t>
            </a:r>
          </a:p>
        </p:txBody>
      </p:sp>
      <p:sp>
        <p:nvSpPr>
          <p:cNvPr id="697" name="HarperLee:Author"/>
          <p:cNvSpPr txBox="1"/>
          <p:nvPr/>
        </p:nvSpPr>
        <p:spPr>
          <a:xfrm>
            <a:off x="3784640" y="3345814"/>
            <a:ext cx="2852640" cy="503023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rPr sz="2800"/>
              <a:t>HarperLee:Author</a:t>
            </a:r>
          </a:p>
        </p:txBody>
      </p:sp>
      <p:sp>
        <p:nvSpPr>
          <p:cNvPr id="698" name="PeterStraub:Author"/>
          <p:cNvSpPr txBox="1"/>
          <p:nvPr/>
        </p:nvSpPr>
        <p:spPr>
          <a:xfrm>
            <a:off x="3225628" y="2561539"/>
            <a:ext cx="3045385" cy="503023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rPr sz="2800"/>
              <a:t>PeterStraub:Author</a:t>
            </a:r>
          </a:p>
        </p:txBody>
      </p:sp>
      <p:sp>
        <p:nvSpPr>
          <p:cNvPr id="699" name="TKAMB:Book"/>
          <p:cNvSpPr txBox="1"/>
          <p:nvPr/>
        </p:nvSpPr>
        <p:spPr>
          <a:xfrm>
            <a:off x="7049158" y="3345814"/>
            <a:ext cx="2050241" cy="503023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ffectLst>
            <a:outerShdw blurRad="63500" dist="127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rPr sz="2800"/>
              <a:t>TKAMB:Book</a:t>
            </a:r>
          </a:p>
        </p:txBody>
      </p:sp>
      <p:sp>
        <p:nvSpPr>
          <p:cNvPr id="700" name="TheTalisman:Book"/>
          <p:cNvSpPr txBox="1"/>
          <p:nvPr/>
        </p:nvSpPr>
        <p:spPr>
          <a:xfrm>
            <a:off x="7023418" y="2110357"/>
            <a:ext cx="2874891" cy="503023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ffectLst>
            <a:outerShdw blurRad="63500" dist="127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rPr sz="2800"/>
              <a:t>TheTalisman:Book</a:t>
            </a:r>
          </a:p>
        </p:txBody>
      </p:sp>
      <p:sp>
        <p:nvSpPr>
          <p:cNvPr id="701" name="SouthernGothic:Tag"/>
          <p:cNvSpPr txBox="1"/>
          <p:nvPr/>
        </p:nvSpPr>
        <p:spPr>
          <a:xfrm>
            <a:off x="9140003" y="5117848"/>
            <a:ext cx="3146952" cy="503023"/>
          </a:xfrm>
          <a:prstGeom prst="rect">
            <a:avLst/>
          </a:prstGeom>
          <a:blipFill>
            <a:blip r:embed="rId5"/>
          </a:blip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rPr sz="2800"/>
              <a:t>SouthernGothic:Tag</a:t>
            </a:r>
          </a:p>
        </p:txBody>
      </p:sp>
      <p:sp>
        <p:nvSpPr>
          <p:cNvPr id="702" name="Fantasy:Tag"/>
          <p:cNvSpPr txBox="1"/>
          <p:nvPr/>
        </p:nvSpPr>
        <p:spPr>
          <a:xfrm>
            <a:off x="10049623" y="1329264"/>
            <a:ext cx="1892890" cy="503023"/>
          </a:xfrm>
          <a:prstGeom prst="rect">
            <a:avLst/>
          </a:prstGeom>
          <a:blipFill>
            <a:blip r:embed="rId5"/>
          </a:blip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rPr sz="2800"/>
              <a:t>Fantasy:Tag</a:t>
            </a:r>
          </a:p>
        </p:txBody>
      </p:sp>
      <p:sp>
        <p:nvSpPr>
          <p:cNvPr id="703" name="Dark:Tag"/>
          <p:cNvSpPr txBox="1"/>
          <p:nvPr/>
        </p:nvSpPr>
        <p:spPr>
          <a:xfrm>
            <a:off x="10592401" y="2386684"/>
            <a:ext cx="1416991" cy="503023"/>
          </a:xfrm>
          <a:prstGeom prst="rect">
            <a:avLst/>
          </a:prstGeom>
          <a:blipFill>
            <a:blip r:embed="rId5"/>
          </a:blip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rPr sz="2800"/>
              <a:t>Dark:Tag</a:t>
            </a:r>
          </a:p>
        </p:txBody>
      </p:sp>
      <p:cxnSp>
        <p:nvCxnSpPr>
          <p:cNvPr id="704" name="Connection Line"/>
          <p:cNvCxnSpPr>
            <a:stCxn id="696" idx="0"/>
            <a:endCxn id="700" idx="0"/>
          </p:cNvCxnSpPr>
          <p:nvPr/>
        </p:nvCxnSpPr>
        <p:spPr>
          <a:xfrm>
            <a:off x="4750293" y="1493764"/>
            <a:ext cx="3710571" cy="616593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705" name="Connection Line"/>
          <p:cNvCxnSpPr>
            <a:stCxn id="698" idx="0"/>
            <a:endCxn id="700" idx="0"/>
          </p:cNvCxnSpPr>
          <p:nvPr/>
        </p:nvCxnSpPr>
        <p:spPr>
          <a:xfrm flipV="1">
            <a:off x="4748321" y="2110357"/>
            <a:ext cx="3712543" cy="451182"/>
          </a:xfrm>
          <a:prstGeom prst="straightConnector1">
            <a:avLst/>
          </a:prstGeom>
          <a:ln w="88900">
            <a:solidFill>
              <a:srgbClr val="000000"/>
            </a:solidFill>
            <a:miter lim="400000"/>
          </a:ln>
        </p:spPr>
      </p:cxnSp>
      <p:cxnSp>
        <p:nvCxnSpPr>
          <p:cNvPr id="706" name="Connection Line"/>
          <p:cNvCxnSpPr>
            <a:stCxn id="697" idx="0"/>
            <a:endCxn id="699" idx="0"/>
          </p:cNvCxnSpPr>
          <p:nvPr/>
        </p:nvCxnSpPr>
        <p:spPr>
          <a:xfrm>
            <a:off x="5210960" y="3345814"/>
            <a:ext cx="2863319" cy="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707" name="Connection Line"/>
          <p:cNvCxnSpPr>
            <a:stCxn id="699" idx="0"/>
            <a:endCxn id="701" idx="0"/>
          </p:cNvCxnSpPr>
          <p:nvPr/>
        </p:nvCxnSpPr>
        <p:spPr>
          <a:xfrm>
            <a:off x="8074279" y="3345814"/>
            <a:ext cx="2639200" cy="1772034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708" name="Connection Line"/>
          <p:cNvCxnSpPr>
            <a:stCxn id="699" idx="0"/>
            <a:endCxn id="703" idx="0"/>
          </p:cNvCxnSpPr>
          <p:nvPr/>
        </p:nvCxnSpPr>
        <p:spPr>
          <a:xfrm flipV="1">
            <a:off x="8074279" y="2386684"/>
            <a:ext cx="3226618" cy="95913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709" name="Connection Line"/>
          <p:cNvCxnSpPr>
            <a:stCxn id="700" idx="0"/>
            <a:endCxn id="702" idx="0"/>
          </p:cNvCxnSpPr>
          <p:nvPr/>
        </p:nvCxnSpPr>
        <p:spPr>
          <a:xfrm flipV="1">
            <a:off x="8460864" y="1329264"/>
            <a:ext cx="2535204" cy="781093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710" name="Connection Line"/>
          <p:cNvCxnSpPr>
            <a:stCxn id="700" idx="0"/>
            <a:endCxn id="703" idx="0"/>
          </p:cNvCxnSpPr>
          <p:nvPr/>
        </p:nvCxnSpPr>
        <p:spPr>
          <a:xfrm>
            <a:off x="8460864" y="2110357"/>
            <a:ext cx="2840033" cy="276327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711" name="Connection Line"/>
          <p:cNvCxnSpPr>
            <a:stCxn id="714" idx="0"/>
            <a:endCxn id="697" idx="0"/>
          </p:cNvCxnSpPr>
          <p:nvPr/>
        </p:nvCxnSpPr>
        <p:spPr>
          <a:xfrm>
            <a:off x="1410835" y="2892225"/>
            <a:ext cx="3800125" cy="453589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sp>
        <p:nvSpPr>
          <p:cNvPr id="712" name="SK:User"/>
          <p:cNvSpPr txBox="1"/>
          <p:nvPr/>
        </p:nvSpPr>
        <p:spPr>
          <a:xfrm>
            <a:off x="761296" y="1507264"/>
            <a:ext cx="1310936" cy="503023"/>
          </a:xfrm>
          <a:prstGeom prst="rect">
            <a:avLst/>
          </a:prstGeom>
          <a:blipFill>
            <a:blip r:embed="rId6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rPr sz="2800" dirty="0"/>
              <a:t>SK:User</a:t>
            </a:r>
          </a:p>
        </p:txBody>
      </p:sp>
      <p:sp>
        <p:nvSpPr>
          <p:cNvPr id="713" name="PS:User"/>
          <p:cNvSpPr txBox="1"/>
          <p:nvPr/>
        </p:nvSpPr>
        <p:spPr>
          <a:xfrm>
            <a:off x="787254" y="2199745"/>
            <a:ext cx="1314142" cy="503023"/>
          </a:xfrm>
          <a:prstGeom prst="rect">
            <a:avLst/>
          </a:prstGeom>
          <a:blipFill>
            <a:blip r:embed="rId6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rPr sz="2800"/>
              <a:t>PS:User</a:t>
            </a:r>
          </a:p>
        </p:txBody>
      </p:sp>
      <p:sp>
        <p:nvSpPr>
          <p:cNvPr id="714" name="HL:User"/>
          <p:cNvSpPr txBox="1"/>
          <p:nvPr/>
        </p:nvSpPr>
        <p:spPr>
          <a:xfrm>
            <a:off x="742543" y="2892225"/>
            <a:ext cx="1336584" cy="503023"/>
          </a:xfrm>
          <a:prstGeom prst="rect">
            <a:avLst/>
          </a:prstGeom>
          <a:blipFill>
            <a:blip r:embed="rId6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rPr sz="2800"/>
              <a:t>HL:User</a:t>
            </a:r>
          </a:p>
        </p:txBody>
      </p:sp>
      <p:cxnSp>
        <p:nvCxnSpPr>
          <p:cNvPr id="715" name="Connection Line"/>
          <p:cNvCxnSpPr>
            <a:stCxn id="713" idx="0"/>
            <a:endCxn id="698" idx="0"/>
          </p:cNvCxnSpPr>
          <p:nvPr/>
        </p:nvCxnSpPr>
        <p:spPr>
          <a:xfrm>
            <a:off x="1444325" y="2199745"/>
            <a:ext cx="3303996" cy="361794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716" name="Connection Line"/>
          <p:cNvCxnSpPr>
            <a:stCxn id="712" idx="0"/>
            <a:endCxn id="696" idx="0"/>
          </p:cNvCxnSpPr>
          <p:nvPr/>
        </p:nvCxnSpPr>
        <p:spPr>
          <a:xfrm flipV="1">
            <a:off x="1416764" y="1493764"/>
            <a:ext cx="3333529" cy="1350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sp>
        <p:nvSpPr>
          <p:cNvPr id="717" name="N.b. JHipster does not fully maintain bi-directional relationships"/>
          <p:cNvSpPr txBox="1"/>
          <p:nvPr/>
        </p:nvSpPr>
        <p:spPr>
          <a:xfrm>
            <a:off x="4259833" y="6172686"/>
            <a:ext cx="3238067" cy="210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900" dirty="0"/>
              <a:t>N.b. </a:t>
            </a:r>
            <a:r>
              <a:rPr sz="900" dirty="0" err="1"/>
              <a:t>JHipster</a:t>
            </a:r>
            <a:r>
              <a:rPr sz="900" dirty="0"/>
              <a:t> does not fully maintain bi-directional relationships</a:t>
            </a:r>
          </a:p>
        </p:txBody>
      </p:sp>
      <p:cxnSp>
        <p:nvCxnSpPr>
          <p:cNvPr id="718" name="Connection Line"/>
          <p:cNvCxnSpPr>
            <a:stCxn id="696" idx="0"/>
            <a:endCxn id="700" idx="0"/>
          </p:cNvCxnSpPr>
          <p:nvPr/>
        </p:nvCxnSpPr>
        <p:spPr>
          <a:xfrm>
            <a:off x="4750293" y="1493764"/>
            <a:ext cx="3710571" cy="616593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719" name="Connection Line"/>
          <p:cNvCxnSpPr>
            <a:stCxn id="698" idx="0"/>
            <a:endCxn id="700" idx="0"/>
          </p:cNvCxnSpPr>
          <p:nvPr/>
        </p:nvCxnSpPr>
        <p:spPr>
          <a:xfrm flipV="1">
            <a:off x="4748321" y="2110357"/>
            <a:ext cx="3712543" cy="451182"/>
          </a:xfrm>
          <a:prstGeom prst="straightConnector1">
            <a:avLst/>
          </a:prstGeom>
          <a:ln w="88900">
            <a:solidFill>
              <a:srgbClr val="000000"/>
            </a:solidFill>
            <a:miter lim="400000"/>
          </a:ln>
        </p:spPr>
      </p:cxnSp>
      <p:sp>
        <p:nvSpPr>
          <p:cNvPr id="720" name="Fiction:Tag"/>
          <p:cNvSpPr txBox="1"/>
          <p:nvPr/>
        </p:nvSpPr>
        <p:spPr>
          <a:xfrm>
            <a:off x="10471726" y="3444104"/>
            <a:ext cx="1737271" cy="503023"/>
          </a:xfrm>
          <a:prstGeom prst="rect">
            <a:avLst/>
          </a:prstGeom>
          <a:blipFill>
            <a:blip r:embed="rId5"/>
          </a:blip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rPr sz="2800"/>
              <a:t>Fiction:Tag</a:t>
            </a:r>
          </a:p>
        </p:txBody>
      </p:sp>
      <p:sp>
        <p:nvSpPr>
          <p:cNvPr id="729" name="Connection Line"/>
          <p:cNvSpPr/>
          <p:nvPr/>
        </p:nvSpPr>
        <p:spPr>
          <a:xfrm>
            <a:off x="8347523" y="2583522"/>
            <a:ext cx="1323929" cy="773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381" y="10326"/>
                  <a:pt x="8581" y="17526"/>
                  <a:pt x="21600" y="21600"/>
                </a:cubicBezTo>
              </a:path>
            </a:pathLst>
          </a:custGeom>
          <a:ln w="88900">
            <a:solidFill>
              <a:srgbClr val="000000"/>
            </a:solidFill>
            <a:miter lim="400000"/>
          </a:ln>
        </p:spPr>
        <p:txBody>
          <a:bodyPr/>
          <a:lstStyle/>
          <a:p>
            <a:endParaRPr sz="900"/>
          </a:p>
        </p:txBody>
      </p:sp>
      <p:cxnSp>
        <p:nvCxnSpPr>
          <p:cNvPr id="722" name="Connection Line"/>
          <p:cNvCxnSpPr>
            <a:stCxn id="699" idx="0"/>
            <a:endCxn id="720" idx="0"/>
          </p:cNvCxnSpPr>
          <p:nvPr/>
        </p:nvCxnSpPr>
        <p:spPr>
          <a:xfrm>
            <a:off x="8074279" y="3345814"/>
            <a:ext cx="3266083" cy="98290"/>
          </a:xfrm>
          <a:prstGeom prst="straightConnector1">
            <a:avLst/>
          </a:prstGeom>
          <a:ln w="76200">
            <a:solidFill>
              <a:srgbClr val="000000"/>
            </a:solidFill>
            <a:miter lim="400000"/>
          </a:ln>
        </p:spPr>
      </p:cxnSp>
      <p:sp>
        <p:nvSpPr>
          <p:cNvPr id="723" name="GSAW:Book"/>
          <p:cNvSpPr txBox="1"/>
          <p:nvPr/>
        </p:nvSpPr>
        <p:spPr>
          <a:xfrm>
            <a:off x="7127987" y="4070601"/>
            <a:ext cx="1941302" cy="503023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ffectLst>
            <a:outerShdw blurRad="63500" dist="127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rPr sz="2800"/>
              <a:t>GSAW:Book</a:t>
            </a:r>
          </a:p>
        </p:txBody>
      </p:sp>
      <p:cxnSp>
        <p:nvCxnSpPr>
          <p:cNvPr id="724" name="Connection Line"/>
          <p:cNvCxnSpPr>
            <a:stCxn id="697" idx="0"/>
            <a:endCxn id="723" idx="0"/>
          </p:cNvCxnSpPr>
          <p:nvPr/>
        </p:nvCxnSpPr>
        <p:spPr>
          <a:xfrm>
            <a:off x="5210960" y="3345814"/>
            <a:ext cx="2887678" cy="724787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725" name="Connection Line"/>
          <p:cNvCxnSpPr>
            <a:stCxn id="723" idx="0"/>
            <a:endCxn id="720" idx="0"/>
          </p:cNvCxnSpPr>
          <p:nvPr/>
        </p:nvCxnSpPr>
        <p:spPr>
          <a:xfrm flipV="1">
            <a:off x="8098638" y="3444104"/>
            <a:ext cx="3241724" cy="626497"/>
          </a:xfrm>
          <a:prstGeom prst="straightConnector1">
            <a:avLst/>
          </a:prstGeom>
          <a:ln w="88900">
            <a:solidFill>
              <a:srgbClr val="000000"/>
            </a:solidFill>
            <a:miter lim="400000"/>
          </a:ln>
        </p:spPr>
      </p:cxnSp>
      <p:cxnSp>
        <p:nvCxnSpPr>
          <p:cNvPr id="726" name="Connection Line"/>
          <p:cNvCxnSpPr>
            <a:stCxn id="723" idx="0"/>
            <a:endCxn id="701" idx="0"/>
          </p:cNvCxnSpPr>
          <p:nvPr/>
        </p:nvCxnSpPr>
        <p:spPr>
          <a:xfrm>
            <a:off x="8098638" y="4070601"/>
            <a:ext cx="2614841" cy="1047247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727" name="Connection Line"/>
          <p:cNvCxnSpPr>
            <a:stCxn id="697" idx="0"/>
            <a:endCxn id="699" idx="0"/>
          </p:cNvCxnSpPr>
          <p:nvPr/>
        </p:nvCxnSpPr>
        <p:spPr>
          <a:xfrm>
            <a:off x="5210960" y="3345814"/>
            <a:ext cx="2863319" cy="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728" name="Connection Line"/>
          <p:cNvCxnSpPr>
            <a:stCxn id="697" idx="0"/>
            <a:endCxn id="723" idx="0"/>
          </p:cNvCxnSpPr>
          <p:nvPr/>
        </p:nvCxnSpPr>
        <p:spPr>
          <a:xfrm>
            <a:off x="5210960" y="3345814"/>
            <a:ext cx="2887678" cy="724787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etting started with…"/>
          <p:cNvSpPr txBox="1">
            <a:spLocks noGrp="1"/>
          </p:cNvSpPr>
          <p:nvPr>
            <p:ph type="title"/>
          </p:nvPr>
        </p:nvSpPr>
        <p:spPr>
          <a:xfrm>
            <a:off x="665480" y="500492"/>
            <a:ext cx="10861040" cy="5773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kern="1200" dirty="0"/>
              <a:t>Getting started with JDL Studio</a:t>
            </a:r>
            <a:br>
              <a:rPr lang="en-US" kern="1200" dirty="0"/>
            </a:br>
            <a:endParaRPr lang="en-US" kern="1200" dirty="0"/>
          </a:p>
        </p:txBody>
      </p: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96E571A1-B9BC-6F63-0D6A-ECAC16651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39" y="2501680"/>
            <a:ext cx="10478721" cy="18546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B1FA73-128A-3AF8-E13C-CB6F62771CB6}"/>
              </a:ext>
            </a:extLst>
          </p:cNvPr>
          <p:cNvSpPr txBox="1"/>
          <p:nvPr/>
        </p:nvSpPr>
        <p:spPr>
          <a:xfrm>
            <a:off x="3752193" y="1677988"/>
            <a:ext cx="3708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https://www.jhipster.tech/jdl-studio/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19DAB-D29F-9B17-F149-9A66B47A7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Classroom Activity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65513-0C86-FD1A-5DFB-B6AE467ADD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000" b="1" dirty="0"/>
              <a:t>Task:</a:t>
            </a:r>
            <a:endParaRPr lang="en-GB" sz="2000" dirty="0"/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Go to JDL Studio.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Define an ER model for a </a:t>
            </a:r>
            <a:r>
              <a:rPr lang="en-GB" sz="2000" b="1" dirty="0"/>
              <a:t>Library System</a:t>
            </a:r>
            <a:r>
              <a:rPr lang="en-GB" sz="2000" dirty="0"/>
              <a:t> with: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Entity </a:t>
            </a:r>
            <a:r>
              <a:rPr lang="en-GB" b="1" dirty="0"/>
              <a:t>Book</a:t>
            </a:r>
            <a:r>
              <a:rPr lang="en-GB" dirty="0"/>
              <a:t> (title, author, </a:t>
            </a:r>
            <a:r>
              <a:rPr lang="en-GB" dirty="0" err="1"/>
              <a:t>publishedYear</a:t>
            </a:r>
            <a:r>
              <a:rPr lang="en-GB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Entity </a:t>
            </a:r>
            <a:r>
              <a:rPr lang="en-GB" b="1" dirty="0"/>
              <a:t>Member</a:t>
            </a:r>
            <a:r>
              <a:rPr lang="en-GB" dirty="0"/>
              <a:t> (name, email)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Entity </a:t>
            </a:r>
            <a:r>
              <a:rPr lang="en-GB" b="1" dirty="0"/>
              <a:t>Loan</a:t>
            </a:r>
            <a:r>
              <a:rPr lang="en-GB" dirty="0"/>
              <a:t> (</a:t>
            </a:r>
            <a:r>
              <a:rPr lang="en-GB" dirty="0" err="1"/>
              <a:t>loanDate</a:t>
            </a:r>
            <a:r>
              <a:rPr lang="en-GB" dirty="0"/>
              <a:t>, </a:t>
            </a:r>
            <a:r>
              <a:rPr lang="en-GB" dirty="0" err="1"/>
              <a:t>returnDate</a:t>
            </a:r>
            <a:r>
              <a:rPr lang="en-GB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Relationships: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GB" sz="2000" dirty="0"/>
              <a:t>Member → Loan (One-to-Many)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GB" sz="2000" dirty="0"/>
              <a:t>Book → Loan (One-to-Many)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Export your ER diagram.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8291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2E7D-76B5-B485-FD0E-67CBDDAF5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Classroom Activity: Solution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78296-012B-5733-E665-A1FE50A08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54727"/>
            <a:ext cx="10515600" cy="4722236"/>
          </a:xfrm>
        </p:spPr>
        <p:txBody>
          <a:bodyPr>
            <a:normAutofit fontScale="32500" lnSpcReduction="20000"/>
          </a:bodyPr>
          <a:lstStyle/>
          <a:p>
            <a:r>
              <a:rPr lang="en-US" sz="4000" dirty="0"/>
              <a:t>entity Book {</a:t>
            </a:r>
          </a:p>
          <a:p>
            <a:r>
              <a:rPr lang="en-US" sz="4000" dirty="0"/>
              <a:t>  title String required,</a:t>
            </a:r>
          </a:p>
          <a:p>
            <a:r>
              <a:rPr lang="en-US" sz="4000" dirty="0"/>
              <a:t>  author String required,</a:t>
            </a:r>
          </a:p>
          <a:p>
            <a:r>
              <a:rPr lang="en-US" sz="4000" dirty="0"/>
              <a:t>  </a:t>
            </a:r>
            <a:r>
              <a:rPr lang="en-US" sz="4000" dirty="0" err="1"/>
              <a:t>publishedYear</a:t>
            </a:r>
            <a:r>
              <a:rPr lang="en-US" sz="4000" dirty="0"/>
              <a:t> Integer</a:t>
            </a:r>
          </a:p>
          <a:p>
            <a:r>
              <a:rPr lang="en-US" sz="4000" dirty="0"/>
              <a:t>}</a:t>
            </a:r>
          </a:p>
          <a:p>
            <a:r>
              <a:rPr lang="en-US" sz="4000" dirty="0"/>
              <a:t>entity Member {</a:t>
            </a:r>
          </a:p>
          <a:p>
            <a:r>
              <a:rPr lang="en-US" sz="4000" dirty="0"/>
              <a:t>  name String required,</a:t>
            </a:r>
          </a:p>
          <a:p>
            <a:r>
              <a:rPr lang="en-US" sz="4000" dirty="0"/>
              <a:t>  email String required</a:t>
            </a:r>
          </a:p>
          <a:p>
            <a:r>
              <a:rPr lang="en-US" sz="4000" dirty="0"/>
              <a:t>}</a:t>
            </a:r>
          </a:p>
          <a:p>
            <a:r>
              <a:rPr lang="en-US" sz="4000" dirty="0"/>
              <a:t>entity Loan {</a:t>
            </a:r>
          </a:p>
          <a:p>
            <a:r>
              <a:rPr lang="en-US" sz="4000" dirty="0"/>
              <a:t>  </a:t>
            </a:r>
            <a:r>
              <a:rPr lang="en-US" sz="4000" dirty="0" err="1"/>
              <a:t>loanDate</a:t>
            </a:r>
            <a:r>
              <a:rPr lang="en-US" sz="4000" dirty="0"/>
              <a:t> </a:t>
            </a:r>
            <a:r>
              <a:rPr lang="en-US" sz="4000" dirty="0" err="1"/>
              <a:t>LocalDate</a:t>
            </a:r>
            <a:r>
              <a:rPr lang="en-US" sz="4000" dirty="0"/>
              <a:t> required,</a:t>
            </a:r>
          </a:p>
          <a:p>
            <a:r>
              <a:rPr lang="en-US" sz="4000" dirty="0"/>
              <a:t>  </a:t>
            </a:r>
            <a:r>
              <a:rPr lang="en-US" sz="4000" dirty="0" err="1"/>
              <a:t>returnDate</a:t>
            </a:r>
            <a:r>
              <a:rPr lang="en-US" sz="4000" dirty="0"/>
              <a:t> </a:t>
            </a:r>
            <a:r>
              <a:rPr lang="en-US" sz="4000" dirty="0" err="1"/>
              <a:t>LocalDate</a:t>
            </a:r>
            <a:endParaRPr lang="en-US" sz="4000" dirty="0"/>
          </a:p>
          <a:p>
            <a:r>
              <a:rPr lang="en-US" sz="4000" dirty="0"/>
              <a:t>}</a:t>
            </a:r>
          </a:p>
          <a:p>
            <a:r>
              <a:rPr lang="en-US" sz="4000" dirty="0"/>
              <a:t>relationship </a:t>
            </a:r>
            <a:r>
              <a:rPr lang="en-US" sz="4000" dirty="0" err="1"/>
              <a:t>OneToMany</a:t>
            </a:r>
            <a:r>
              <a:rPr lang="en-US" sz="4000" dirty="0"/>
              <a:t> {</a:t>
            </a:r>
          </a:p>
          <a:p>
            <a:r>
              <a:rPr lang="en-US" sz="4000" dirty="0"/>
              <a:t>  Member{loan} to Loan{member}</a:t>
            </a:r>
          </a:p>
          <a:p>
            <a:r>
              <a:rPr lang="en-US" sz="4000" dirty="0"/>
              <a:t>  Book{loan} to Loan{book}</a:t>
            </a:r>
          </a:p>
          <a:p>
            <a:r>
              <a:rPr lang="en-US" sz="4000" dirty="0"/>
              <a:t>}</a:t>
            </a:r>
            <a:endParaRPr lang="en-US" dirty="0"/>
          </a:p>
        </p:txBody>
      </p:sp>
      <p:pic>
        <p:nvPicPr>
          <p:cNvPr id="6" name="Picture 5" descr="A black rectangular object with white text&#10;&#10;AI-generated content may be incorrect.">
            <a:extLst>
              <a:ext uri="{FF2B5EF4-FFF2-40B4-BE49-F238E27FC236}">
                <a16:creationId xmlns:a16="http://schemas.microsoft.com/office/drawing/2014/main" id="{C15B7495-EFEE-8434-0925-10CADF028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23212"/>
            <a:ext cx="10315611" cy="468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970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846F4-CE22-0B68-E5FA-39D6B5154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51B00-D3A4-C11F-2691-ABC4F2018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836136"/>
            <a:ext cx="4481945" cy="2053648"/>
          </a:xfrm>
        </p:spPr>
        <p:txBody>
          <a:bodyPr/>
          <a:lstStyle/>
          <a:p>
            <a:r>
              <a:rPr lang="en-US" dirty="0"/>
              <a:t>entity Student {</a:t>
            </a:r>
          </a:p>
          <a:p>
            <a:r>
              <a:rPr lang="en-US" dirty="0"/>
              <a:t>  name String required,</a:t>
            </a:r>
          </a:p>
          <a:p>
            <a:r>
              <a:rPr lang="en-US" dirty="0"/>
              <a:t>  email String required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667363-699F-88D0-5902-81B51302A5C1}"/>
              </a:ext>
            </a:extLst>
          </p:cNvPr>
          <p:cNvSpPr txBox="1"/>
          <p:nvPr/>
        </p:nvSpPr>
        <p:spPr>
          <a:xfrm>
            <a:off x="6516414" y="1836136"/>
            <a:ext cx="50292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TABLE student (</a:t>
            </a:r>
          </a:p>
          <a:p>
            <a:r>
              <a:rPr lang="en-US" dirty="0"/>
              <a:t>  id BIGINT AUTO_INCREMENT PRIMARY KEY,</a:t>
            </a:r>
          </a:p>
          <a:p>
            <a:r>
              <a:rPr lang="en-US" dirty="0"/>
              <a:t>  name VARCHAR(255) NOT NULL,</a:t>
            </a:r>
          </a:p>
          <a:p>
            <a:r>
              <a:rPr lang="en-US" dirty="0"/>
              <a:t>  email VARCHAR(255) NOT NULL</a:t>
            </a:r>
          </a:p>
          <a:p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4253608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38AC5-07CA-45E7-7D56-D18052BD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0C4F5-915C-83CE-959E-99EC7DF29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406908"/>
            <a:ext cx="4204855" cy="429808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entity Author {</a:t>
            </a:r>
          </a:p>
          <a:p>
            <a:r>
              <a:rPr lang="en-US" dirty="0"/>
              <a:t>  name String required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entity Book {</a:t>
            </a:r>
          </a:p>
          <a:p>
            <a:r>
              <a:rPr lang="en-US" dirty="0"/>
              <a:t>  title String required,</a:t>
            </a:r>
          </a:p>
          <a:p>
            <a:r>
              <a:rPr lang="en-US" dirty="0"/>
              <a:t>  </a:t>
            </a:r>
            <a:r>
              <a:rPr lang="en-US" dirty="0" err="1"/>
              <a:t>publishedYear</a:t>
            </a:r>
            <a:r>
              <a:rPr lang="en-US" dirty="0"/>
              <a:t> Integer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relationship </a:t>
            </a:r>
            <a:r>
              <a:rPr lang="en-US" dirty="0" err="1"/>
              <a:t>ManyToOne</a:t>
            </a:r>
            <a:r>
              <a:rPr lang="en-US" dirty="0"/>
              <a:t> {</a:t>
            </a:r>
          </a:p>
          <a:p>
            <a:r>
              <a:rPr lang="en-US" dirty="0"/>
              <a:t>  Book{author(name)} to Author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147EB5-A9F8-F22A-1768-85FC02E5A5AD}"/>
              </a:ext>
            </a:extLst>
          </p:cNvPr>
          <p:cNvSpPr txBox="1">
            <a:spLocks/>
          </p:cNvSpPr>
          <p:nvPr/>
        </p:nvSpPr>
        <p:spPr>
          <a:xfrm>
            <a:off x="5652654" y="1279958"/>
            <a:ext cx="6234546" cy="429808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CREATE TABLE author (</a:t>
            </a:r>
          </a:p>
          <a:p>
            <a:r>
              <a:rPr lang="en-US" dirty="0"/>
              <a:t>  id BIGINT AUTO_INCREMENT PRIMARY KEY,</a:t>
            </a:r>
          </a:p>
          <a:p>
            <a:r>
              <a:rPr lang="en-US" dirty="0"/>
              <a:t>  name VARCHAR(255) NOT NULL</a:t>
            </a:r>
          </a:p>
          <a:p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CREATE TABLE book (</a:t>
            </a:r>
          </a:p>
          <a:p>
            <a:r>
              <a:rPr lang="en-US" dirty="0"/>
              <a:t>  id BIGINT AUTO_INCREMENT PRIMARY KEY,</a:t>
            </a:r>
          </a:p>
          <a:p>
            <a:r>
              <a:rPr lang="en-US" dirty="0"/>
              <a:t>  title VARCHAR(255) NOT NULL,</a:t>
            </a:r>
          </a:p>
          <a:p>
            <a:r>
              <a:rPr lang="en-US" dirty="0"/>
              <a:t>  </a:t>
            </a:r>
            <a:r>
              <a:rPr lang="en-US" dirty="0" err="1"/>
              <a:t>published_year</a:t>
            </a:r>
            <a:r>
              <a:rPr lang="en-US" dirty="0"/>
              <a:t> INTEGER,</a:t>
            </a:r>
          </a:p>
          <a:p>
            <a:r>
              <a:rPr lang="en-US" dirty="0"/>
              <a:t>  </a:t>
            </a:r>
            <a:r>
              <a:rPr lang="en-US" dirty="0" err="1"/>
              <a:t>author_id</a:t>
            </a:r>
            <a:r>
              <a:rPr lang="en-US" dirty="0"/>
              <a:t> BIGINT,</a:t>
            </a:r>
          </a:p>
          <a:p>
            <a:r>
              <a:rPr lang="en-US" dirty="0"/>
              <a:t>  CONSTRAINT </a:t>
            </a:r>
            <a:r>
              <a:rPr lang="en-US" dirty="0" err="1"/>
              <a:t>fk_author</a:t>
            </a:r>
            <a:r>
              <a:rPr lang="en-US" dirty="0"/>
              <a:t> FOREIGN KEY (</a:t>
            </a:r>
            <a:r>
              <a:rPr lang="en-US" dirty="0" err="1"/>
              <a:t>author_id</a:t>
            </a:r>
            <a:r>
              <a:rPr lang="en-US" dirty="0"/>
              <a:t>) REFERENCES author(id)</a:t>
            </a:r>
          </a:p>
          <a:p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2829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BD113-F1B9-12D2-88CC-72AE06E31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471" y="311564"/>
            <a:ext cx="10515600" cy="837374"/>
          </a:xfrm>
        </p:spPr>
        <p:txBody>
          <a:bodyPr>
            <a:normAutofit fontScale="90000"/>
          </a:bodyPr>
          <a:lstStyle/>
          <a:p>
            <a:r>
              <a:rPr lang="en-US"/>
              <a:t>Activity: Create your first ER Diagram </a:t>
            </a:r>
            <a:br>
              <a:rPr lang="en-US"/>
            </a:br>
            <a:r>
              <a:rPr lang="en-GB" sz="3600"/>
              <a:t>Groups of 2-3 students</a:t>
            </a:r>
            <a:r>
              <a:rPr lang="en-US" sz="3600"/>
              <a:t>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37618-B730-0BE7-A3B9-F1811DFC61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685" y="1537526"/>
            <a:ext cx="7112660" cy="4351338"/>
          </a:xfrm>
        </p:spPr>
        <p:txBody>
          <a:bodyPr>
            <a:noAutofit/>
          </a:bodyPr>
          <a:lstStyle/>
          <a:p>
            <a:r>
              <a:rPr lang="en-GB" sz="2000" b="1" dirty="0"/>
              <a:t>Scenario: Online Bookstore: </a:t>
            </a:r>
            <a:r>
              <a:rPr lang="en-GB" sz="2000" dirty="0"/>
              <a:t>You are designing a database for an online bookstore. The system needs to track: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Books with details like ISBN, title, price, and publication date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Authors with name, biography, and contact information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Customers who register with name, email, and shipping address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Orders placed by customers, including date and status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Book categories like fiction, non-fiction, science, etc.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Consider these relationships: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Books are written by one or more authors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Books belong to one or more categories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Customers place orders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Orders contain one or more books</a:t>
            </a:r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8274AF-9D9B-1161-258B-EA66048BC8E3}"/>
              </a:ext>
            </a:extLst>
          </p:cNvPr>
          <p:cNvSpPr txBox="1"/>
          <p:nvPr/>
        </p:nvSpPr>
        <p:spPr>
          <a:xfrm>
            <a:off x="7872247" y="1537526"/>
            <a:ext cx="3970067" cy="3008516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Read the scenario on the right and identify the main </a:t>
            </a:r>
            <a:r>
              <a:rPr lang="en-GB" b="1" i="0" u="none" strike="noStrike" dirty="0">
                <a:solidFill>
                  <a:srgbClr val="4CAF50"/>
                </a:solidFill>
                <a:effectLst/>
                <a:latin typeface="Arial" panose="020B0604020202020204" pitchFamily="34" charset="0"/>
              </a:rPr>
              <a:t>entities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b="1" i="0" u="none" strike="noStrike" dirty="0">
                <a:solidFill>
                  <a:srgbClr val="4CAF50"/>
                </a:solidFill>
                <a:effectLst/>
                <a:latin typeface="Arial" panose="020B0604020202020204" pitchFamily="34" charset="0"/>
              </a:rPr>
              <a:t>attributes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and </a:t>
            </a:r>
            <a:r>
              <a:rPr lang="en-GB" b="1" i="0" u="none" strike="noStrike" dirty="0">
                <a:solidFill>
                  <a:srgbClr val="4CAF50"/>
                </a:solidFill>
                <a:effectLst/>
                <a:latin typeface="Arial" panose="020B0604020202020204" pitchFamily="34" charset="0"/>
              </a:rPr>
              <a:t>relationships</a:t>
            </a:r>
            <a:endParaRPr lang="en-GB" b="0" i="0" u="none" strike="noStrike" dirty="0"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algn="l">
              <a:spcAft>
                <a:spcPts val="1125"/>
              </a:spcAft>
              <a:buNone/>
            </a:pPr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Draw your ER diagram on paper using the symbols we've learned</a:t>
            </a:r>
            <a:endParaRPr lang="en-GB" b="0" i="0" u="none" strike="noStrike" dirty="0"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algn="l">
              <a:spcAft>
                <a:spcPts val="1125"/>
              </a:spcAft>
              <a:buNone/>
            </a:pPr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Determine the </a:t>
            </a:r>
            <a:r>
              <a:rPr lang="en-GB" b="1" i="0" u="none" strike="noStrike" dirty="0">
                <a:solidFill>
                  <a:srgbClr val="4CAF50"/>
                </a:solidFill>
                <a:effectLst/>
                <a:latin typeface="Arial" panose="020B0604020202020204" pitchFamily="34" charset="0"/>
              </a:rPr>
              <a:t>cardinality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of each relationship</a:t>
            </a:r>
            <a:endParaRPr lang="en-GB" b="0" i="0" u="none" strike="noStrike" dirty="0"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algn="l">
              <a:spcAft>
                <a:spcPts val="1125"/>
              </a:spcAft>
            </a:pPr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Share your diagram with another group and discuss differences</a:t>
            </a:r>
          </a:p>
        </p:txBody>
      </p:sp>
    </p:spTree>
    <p:extLst>
      <p:ext uri="{BB962C8B-B14F-4D97-AF65-F5344CB8AC3E}">
        <p14:creationId xmlns:p14="http://schemas.microsoft.com/office/powerpoint/2010/main" val="36574049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24DE1-C512-AA34-D321-16CA00355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4572"/>
            <a:ext cx="10515600" cy="1325563"/>
          </a:xfrm>
        </p:spPr>
        <p:txBody>
          <a:bodyPr/>
          <a:lstStyle/>
          <a:p>
            <a:r>
              <a:rPr lang="en-GB" noProof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605336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AC264-C763-AE8E-A052-72D43D255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Summary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35B9F8-6A04-8F91-AC76-B78586F7E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2302622"/>
          </a:xfrm>
        </p:spPr>
        <p:txBody>
          <a:bodyPr>
            <a:normAutofit/>
          </a:bodyPr>
          <a:lstStyle/>
          <a:p>
            <a:r>
              <a:rPr lang="en-GB" noProof="0" dirty="0"/>
              <a:t>What is ER?</a:t>
            </a:r>
          </a:p>
          <a:p>
            <a:r>
              <a:rPr lang="en-GB" noProof="0" dirty="0"/>
              <a:t>Why do we need ER model?</a:t>
            </a:r>
          </a:p>
          <a:p>
            <a:endParaRPr lang="en-GB" noProof="0" dirty="0"/>
          </a:p>
          <a:p>
            <a:pPr marL="0" indent="0"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206314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7C854-D9D1-0689-6EE3-FD721F67B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</a:t>
            </a:r>
            <a:r>
              <a:rPr lang="en-GB" noProof="0" err="1"/>
              <a:t>eferences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9E008-A9E8-A93E-FC25-AF3631029D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noProof="0" dirty="0"/>
          </a:p>
          <a:p>
            <a:r>
              <a:rPr lang="en-GB" dirty="0"/>
              <a:t>Ramakrishnan, R., Gehrke, J. and Gehrke, J., 2003. Database management systems (Vol. 3). New York: McGraw-Hill.</a:t>
            </a:r>
            <a:r>
              <a:rPr lang="en-GB" noProof="0" dirty="0"/>
              <a:t>Rochester</a:t>
            </a:r>
          </a:p>
          <a:p>
            <a:r>
              <a:rPr lang="en-GB" dirty="0"/>
              <a:t>University of Cambridge, </a:t>
            </a:r>
            <a:r>
              <a:rPr lang="en-GB" dirty="0">
                <a:hlinkClick r:id="rId2"/>
              </a:rPr>
              <a:t>Lecture 7: Schema Refinement and Normalisation</a:t>
            </a:r>
            <a:endParaRPr lang="en-GB" dirty="0"/>
          </a:p>
          <a:p>
            <a:r>
              <a:rPr lang="en-GB" dirty="0"/>
              <a:t>Examples on database anomalies from </a:t>
            </a:r>
            <a:r>
              <a:rPr lang="en-GB" noProof="0" dirty="0"/>
              <a:t>Rochester Institute of Technology, </a:t>
            </a:r>
            <a:r>
              <a:rPr lang="en-GB" noProof="0" dirty="0">
                <a:hlinkClick r:id="rId3"/>
              </a:rPr>
              <a:t>03- Database Normalisation</a:t>
            </a:r>
            <a:r>
              <a:rPr lang="en-GB" noProof="0" dirty="0"/>
              <a:t>, Available online</a:t>
            </a:r>
            <a:endParaRPr lang="en-GB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52658596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">
  <a:themeElements>
    <a:clrScheme name="Brand Hyperlink">
      <a:dk1>
        <a:srgbClr val="1B1B1B"/>
      </a:dk1>
      <a:lt1>
        <a:srgbClr val="FAFAFA"/>
      </a:lt1>
      <a:dk2>
        <a:srgbClr val="C59A00"/>
      </a:dk2>
      <a:lt2>
        <a:srgbClr val="C20019"/>
      </a:lt2>
      <a:accent1>
        <a:srgbClr val="007838"/>
      </a:accent1>
      <a:accent2>
        <a:srgbClr val="00788E"/>
      </a:accent2>
      <a:accent3>
        <a:srgbClr val="0057BF"/>
      </a:accent3>
      <a:accent4>
        <a:srgbClr val="501D83"/>
      </a:accent4>
      <a:accent5>
        <a:srgbClr val="DB0061"/>
      </a:accent5>
      <a:accent6>
        <a:srgbClr val="CF4527"/>
      </a:accent6>
      <a:hlink>
        <a:srgbClr val="0057BF"/>
      </a:hlink>
      <a:folHlink>
        <a:srgbClr val="0057B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A64A8D97-CF93-F647-93A8-33E362D4269F}" vid="{64564872-FB29-C447-B5D6-A2004310C6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842</TotalTime>
  <Words>2080</Words>
  <Application>Microsoft Macintosh PowerPoint</Application>
  <PresentationFormat>Widescreen</PresentationFormat>
  <Paragraphs>365</Paragraphs>
  <Slides>48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Aptos</vt:lpstr>
      <vt:lpstr>Arial</vt:lpstr>
      <vt:lpstr>Consolas</vt:lpstr>
      <vt:lpstr>Courier</vt:lpstr>
      <vt:lpstr>Courier New</vt:lpstr>
      <vt:lpstr>Helvetica</vt:lpstr>
      <vt:lpstr>Helvetica Light</vt:lpstr>
      <vt:lpstr>Noto Sans</vt:lpstr>
      <vt:lpstr>Segoe UI</vt:lpstr>
      <vt:lpstr>Times New Roman</vt:lpstr>
      <vt:lpstr>Light Theme</vt:lpstr>
      <vt:lpstr>Entity-Relationship (ER) Model</vt:lpstr>
      <vt:lpstr>This Week</vt:lpstr>
      <vt:lpstr>Learning objectives</vt:lpstr>
      <vt:lpstr>Introduction to ER Model</vt:lpstr>
      <vt:lpstr>PowerPoint Presentation</vt:lpstr>
      <vt:lpstr> Basic Components of ER Model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Tools for ER Diagramming</vt:lpstr>
      <vt:lpstr>Tools for ER Diagramming JHipster Domain Language - JDL</vt:lpstr>
      <vt:lpstr>PowerPoint Presentation</vt:lpstr>
      <vt:lpstr>What is JHipster JDL?</vt:lpstr>
      <vt:lpstr>JDL Entity</vt:lpstr>
      <vt:lpstr>JDL Primitives types</vt:lpstr>
      <vt:lpstr>Primitive Modifiers</vt:lpstr>
      <vt:lpstr>JDL Enum type</vt:lpstr>
      <vt:lpstr>Linking Entities</vt:lpstr>
      <vt:lpstr>JDL Entity Examples</vt:lpstr>
      <vt:lpstr>Multivalued types</vt:lpstr>
      <vt:lpstr>JDL Relationship Types</vt:lpstr>
      <vt:lpstr>OneToOne</vt:lpstr>
      <vt:lpstr>When should we use OneToOne relationships?</vt:lpstr>
      <vt:lpstr>Customise Relations</vt:lpstr>
      <vt:lpstr>Bidirectional Relations</vt:lpstr>
      <vt:lpstr>OneToMany</vt:lpstr>
      <vt:lpstr>JDL example relationships</vt:lpstr>
      <vt:lpstr>JDL relationships: example instances</vt:lpstr>
      <vt:lpstr>Getting started with JDL Studio </vt:lpstr>
      <vt:lpstr>Classroom Activity</vt:lpstr>
      <vt:lpstr>Classroom Activity: Solution </vt:lpstr>
      <vt:lpstr>Example</vt:lpstr>
      <vt:lpstr>Example </vt:lpstr>
      <vt:lpstr>Activity: Create your first ER Diagram  Groups of 2-3 students </vt:lpstr>
      <vt:lpstr>Questions</vt:lpstr>
      <vt:lpstr>Summary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Anelia Kurteva (Computer Science)</dc:creator>
  <cp:lastModifiedBy>Anelia Kurteva (Computer Science)</cp:lastModifiedBy>
  <cp:revision>20</cp:revision>
  <dcterms:created xsi:type="dcterms:W3CDTF">2025-06-29T08:49:12Z</dcterms:created>
  <dcterms:modified xsi:type="dcterms:W3CDTF">2025-09-24T14:39:36Z</dcterms:modified>
</cp:coreProperties>
</file>