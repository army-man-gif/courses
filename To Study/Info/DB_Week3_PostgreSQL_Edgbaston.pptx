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48"/>
  </p:notesMasterIdLst>
  <p:sldIdLst>
    <p:sldId id="256" r:id="rId2"/>
    <p:sldId id="308" r:id="rId3"/>
    <p:sldId id="341" r:id="rId4"/>
    <p:sldId id="342" r:id="rId5"/>
    <p:sldId id="1329" r:id="rId6"/>
    <p:sldId id="1352" r:id="rId7"/>
    <p:sldId id="1353" r:id="rId8"/>
    <p:sldId id="1339" r:id="rId9"/>
    <p:sldId id="1354" r:id="rId10"/>
    <p:sldId id="1342" r:id="rId11"/>
    <p:sldId id="1358" r:id="rId12"/>
    <p:sldId id="1344" r:id="rId13"/>
    <p:sldId id="1343" r:id="rId14"/>
    <p:sldId id="1359" r:id="rId15"/>
    <p:sldId id="1333" r:id="rId16"/>
    <p:sldId id="1330" r:id="rId17"/>
    <p:sldId id="1334" r:id="rId18"/>
    <p:sldId id="1335" r:id="rId19"/>
    <p:sldId id="1336" r:id="rId20"/>
    <p:sldId id="1360" r:id="rId21"/>
    <p:sldId id="1361" r:id="rId22"/>
    <p:sldId id="1345" r:id="rId23"/>
    <p:sldId id="1346" r:id="rId24"/>
    <p:sldId id="1337" r:id="rId25"/>
    <p:sldId id="1355" r:id="rId26"/>
    <p:sldId id="1338" r:id="rId27"/>
    <p:sldId id="1362" r:id="rId28"/>
    <p:sldId id="1363" r:id="rId29"/>
    <p:sldId id="1347" r:id="rId30"/>
    <p:sldId id="1364" r:id="rId31"/>
    <p:sldId id="1365" r:id="rId32"/>
    <p:sldId id="1366" r:id="rId33"/>
    <p:sldId id="1348" r:id="rId34"/>
    <p:sldId id="1367" r:id="rId35"/>
    <p:sldId id="1368" r:id="rId36"/>
    <p:sldId id="1369" r:id="rId37"/>
    <p:sldId id="1370" r:id="rId38"/>
    <p:sldId id="1356" r:id="rId39"/>
    <p:sldId id="1371" r:id="rId40"/>
    <p:sldId id="1372" r:id="rId41"/>
    <p:sldId id="1373" r:id="rId42"/>
    <p:sldId id="1350" r:id="rId43"/>
    <p:sldId id="1351" r:id="rId44"/>
    <p:sldId id="1376" r:id="rId45"/>
    <p:sldId id="1374" r:id="rId46"/>
    <p:sldId id="1375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703"/>
  </p:normalViewPr>
  <p:slideViewPr>
    <p:cSldViewPr snapToGrid="0">
      <p:cViewPr varScale="1">
        <p:scale>
          <a:sx n="126" d="100"/>
          <a:sy n="126" d="100"/>
        </p:scale>
        <p:origin x="232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4" Type="http://schemas.openxmlformats.org/officeDocument/2006/relationships/image" Target="../media/image28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4" Type="http://schemas.openxmlformats.org/officeDocument/2006/relationships/image" Target="../media/image2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59C5277-058F-40C9-B56C-41FE9209A7B2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8326F9B-6185-45C1-ADEB-412A3C4BCD61}">
      <dgm:prSet/>
      <dgm:spPr/>
      <dgm:t>
        <a:bodyPr/>
        <a:lstStyle/>
        <a:p>
          <a:r>
            <a:rPr lang="en-US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rPr>
            <a:t>Warning: </a:t>
          </a:r>
        </a:p>
      </dgm:t>
    </dgm:pt>
    <dgm:pt modelId="{E5E4E64E-3CA9-422F-9222-81436B211535}" type="parTrans" cxnId="{F0474531-D9C1-4F04-8299-269D6386E3E1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3FBD09A-2B75-4AAF-BE1A-19173CA22D5D}" type="sibTrans" cxnId="{F0474531-D9C1-4F04-8299-269D6386E3E1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D4A3B45-62B4-4CEB-99D0-FECC41146AC4}">
      <dgm:prSet/>
      <dgm:spPr/>
      <dgm:t>
        <a:bodyPr/>
        <a:lstStyle/>
        <a:p>
          <a:r>
            <a:rPr lang="en-GB" dirty="0">
              <a:latin typeface="Arial" panose="020B0604020202020204" pitchFamily="34" charset="0"/>
              <a:cs typeface="Arial" panose="020B0604020202020204" pitchFamily="34" charset="0"/>
            </a:rPr>
            <a:t>When installing PostgreSQL a </a:t>
          </a:r>
          <a:r>
            <a:rPr lang="en-GB" i="1" dirty="0">
              <a:latin typeface="Arial" panose="020B0604020202020204" pitchFamily="34" charset="0"/>
              <a:cs typeface="Arial" panose="020B0604020202020204" pitchFamily="34" charset="0"/>
            </a:rPr>
            <a:t>Superuser </a:t>
          </a:r>
          <a:r>
            <a:rPr lang="en-GB" dirty="0">
              <a:latin typeface="Arial" panose="020B0604020202020204" pitchFamily="34" charset="0"/>
              <a:cs typeface="Arial" panose="020B0604020202020204" pitchFamily="34" charset="0"/>
            </a:rPr>
            <a:t>account should have been  created. This account has full access to all the server features,  which can be a security risk. For this reason we  are going to setup  a user that we can use for a specific Database.</a:t>
          </a:r>
          <a:endParaRPr lang="en-US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48332D0-0085-485E-B147-F28E17E6D5EA}" type="parTrans" cxnId="{9F184C40-0C71-4572-A64C-F5FAFA33B4DF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AF43D2A-D180-44CF-8225-C0F3AE2CD3DF}" type="sibTrans" cxnId="{9F184C40-0C71-4572-A64C-F5FAFA33B4DF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AC9454F-1A92-644D-B488-0F4E7EAFDAB0}" type="pres">
      <dgm:prSet presAssocID="{659C5277-058F-40C9-B56C-41FE9209A7B2}" presName="vert0" presStyleCnt="0">
        <dgm:presLayoutVars>
          <dgm:dir/>
          <dgm:animOne val="branch"/>
          <dgm:animLvl val="lvl"/>
        </dgm:presLayoutVars>
      </dgm:prSet>
      <dgm:spPr/>
    </dgm:pt>
    <dgm:pt modelId="{B3F33661-378F-E842-BD01-B47FDC892DC8}" type="pres">
      <dgm:prSet presAssocID="{08326F9B-6185-45C1-ADEB-412A3C4BCD61}" presName="thickLine" presStyleLbl="alignNode1" presStyleIdx="0" presStyleCnt="2"/>
      <dgm:spPr/>
    </dgm:pt>
    <dgm:pt modelId="{673CE21B-E73F-9D43-81C8-C35B45DEDECF}" type="pres">
      <dgm:prSet presAssocID="{08326F9B-6185-45C1-ADEB-412A3C4BCD61}" presName="horz1" presStyleCnt="0"/>
      <dgm:spPr/>
    </dgm:pt>
    <dgm:pt modelId="{815E8855-404F-E44E-B578-634A1B60B5B8}" type="pres">
      <dgm:prSet presAssocID="{08326F9B-6185-45C1-ADEB-412A3C4BCD61}" presName="tx1" presStyleLbl="revTx" presStyleIdx="0" presStyleCnt="2"/>
      <dgm:spPr/>
    </dgm:pt>
    <dgm:pt modelId="{DDC52115-50FF-BD45-B484-FF44673B09CE}" type="pres">
      <dgm:prSet presAssocID="{08326F9B-6185-45C1-ADEB-412A3C4BCD61}" presName="vert1" presStyleCnt="0"/>
      <dgm:spPr/>
    </dgm:pt>
    <dgm:pt modelId="{7613C67B-7FAB-F84A-B560-A871C5A04ACA}" type="pres">
      <dgm:prSet presAssocID="{3D4A3B45-62B4-4CEB-99D0-FECC41146AC4}" presName="thickLine" presStyleLbl="alignNode1" presStyleIdx="1" presStyleCnt="2"/>
      <dgm:spPr/>
    </dgm:pt>
    <dgm:pt modelId="{B0C6058B-202A-8B43-A06D-AB027718E3E8}" type="pres">
      <dgm:prSet presAssocID="{3D4A3B45-62B4-4CEB-99D0-FECC41146AC4}" presName="horz1" presStyleCnt="0"/>
      <dgm:spPr/>
    </dgm:pt>
    <dgm:pt modelId="{A48D673B-578D-5743-886D-3FE450C3438E}" type="pres">
      <dgm:prSet presAssocID="{3D4A3B45-62B4-4CEB-99D0-FECC41146AC4}" presName="tx1" presStyleLbl="revTx" presStyleIdx="1" presStyleCnt="2"/>
      <dgm:spPr/>
    </dgm:pt>
    <dgm:pt modelId="{5212967F-BE3B-F041-A7D7-17517B0CE97F}" type="pres">
      <dgm:prSet presAssocID="{3D4A3B45-62B4-4CEB-99D0-FECC41146AC4}" presName="vert1" presStyleCnt="0"/>
      <dgm:spPr/>
    </dgm:pt>
  </dgm:ptLst>
  <dgm:cxnLst>
    <dgm:cxn modelId="{F0474531-D9C1-4F04-8299-269D6386E3E1}" srcId="{659C5277-058F-40C9-B56C-41FE9209A7B2}" destId="{08326F9B-6185-45C1-ADEB-412A3C4BCD61}" srcOrd="0" destOrd="0" parTransId="{E5E4E64E-3CA9-422F-9222-81436B211535}" sibTransId="{C3FBD09A-2B75-4AAF-BE1A-19173CA22D5D}"/>
    <dgm:cxn modelId="{9F184C40-0C71-4572-A64C-F5FAFA33B4DF}" srcId="{659C5277-058F-40C9-B56C-41FE9209A7B2}" destId="{3D4A3B45-62B4-4CEB-99D0-FECC41146AC4}" srcOrd="1" destOrd="0" parTransId="{E48332D0-0085-485E-B147-F28E17E6D5EA}" sibTransId="{AAF43D2A-D180-44CF-8225-C0F3AE2CD3DF}"/>
    <dgm:cxn modelId="{B669315A-4D27-E245-A21F-DA62C569A2D3}" type="presOf" srcId="{659C5277-058F-40C9-B56C-41FE9209A7B2}" destId="{2AC9454F-1A92-644D-B488-0F4E7EAFDAB0}" srcOrd="0" destOrd="0" presId="urn:microsoft.com/office/officeart/2008/layout/LinedList"/>
    <dgm:cxn modelId="{26043B8E-5600-2C47-8458-2C10F85E415F}" type="presOf" srcId="{3D4A3B45-62B4-4CEB-99D0-FECC41146AC4}" destId="{A48D673B-578D-5743-886D-3FE450C3438E}" srcOrd="0" destOrd="0" presId="urn:microsoft.com/office/officeart/2008/layout/LinedList"/>
    <dgm:cxn modelId="{E77E748F-6414-064B-BE4E-2528E3075511}" type="presOf" srcId="{08326F9B-6185-45C1-ADEB-412A3C4BCD61}" destId="{815E8855-404F-E44E-B578-634A1B60B5B8}" srcOrd="0" destOrd="0" presId="urn:microsoft.com/office/officeart/2008/layout/LinedList"/>
    <dgm:cxn modelId="{CC3F9672-C940-A841-8EF1-C2051D53AFBE}" type="presParOf" srcId="{2AC9454F-1A92-644D-B488-0F4E7EAFDAB0}" destId="{B3F33661-378F-E842-BD01-B47FDC892DC8}" srcOrd="0" destOrd="0" presId="urn:microsoft.com/office/officeart/2008/layout/LinedList"/>
    <dgm:cxn modelId="{E27AEC5E-B98E-A241-A8C6-D0F5C4F2F66E}" type="presParOf" srcId="{2AC9454F-1A92-644D-B488-0F4E7EAFDAB0}" destId="{673CE21B-E73F-9D43-81C8-C35B45DEDECF}" srcOrd="1" destOrd="0" presId="urn:microsoft.com/office/officeart/2008/layout/LinedList"/>
    <dgm:cxn modelId="{CFC1A807-F939-5743-8AA8-EC65FE53A307}" type="presParOf" srcId="{673CE21B-E73F-9D43-81C8-C35B45DEDECF}" destId="{815E8855-404F-E44E-B578-634A1B60B5B8}" srcOrd="0" destOrd="0" presId="urn:microsoft.com/office/officeart/2008/layout/LinedList"/>
    <dgm:cxn modelId="{1FCA1D1B-1808-1849-ACA3-F62941F7BA12}" type="presParOf" srcId="{673CE21B-E73F-9D43-81C8-C35B45DEDECF}" destId="{DDC52115-50FF-BD45-B484-FF44673B09CE}" srcOrd="1" destOrd="0" presId="urn:microsoft.com/office/officeart/2008/layout/LinedList"/>
    <dgm:cxn modelId="{88F5A3FF-BD45-D94A-8F2D-CCBE4111A2D3}" type="presParOf" srcId="{2AC9454F-1A92-644D-B488-0F4E7EAFDAB0}" destId="{7613C67B-7FAB-F84A-B560-A871C5A04ACA}" srcOrd="2" destOrd="0" presId="urn:microsoft.com/office/officeart/2008/layout/LinedList"/>
    <dgm:cxn modelId="{816B1E14-CC51-C44C-8EB8-07F577443054}" type="presParOf" srcId="{2AC9454F-1A92-644D-B488-0F4E7EAFDAB0}" destId="{B0C6058B-202A-8B43-A06D-AB027718E3E8}" srcOrd="3" destOrd="0" presId="urn:microsoft.com/office/officeart/2008/layout/LinedList"/>
    <dgm:cxn modelId="{DC81909C-EE94-9C44-8E6C-ED1C7443AAD7}" type="presParOf" srcId="{B0C6058B-202A-8B43-A06D-AB027718E3E8}" destId="{A48D673B-578D-5743-886D-3FE450C3438E}" srcOrd="0" destOrd="0" presId="urn:microsoft.com/office/officeart/2008/layout/LinedList"/>
    <dgm:cxn modelId="{3F2D3160-2447-1E45-BF7E-3CAADDB5C934}" type="presParOf" srcId="{B0C6058B-202A-8B43-A06D-AB027718E3E8}" destId="{5212967F-BE3B-F041-A7D7-17517B0CE97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120568D-4364-410C-8730-09143930BAFC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49A7F3D1-5523-4074-922B-BF389A96C2CF}">
      <dgm:prSet/>
      <dgm:spPr/>
      <dgm:t>
        <a:bodyPr/>
        <a:lstStyle/>
        <a:p>
          <a:r>
            <a:rPr lang="en-US" b="0"/>
            <a:t>Warning</a:t>
          </a:r>
          <a:endParaRPr lang="en-US"/>
        </a:p>
      </dgm:t>
    </dgm:pt>
    <dgm:pt modelId="{A2D27C04-AC9D-4B63-9AA7-15F707206AF3}" type="parTrans" cxnId="{7DDF55F4-BB12-41CE-97AA-A1073E3A5CF2}">
      <dgm:prSet/>
      <dgm:spPr/>
      <dgm:t>
        <a:bodyPr/>
        <a:lstStyle/>
        <a:p>
          <a:endParaRPr lang="en-US"/>
        </a:p>
      </dgm:t>
    </dgm:pt>
    <dgm:pt modelId="{1F0DC745-E270-4DA0-B8C0-7BFDBC9C8C83}" type="sibTrans" cxnId="{7DDF55F4-BB12-41CE-97AA-A1073E3A5CF2}">
      <dgm:prSet/>
      <dgm:spPr/>
      <dgm:t>
        <a:bodyPr/>
        <a:lstStyle/>
        <a:p>
          <a:endParaRPr lang="en-US"/>
        </a:p>
      </dgm:t>
    </dgm:pt>
    <dgm:pt modelId="{F41FFE4F-938C-4CF3-B86C-CC025374FDF9}">
      <dgm:prSet/>
      <dgm:spPr/>
      <dgm:t>
        <a:bodyPr/>
        <a:lstStyle/>
        <a:p>
          <a:r>
            <a:rPr lang="en-GB" b="0"/>
            <a:t>Please note that you need to specify a WHERE clause when  deleting or else the DELETE command will delete all the rows in a  table.</a:t>
          </a:r>
          <a:endParaRPr lang="en-US"/>
        </a:p>
      </dgm:t>
    </dgm:pt>
    <dgm:pt modelId="{B1384A13-6952-47A1-B8A0-6924EC46359E}" type="parTrans" cxnId="{386B9B61-1190-4995-88D1-432B06E73959}">
      <dgm:prSet/>
      <dgm:spPr/>
      <dgm:t>
        <a:bodyPr/>
        <a:lstStyle/>
        <a:p>
          <a:endParaRPr lang="en-US"/>
        </a:p>
      </dgm:t>
    </dgm:pt>
    <dgm:pt modelId="{80AEE805-77A4-4BDA-B44B-7B80246B6A34}" type="sibTrans" cxnId="{386B9B61-1190-4995-88D1-432B06E73959}">
      <dgm:prSet/>
      <dgm:spPr/>
      <dgm:t>
        <a:bodyPr/>
        <a:lstStyle/>
        <a:p>
          <a:endParaRPr lang="en-US"/>
        </a:p>
      </dgm:t>
    </dgm:pt>
    <dgm:pt modelId="{A8A2B145-0140-48A4-A17A-CA8ADF931C29}" type="pres">
      <dgm:prSet presAssocID="{3120568D-4364-410C-8730-09143930BAFC}" presName="root" presStyleCnt="0">
        <dgm:presLayoutVars>
          <dgm:dir/>
          <dgm:resizeHandles val="exact"/>
        </dgm:presLayoutVars>
      </dgm:prSet>
      <dgm:spPr/>
    </dgm:pt>
    <dgm:pt modelId="{811FC00C-7D0B-4AE3-B72A-304135CF14DF}" type="pres">
      <dgm:prSet presAssocID="{49A7F3D1-5523-4074-922B-BF389A96C2CF}" presName="compNode" presStyleCnt="0"/>
      <dgm:spPr/>
    </dgm:pt>
    <dgm:pt modelId="{E8995629-5AE5-4758-A0AA-44393ED8EC7D}" type="pres">
      <dgm:prSet presAssocID="{49A7F3D1-5523-4074-922B-BF389A96C2CF}" presName="bgRect" presStyleLbl="bgShp" presStyleIdx="0" presStyleCnt="2"/>
      <dgm:spPr/>
    </dgm:pt>
    <dgm:pt modelId="{4C86F6A9-7FB5-4262-B88B-7BD15AAEB251}" type="pres">
      <dgm:prSet presAssocID="{49A7F3D1-5523-4074-922B-BF389A96C2CF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E0EC1B4B-5A14-4FFA-9661-E1623A78C0CA}" type="pres">
      <dgm:prSet presAssocID="{49A7F3D1-5523-4074-922B-BF389A96C2CF}" presName="spaceRect" presStyleCnt="0"/>
      <dgm:spPr/>
    </dgm:pt>
    <dgm:pt modelId="{078DED01-2446-4F54-915E-E44ECB2D9CAD}" type="pres">
      <dgm:prSet presAssocID="{49A7F3D1-5523-4074-922B-BF389A96C2CF}" presName="parTx" presStyleLbl="revTx" presStyleIdx="0" presStyleCnt="2">
        <dgm:presLayoutVars>
          <dgm:chMax val="0"/>
          <dgm:chPref val="0"/>
        </dgm:presLayoutVars>
      </dgm:prSet>
      <dgm:spPr/>
    </dgm:pt>
    <dgm:pt modelId="{A75E5FDC-7180-401D-8345-E1890E5D3EC4}" type="pres">
      <dgm:prSet presAssocID="{1F0DC745-E270-4DA0-B8C0-7BFDBC9C8C83}" presName="sibTrans" presStyleCnt="0"/>
      <dgm:spPr/>
    </dgm:pt>
    <dgm:pt modelId="{1B7F9D73-5FD8-40AE-84F0-6D3DF728DD8E}" type="pres">
      <dgm:prSet presAssocID="{F41FFE4F-938C-4CF3-B86C-CC025374FDF9}" presName="compNode" presStyleCnt="0"/>
      <dgm:spPr/>
    </dgm:pt>
    <dgm:pt modelId="{8682F66A-9017-49F5-8662-9BF5ED2D1191}" type="pres">
      <dgm:prSet presAssocID="{F41FFE4F-938C-4CF3-B86C-CC025374FDF9}" presName="bgRect" presStyleLbl="bgShp" presStyleIdx="1" presStyleCnt="2"/>
      <dgm:spPr/>
    </dgm:pt>
    <dgm:pt modelId="{9A0BC6FD-D915-4AD6-9DFA-36C5A8976C2F}" type="pres">
      <dgm:prSet presAssocID="{F41FFE4F-938C-4CF3-B86C-CC025374FDF9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16211A81-ECFE-4301-BF5A-FCCEBD073DC0}" type="pres">
      <dgm:prSet presAssocID="{F41FFE4F-938C-4CF3-B86C-CC025374FDF9}" presName="spaceRect" presStyleCnt="0"/>
      <dgm:spPr/>
    </dgm:pt>
    <dgm:pt modelId="{64588244-8BF2-4C0A-A3D1-A0B0459D4318}" type="pres">
      <dgm:prSet presAssocID="{F41FFE4F-938C-4CF3-B86C-CC025374FDF9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6204982C-C990-45FA-ABDA-0B28CDDCA990}" type="presOf" srcId="{49A7F3D1-5523-4074-922B-BF389A96C2CF}" destId="{078DED01-2446-4F54-915E-E44ECB2D9CAD}" srcOrd="0" destOrd="0" presId="urn:microsoft.com/office/officeart/2018/2/layout/IconVerticalSolidList"/>
    <dgm:cxn modelId="{C3CB692D-5EF4-484E-935B-EA51A8512C4E}" type="presOf" srcId="{3120568D-4364-410C-8730-09143930BAFC}" destId="{A8A2B145-0140-48A4-A17A-CA8ADF931C29}" srcOrd="0" destOrd="0" presId="urn:microsoft.com/office/officeart/2018/2/layout/IconVerticalSolidList"/>
    <dgm:cxn modelId="{386B9B61-1190-4995-88D1-432B06E73959}" srcId="{3120568D-4364-410C-8730-09143930BAFC}" destId="{F41FFE4F-938C-4CF3-B86C-CC025374FDF9}" srcOrd="1" destOrd="0" parTransId="{B1384A13-6952-47A1-B8A0-6924EC46359E}" sibTransId="{80AEE805-77A4-4BDA-B44B-7B80246B6A34}"/>
    <dgm:cxn modelId="{9B9EA174-7537-4809-83AC-423B3A28AB7A}" type="presOf" srcId="{F41FFE4F-938C-4CF3-B86C-CC025374FDF9}" destId="{64588244-8BF2-4C0A-A3D1-A0B0459D4318}" srcOrd="0" destOrd="0" presId="urn:microsoft.com/office/officeart/2018/2/layout/IconVerticalSolidList"/>
    <dgm:cxn modelId="{7DDF55F4-BB12-41CE-97AA-A1073E3A5CF2}" srcId="{3120568D-4364-410C-8730-09143930BAFC}" destId="{49A7F3D1-5523-4074-922B-BF389A96C2CF}" srcOrd="0" destOrd="0" parTransId="{A2D27C04-AC9D-4B63-9AA7-15F707206AF3}" sibTransId="{1F0DC745-E270-4DA0-B8C0-7BFDBC9C8C83}"/>
    <dgm:cxn modelId="{74935DFF-D6BE-43DC-87C0-FD00C866D09E}" type="presParOf" srcId="{A8A2B145-0140-48A4-A17A-CA8ADF931C29}" destId="{811FC00C-7D0B-4AE3-B72A-304135CF14DF}" srcOrd="0" destOrd="0" presId="urn:microsoft.com/office/officeart/2018/2/layout/IconVerticalSolidList"/>
    <dgm:cxn modelId="{1E9AEDAD-B5E7-4D28-94CC-D042B38AEEE9}" type="presParOf" srcId="{811FC00C-7D0B-4AE3-B72A-304135CF14DF}" destId="{E8995629-5AE5-4758-A0AA-44393ED8EC7D}" srcOrd="0" destOrd="0" presId="urn:microsoft.com/office/officeart/2018/2/layout/IconVerticalSolidList"/>
    <dgm:cxn modelId="{C85E4A20-DA2E-4430-85FC-D8EEB7E1EE02}" type="presParOf" srcId="{811FC00C-7D0B-4AE3-B72A-304135CF14DF}" destId="{4C86F6A9-7FB5-4262-B88B-7BD15AAEB251}" srcOrd="1" destOrd="0" presId="urn:microsoft.com/office/officeart/2018/2/layout/IconVerticalSolidList"/>
    <dgm:cxn modelId="{FDC350C9-8441-4255-85AB-AEECC6EEFC34}" type="presParOf" srcId="{811FC00C-7D0B-4AE3-B72A-304135CF14DF}" destId="{E0EC1B4B-5A14-4FFA-9661-E1623A78C0CA}" srcOrd="2" destOrd="0" presId="urn:microsoft.com/office/officeart/2018/2/layout/IconVerticalSolidList"/>
    <dgm:cxn modelId="{2E42EF97-973C-45F8-A46E-B8776E6DFBF5}" type="presParOf" srcId="{811FC00C-7D0B-4AE3-B72A-304135CF14DF}" destId="{078DED01-2446-4F54-915E-E44ECB2D9CAD}" srcOrd="3" destOrd="0" presId="urn:microsoft.com/office/officeart/2018/2/layout/IconVerticalSolidList"/>
    <dgm:cxn modelId="{6CBD6006-8DFE-489F-AEEF-228B35EC3B71}" type="presParOf" srcId="{A8A2B145-0140-48A4-A17A-CA8ADF931C29}" destId="{A75E5FDC-7180-401D-8345-E1890E5D3EC4}" srcOrd="1" destOrd="0" presId="urn:microsoft.com/office/officeart/2018/2/layout/IconVerticalSolidList"/>
    <dgm:cxn modelId="{B6A254E5-B9E3-45FD-A222-F39D3AC4669F}" type="presParOf" srcId="{A8A2B145-0140-48A4-A17A-CA8ADF931C29}" destId="{1B7F9D73-5FD8-40AE-84F0-6D3DF728DD8E}" srcOrd="2" destOrd="0" presId="urn:microsoft.com/office/officeart/2018/2/layout/IconVerticalSolidList"/>
    <dgm:cxn modelId="{274B17DA-6DB6-4716-A2F8-26A704C18B88}" type="presParOf" srcId="{1B7F9D73-5FD8-40AE-84F0-6D3DF728DD8E}" destId="{8682F66A-9017-49F5-8662-9BF5ED2D1191}" srcOrd="0" destOrd="0" presId="urn:microsoft.com/office/officeart/2018/2/layout/IconVerticalSolidList"/>
    <dgm:cxn modelId="{17FD640C-3C47-4F80-A6CA-96298FD9F5FA}" type="presParOf" srcId="{1B7F9D73-5FD8-40AE-84F0-6D3DF728DD8E}" destId="{9A0BC6FD-D915-4AD6-9DFA-36C5A8976C2F}" srcOrd="1" destOrd="0" presId="urn:microsoft.com/office/officeart/2018/2/layout/IconVerticalSolidList"/>
    <dgm:cxn modelId="{E1246DDE-1C10-442A-8A9E-F4EB4CE595ED}" type="presParOf" srcId="{1B7F9D73-5FD8-40AE-84F0-6D3DF728DD8E}" destId="{16211A81-ECFE-4301-BF5A-FCCEBD073DC0}" srcOrd="2" destOrd="0" presId="urn:microsoft.com/office/officeart/2018/2/layout/IconVerticalSolidList"/>
    <dgm:cxn modelId="{FC094126-8499-46C7-9D14-D4FA73FE8008}" type="presParOf" srcId="{1B7F9D73-5FD8-40AE-84F0-6D3DF728DD8E}" destId="{64588244-8BF2-4C0A-A3D1-A0B0459D431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F33661-378F-E842-BD01-B47FDC892DC8}">
      <dsp:nvSpPr>
        <dsp:cNvPr id="0" name=""/>
        <dsp:cNvSpPr/>
      </dsp:nvSpPr>
      <dsp:spPr>
        <a:xfrm>
          <a:off x="0" y="0"/>
          <a:ext cx="1121968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5E8855-404F-E44E-B578-634A1B60B5B8}">
      <dsp:nvSpPr>
        <dsp:cNvPr id="0" name=""/>
        <dsp:cNvSpPr/>
      </dsp:nvSpPr>
      <dsp:spPr>
        <a:xfrm>
          <a:off x="0" y="0"/>
          <a:ext cx="11219688" cy="22441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rPr>
            <a:t>Warning: </a:t>
          </a:r>
        </a:p>
      </dsp:txBody>
      <dsp:txXfrm>
        <a:off x="0" y="0"/>
        <a:ext cx="11219688" cy="2244152"/>
      </dsp:txXfrm>
    </dsp:sp>
    <dsp:sp modelId="{7613C67B-7FAB-F84A-B560-A871C5A04ACA}">
      <dsp:nvSpPr>
        <dsp:cNvPr id="0" name=""/>
        <dsp:cNvSpPr/>
      </dsp:nvSpPr>
      <dsp:spPr>
        <a:xfrm>
          <a:off x="0" y="2244152"/>
          <a:ext cx="1121968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8D673B-578D-5743-886D-3FE450C3438E}">
      <dsp:nvSpPr>
        <dsp:cNvPr id="0" name=""/>
        <dsp:cNvSpPr/>
      </dsp:nvSpPr>
      <dsp:spPr>
        <a:xfrm>
          <a:off x="0" y="2244152"/>
          <a:ext cx="11219688" cy="22441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kern="1200" dirty="0">
              <a:latin typeface="Arial" panose="020B0604020202020204" pitchFamily="34" charset="0"/>
              <a:cs typeface="Arial" panose="020B0604020202020204" pitchFamily="34" charset="0"/>
            </a:rPr>
            <a:t>When installing PostgreSQL a </a:t>
          </a:r>
          <a:r>
            <a:rPr lang="en-GB" sz="3100" i="1" kern="1200" dirty="0">
              <a:latin typeface="Arial" panose="020B0604020202020204" pitchFamily="34" charset="0"/>
              <a:cs typeface="Arial" panose="020B0604020202020204" pitchFamily="34" charset="0"/>
            </a:rPr>
            <a:t>Superuser </a:t>
          </a:r>
          <a:r>
            <a:rPr lang="en-GB" sz="3100" kern="1200" dirty="0">
              <a:latin typeface="Arial" panose="020B0604020202020204" pitchFamily="34" charset="0"/>
              <a:cs typeface="Arial" panose="020B0604020202020204" pitchFamily="34" charset="0"/>
            </a:rPr>
            <a:t>account should have been  created. This account has full access to all the server features,  which can be a security risk. For this reason we  are going to setup  a user that we can use for a specific Database.</a:t>
          </a:r>
          <a:endParaRPr lang="en-US" sz="3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0" y="2244152"/>
        <a:ext cx="11219688" cy="224415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995629-5AE5-4758-A0AA-44393ED8EC7D}">
      <dsp:nvSpPr>
        <dsp:cNvPr id="0" name=""/>
        <dsp:cNvSpPr/>
      </dsp:nvSpPr>
      <dsp:spPr>
        <a:xfrm>
          <a:off x="0" y="729349"/>
          <a:ext cx="11219688" cy="134649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86F6A9-7FB5-4262-B88B-7BD15AAEB251}">
      <dsp:nvSpPr>
        <dsp:cNvPr id="0" name=""/>
        <dsp:cNvSpPr/>
      </dsp:nvSpPr>
      <dsp:spPr>
        <a:xfrm>
          <a:off x="407313" y="1032310"/>
          <a:ext cx="740570" cy="7405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8DED01-2446-4F54-915E-E44ECB2D9CAD}">
      <dsp:nvSpPr>
        <dsp:cNvPr id="0" name=""/>
        <dsp:cNvSpPr/>
      </dsp:nvSpPr>
      <dsp:spPr>
        <a:xfrm>
          <a:off x="1555197" y="729349"/>
          <a:ext cx="9664490" cy="13464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504" tIns="142504" rIns="142504" bIns="14250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kern="1200"/>
            <a:t>Warning</a:t>
          </a:r>
          <a:endParaRPr lang="en-US" sz="2500" kern="1200"/>
        </a:p>
      </dsp:txBody>
      <dsp:txXfrm>
        <a:off x="1555197" y="729349"/>
        <a:ext cx="9664490" cy="1346491"/>
      </dsp:txXfrm>
    </dsp:sp>
    <dsp:sp modelId="{8682F66A-9017-49F5-8662-9BF5ED2D1191}">
      <dsp:nvSpPr>
        <dsp:cNvPr id="0" name=""/>
        <dsp:cNvSpPr/>
      </dsp:nvSpPr>
      <dsp:spPr>
        <a:xfrm>
          <a:off x="0" y="2412463"/>
          <a:ext cx="11219688" cy="134649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0BC6FD-D915-4AD6-9DFA-36C5A8976C2F}">
      <dsp:nvSpPr>
        <dsp:cNvPr id="0" name=""/>
        <dsp:cNvSpPr/>
      </dsp:nvSpPr>
      <dsp:spPr>
        <a:xfrm>
          <a:off x="407313" y="2715424"/>
          <a:ext cx="740570" cy="7405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588244-8BF2-4C0A-A3D1-A0B0459D4318}">
      <dsp:nvSpPr>
        <dsp:cNvPr id="0" name=""/>
        <dsp:cNvSpPr/>
      </dsp:nvSpPr>
      <dsp:spPr>
        <a:xfrm>
          <a:off x="1555197" y="2412463"/>
          <a:ext cx="9664490" cy="13464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504" tIns="142504" rIns="142504" bIns="14250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b="0" kern="1200"/>
            <a:t>Please note that you need to specify a WHERE clause when  deleting or else the DELETE command will delete all the rows in a  table.</a:t>
          </a:r>
          <a:endParaRPr lang="en-US" sz="2500" kern="1200"/>
        </a:p>
      </dsp:txBody>
      <dsp:txXfrm>
        <a:off x="1555197" y="2412463"/>
        <a:ext cx="9664490" cy="13464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2099D-8646-1741-A5F5-10CBC53A1B8E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4BE18E-E24F-C84C-9779-30446BB90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111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D149E-358D-2440-BDD5-072440F2B74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8276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D149E-358D-2440-BDD5-072440F2B74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9338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D149E-358D-2440-BDD5-072440F2B74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4824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 only works in PostgreSQL 14 and below</a:t>
            </a:r>
          </a:p>
          <a:p>
            <a:pPr algn="l" rtl="0" fontAlgn="t" latinLnBrk="0"/>
            <a:r>
              <a:rPr lang="en-US" dirty="0"/>
              <a:t>GRANT CREATE ON SCHEMA public TO </a:t>
            </a:r>
            <a:r>
              <a:rPr lang="en-US" dirty="0" err="1"/>
              <a:t>testuser</a:t>
            </a:r>
            <a:r>
              <a:rPr lang="en-US" dirty="0"/>
              <a:t>;</a:t>
            </a:r>
          </a:p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7C02D1-9C94-4337-A516-C82DF59C604D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06593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 only works in PostgreSQL 14 and below</a:t>
            </a:r>
          </a:p>
          <a:p>
            <a:pPr algn="l" rtl="0" fontAlgn="t" latinLnBrk="0"/>
            <a:r>
              <a:rPr lang="en-US" dirty="0"/>
              <a:t>GRANT CREATE ON SCHEMA public TO </a:t>
            </a:r>
            <a:r>
              <a:rPr lang="en-US" dirty="0" err="1"/>
              <a:t>testuser</a:t>
            </a:r>
            <a:r>
              <a:rPr lang="en-US" dirty="0"/>
              <a:t>;</a:t>
            </a:r>
          </a:p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7C02D1-9C94-4337-A516-C82DF59C604D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45481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spc="-119" dirty="0">
                <a:solidFill>
                  <a:srgbClr val="3333B2"/>
                </a:solidFill>
                <a:latin typeface="Tahoma"/>
                <a:cs typeface="Tahoma"/>
              </a:rPr>
              <a:t>Schemas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D149E-358D-2440-BDD5-072440F2B74A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5163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spc="-89" dirty="0">
                <a:solidFill>
                  <a:srgbClr val="3333B2"/>
                </a:solidFill>
                <a:latin typeface="Tahoma"/>
                <a:cs typeface="Tahoma"/>
              </a:rPr>
              <a:t>Table</a:t>
            </a:r>
            <a:r>
              <a:rPr lang="en-GB" sz="1200" spc="-40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lang="en-GB" sz="1200" spc="-89" dirty="0">
                <a:solidFill>
                  <a:srgbClr val="3333B2"/>
                </a:solidFill>
                <a:latin typeface="Tahoma"/>
                <a:cs typeface="Tahoma"/>
              </a:rPr>
              <a:t>Columns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D149E-358D-2440-BDD5-072440F2B74A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5411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spc="-50" dirty="0">
                <a:solidFill>
                  <a:srgbClr val="3333B2"/>
                </a:solidFill>
                <a:latin typeface="Tahoma"/>
                <a:cs typeface="Tahoma"/>
              </a:rPr>
              <a:t>Setting</a:t>
            </a:r>
            <a:r>
              <a:rPr lang="en-GB" sz="1200" spc="30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lang="en-GB" sz="1200" spc="-119" dirty="0">
                <a:solidFill>
                  <a:srgbClr val="3333B2"/>
                </a:solidFill>
                <a:latin typeface="Tahoma"/>
                <a:cs typeface="Tahoma"/>
              </a:rPr>
              <a:t>up</a:t>
            </a:r>
            <a:r>
              <a:rPr lang="en-GB" sz="1200" spc="30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lang="en-GB" sz="1200" spc="-149" dirty="0">
                <a:solidFill>
                  <a:srgbClr val="3333B2"/>
                </a:solidFill>
                <a:latin typeface="Tahoma"/>
                <a:cs typeface="Tahoma"/>
              </a:rPr>
              <a:t>user</a:t>
            </a:r>
            <a:r>
              <a:rPr lang="en-GB" sz="1200" spc="30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lang="en-GB" sz="1200" spc="-109" dirty="0">
                <a:solidFill>
                  <a:srgbClr val="3333B2"/>
                </a:solidFill>
                <a:latin typeface="Tahoma"/>
                <a:cs typeface="Tahoma"/>
              </a:rPr>
              <a:t>permissions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D149E-358D-2440-BDD5-072440F2B74A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2845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spc="-20" dirty="0">
                <a:solidFill>
                  <a:srgbClr val="3333B2"/>
                </a:solidFill>
                <a:latin typeface="Tahoma"/>
                <a:cs typeface="Tahoma"/>
              </a:rPr>
              <a:t>Data</a:t>
            </a:r>
            <a:r>
              <a:rPr lang="en-GB" sz="1200" spc="-79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lang="en-GB" sz="1200" spc="-109" dirty="0">
                <a:solidFill>
                  <a:srgbClr val="3333B2"/>
                </a:solidFill>
                <a:latin typeface="Tahoma"/>
                <a:cs typeface="Tahoma"/>
              </a:rPr>
              <a:t>types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D149E-358D-2440-BDD5-072440F2B74A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2574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spc="-69" dirty="0">
                <a:solidFill>
                  <a:srgbClr val="3333B2"/>
                </a:solidFill>
                <a:latin typeface="Tahoma"/>
                <a:cs typeface="Tahoma"/>
              </a:rPr>
              <a:t>Defining</a:t>
            </a:r>
            <a:r>
              <a:rPr lang="en-GB" sz="1200" spc="-50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lang="en-GB" sz="1200" spc="-69" dirty="0">
                <a:solidFill>
                  <a:srgbClr val="3333B2"/>
                </a:solidFill>
                <a:latin typeface="Tahoma"/>
                <a:cs typeface="Tahoma"/>
              </a:rPr>
              <a:t>constraints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D149E-358D-2440-BDD5-072440F2B74A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9937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spc="40" dirty="0">
                <a:solidFill>
                  <a:srgbClr val="3333B2"/>
                </a:solidFill>
                <a:latin typeface="Tahoma"/>
                <a:cs typeface="Tahoma"/>
              </a:rPr>
              <a:t>INSERT</a:t>
            </a:r>
            <a:r>
              <a:rPr lang="en-GB" sz="1200" spc="20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lang="en-GB" sz="1200" spc="-40" dirty="0">
                <a:solidFill>
                  <a:srgbClr val="3333B2"/>
                </a:solidFill>
                <a:latin typeface="Tahoma"/>
                <a:cs typeface="Tahoma"/>
              </a:rPr>
              <a:t>into</a:t>
            </a:r>
            <a:r>
              <a:rPr lang="en-GB" sz="1200" spc="20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lang="en-GB" sz="1200" spc="-129" dirty="0">
                <a:solidFill>
                  <a:srgbClr val="3333B2"/>
                </a:solidFill>
                <a:latin typeface="Tahoma"/>
                <a:cs typeface="Tahoma"/>
              </a:rPr>
              <a:t>a</a:t>
            </a:r>
            <a:r>
              <a:rPr lang="en-GB" sz="1200" spc="30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lang="en-GB" sz="1200" spc="-79" dirty="0">
                <a:solidFill>
                  <a:srgbClr val="3333B2"/>
                </a:solidFill>
                <a:latin typeface="Tahoma"/>
                <a:cs typeface="Tahoma"/>
              </a:rPr>
              <a:t>table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D149E-358D-2440-BDD5-072440F2B74A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7508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spc="109" dirty="0">
                <a:solidFill>
                  <a:srgbClr val="3333B2"/>
                </a:solidFill>
                <a:latin typeface="Tahoma"/>
                <a:cs typeface="Tahoma"/>
              </a:rPr>
              <a:t>UPDATE</a:t>
            </a:r>
            <a:r>
              <a:rPr lang="en-GB" sz="1200" spc="20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lang="en-GB" sz="1200" spc="-89" dirty="0">
                <a:solidFill>
                  <a:srgbClr val="3333B2"/>
                </a:solidFill>
                <a:latin typeface="Tahoma"/>
                <a:cs typeface="Tahoma"/>
              </a:rPr>
              <a:t>existing</a:t>
            </a:r>
            <a:r>
              <a:rPr lang="en-GB" sz="1200" spc="20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lang="en-GB" sz="1200" spc="-79" dirty="0">
                <a:solidFill>
                  <a:srgbClr val="3333B2"/>
                </a:solidFill>
                <a:latin typeface="Tahoma"/>
                <a:cs typeface="Tahoma"/>
              </a:rPr>
              <a:t>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D149E-358D-2440-BDD5-072440F2B74A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943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spc="109" dirty="0">
                <a:solidFill>
                  <a:srgbClr val="3333B2"/>
                </a:solidFill>
                <a:latin typeface="Tahoma"/>
                <a:cs typeface="Tahoma"/>
              </a:rPr>
              <a:t>SELECT</a:t>
            </a:r>
            <a:r>
              <a:rPr lang="en-GB" sz="1200" spc="30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lang="en-GB" sz="1200" spc="-89" dirty="0">
                <a:solidFill>
                  <a:srgbClr val="3333B2"/>
                </a:solidFill>
                <a:latin typeface="Tahoma"/>
                <a:cs typeface="Tahoma"/>
              </a:rPr>
              <a:t>from</a:t>
            </a:r>
            <a:r>
              <a:rPr lang="en-GB" sz="1200" spc="30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lang="en-GB" sz="1200" spc="-129" dirty="0">
                <a:solidFill>
                  <a:srgbClr val="3333B2"/>
                </a:solidFill>
                <a:latin typeface="Tahoma"/>
                <a:cs typeface="Tahoma"/>
              </a:rPr>
              <a:t>a</a:t>
            </a:r>
            <a:r>
              <a:rPr lang="en-GB" sz="1200" spc="40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lang="en-GB" sz="1200" spc="-79" dirty="0">
                <a:solidFill>
                  <a:srgbClr val="3333B2"/>
                </a:solidFill>
                <a:latin typeface="Tahoma"/>
                <a:cs typeface="Tahoma"/>
              </a:rPr>
              <a:t>table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D149E-358D-2440-BDD5-072440F2B74A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8532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spc="129" dirty="0">
                <a:solidFill>
                  <a:srgbClr val="3333B2"/>
                </a:solidFill>
                <a:latin typeface="Tahoma"/>
                <a:cs typeface="Tahoma"/>
              </a:rPr>
              <a:t>DELETE</a:t>
            </a:r>
            <a:r>
              <a:rPr lang="en-GB" sz="1200" spc="30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lang="en-GB" sz="1200" spc="-89" dirty="0">
                <a:solidFill>
                  <a:srgbClr val="3333B2"/>
                </a:solidFill>
                <a:latin typeface="Tahoma"/>
                <a:cs typeface="Tahoma"/>
              </a:rPr>
              <a:t>from</a:t>
            </a:r>
            <a:r>
              <a:rPr lang="en-GB" sz="1200" spc="30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lang="en-GB" sz="1200" spc="-129" dirty="0">
                <a:solidFill>
                  <a:srgbClr val="3333B2"/>
                </a:solidFill>
                <a:latin typeface="Tahoma"/>
                <a:cs typeface="Tahoma"/>
              </a:rPr>
              <a:t>a</a:t>
            </a:r>
            <a:r>
              <a:rPr lang="en-GB" sz="1200" spc="30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lang="en-GB" sz="1200" spc="-79" dirty="0">
                <a:solidFill>
                  <a:srgbClr val="3333B2"/>
                </a:solidFill>
                <a:latin typeface="Tahoma"/>
                <a:cs typeface="Tahoma"/>
              </a:rPr>
              <a:t>table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D149E-358D-2440-BDD5-072440F2B74A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9207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C3939-BA15-04FB-8F0B-1E7377563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A73EE2-CD26-3BFA-F996-702CDBB387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E79CCE-66B1-59D6-F870-3DD09AC948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1E753E-9655-69D9-672B-F7A84A489C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D149E-358D-2440-BDD5-072440F2B74A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9903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. Title Placeholder">
            <a:extLst>
              <a:ext uri="{FF2B5EF4-FFF2-40B4-BE49-F238E27FC236}">
                <a16:creationId xmlns:a16="http://schemas.microsoft.com/office/drawing/2014/main" id="{8CC78C08-B324-DDE3-8FA4-2E0FECB9847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77841" y="1286677"/>
            <a:ext cx="9144000" cy="2387600"/>
          </a:xfrm>
          <a:prstGeom prst="rect">
            <a:avLst/>
          </a:prstGeom>
          <a:solidFill>
            <a:schemeClr val="bg1"/>
          </a:solidFill>
        </p:spPr>
        <p:txBody>
          <a:bodyPr anchor="b"/>
          <a:lstStyle>
            <a:lvl1pPr algn="l">
              <a:lnSpc>
                <a:spcPts val="5400"/>
              </a:lnSpc>
              <a:defRPr sz="6000">
                <a:solidFill>
                  <a:srgbClr val="1B1B1B"/>
                </a:solidFill>
              </a:defRPr>
            </a:lvl1pPr>
          </a:lstStyle>
          <a:p>
            <a:r>
              <a:rPr lang="en-GB"/>
              <a:t>Insert headline here. </a:t>
            </a:r>
            <a:br>
              <a:rPr lang="en-GB"/>
            </a:br>
            <a:r>
              <a:rPr lang="en-GB"/>
              <a:t>Should be between </a:t>
            </a:r>
            <a:br>
              <a:rPr lang="en-GB"/>
            </a:br>
            <a:r>
              <a:rPr lang="en-GB"/>
              <a:t>1-3 lines max. </a:t>
            </a:r>
            <a:endParaRPr lang="en-US"/>
          </a:p>
        </p:txBody>
      </p:sp>
      <p:sp>
        <p:nvSpPr>
          <p:cNvPr id="15" name="3. Subtitle Placeholder">
            <a:extLst>
              <a:ext uri="{FF2B5EF4-FFF2-40B4-BE49-F238E27FC236}">
                <a16:creationId xmlns:a16="http://schemas.microsoft.com/office/drawing/2014/main" id="{B933CDFE-7FC5-932E-CB7F-3B49EC1A0F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777841" y="3674277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rgbClr val="1B1B1B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Insert sub copy here.</a:t>
            </a:r>
            <a:endParaRPr lang="en-US"/>
          </a:p>
        </p:txBody>
      </p:sp>
      <p:pic>
        <p:nvPicPr>
          <p:cNvPr id="4" name="Picture 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F70169D-EE12-91DD-C274-7DD153D212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40" y="6195497"/>
            <a:ext cx="2635601" cy="47928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560F2C9-9372-B4EA-FD55-10766EB0EA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1141" y="5417276"/>
            <a:ext cx="5600700" cy="128920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64CE6E0-1991-7CC2-3228-E4A9872CC9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41" y="1270000"/>
            <a:ext cx="2667000" cy="4120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002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Title Slide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. Title Placeholder">
            <a:extLst>
              <a:ext uri="{FF2B5EF4-FFF2-40B4-BE49-F238E27FC236}">
                <a16:creationId xmlns:a16="http://schemas.microsoft.com/office/drawing/2014/main" id="{8CC78C08-B324-DDE3-8FA4-2E0FECB9847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159760" y="1274763"/>
            <a:ext cx="8361680" cy="2387600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5400"/>
              </a:lnSpc>
              <a:defRPr sz="60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GB" dirty="0"/>
              <a:t>Insert headline here. </a:t>
            </a:r>
            <a:br>
              <a:rPr lang="en-GB" dirty="0"/>
            </a:br>
            <a:r>
              <a:rPr lang="en-GB" dirty="0"/>
              <a:t>Should be between </a:t>
            </a:r>
            <a:br>
              <a:rPr lang="en-GB" dirty="0"/>
            </a:br>
            <a:r>
              <a:rPr lang="en-GB" dirty="0"/>
              <a:t>1-3 lines max. </a:t>
            </a:r>
            <a:endParaRPr lang="en-US" dirty="0"/>
          </a:p>
        </p:txBody>
      </p:sp>
      <p:sp>
        <p:nvSpPr>
          <p:cNvPr id="15" name="3. Subtitle Placeholder">
            <a:extLst>
              <a:ext uri="{FF2B5EF4-FFF2-40B4-BE49-F238E27FC236}">
                <a16:creationId xmlns:a16="http://schemas.microsoft.com/office/drawing/2014/main" id="{B933CDFE-7FC5-932E-CB7F-3B49EC1A0F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159758" y="3707702"/>
            <a:ext cx="8361681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rgbClr val="1B1B1B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Insert sub copy here.</a:t>
            </a:r>
            <a:endParaRPr lang="en-US" dirty="0"/>
          </a:p>
        </p:txBody>
      </p:sp>
      <p:pic>
        <p:nvPicPr>
          <p:cNvPr id="5" name="Picture 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004D5CD-1028-023E-1A5D-3C1E0FD4DE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" y="6075022"/>
            <a:ext cx="2635601" cy="4792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C9E5D75-EA66-17C6-8119-0F3593CC53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2320" y="5448555"/>
            <a:ext cx="6224270" cy="1344358"/>
          </a:xfrm>
          <a:prstGeom prst="rect">
            <a:avLst/>
          </a:prstGeom>
        </p:spPr>
      </p:pic>
      <p:pic>
        <p:nvPicPr>
          <p:cNvPr id="27" name="Picture 26" descr="A computer screen with code and cloud&#10;&#10;AI-generated content may be incorrect.">
            <a:extLst>
              <a:ext uri="{FF2B5EF4-FFF2-40B4-BE49-F238E27FC236}">
                <a16:creationId xmlns:a16="http://schemas.microsoft.com/office/drawing/2014/main" id="{74AD1BCB-FF0C-133F-7A37-56116C0DB0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653" y="1274763"/>
            <a:ext cx="2780348" cy="1853565"/>
          </a:xfrm>
          <a:prstGeom prst="rect">
            <a:avLst/>
          </a:prstGeom>
          <a:effectLst>
            <a:reflection stA="41000" endPos="65000" dist="1143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7051988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2. Title Placeholder">
            <a:extLst>
              <a:ext uri="{FF2B5EF4-FFF2-40B4-BE49-F238E27FC236}">
                <a16:creationId xmlns:a16="http://schemas.microsoft.com/office/drawing/2014/main" id="{6D2C9649-E817-6113-49C1-5EBD81E099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437430"/>
            <a:ext cx="10861040" cy="5773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GB" dirty="0"/>
              <a:t>Insert headline here.</a:t>
            </a:r>
            <a:endParaRPr lang="en-US" dirty="0"/>
          </a:p>
        </p:txBody>
      </p:sp>
      <p:sp>
        <p:nvSpPr>
          <p:cNvPr id="9" name="3. Content Placeholder">
            <a:extLst>
              <a:ext uri="{FF2B5EF4-FFF2-40B4-BE49-F238E27FC236}">
                <a16:creationId xmlns:a16="http://schemas.microsoft.com/office/drawing/2014/main" id="{B5A082DC-9190-CE12-A89B-DEAF24BD59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1353695"/>
            <a:ext cx="10861040" cy="448830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pic>
        <p:nvPicPr>
          <p:cNvPr id="3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831E387-C2E6-8183-4FD6-1B0A812582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59" y="6180925"/>
            <a:ext cx="2635601" cy="4792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D28549A-B9A2-E0C2-9A0C-BC543965E1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677" y="6101715"/>
            <a:ext cx="3514725" cy="69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7985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2. Title Placeholder">
            <a:extLst>
              <a:ext uri="{FF2B5EF4-FFF2-40B4-BE49-F238E27FC236}">
                <a16:creationId xmlns:a16="http://schemas.microsoft.com/office/drawing/2014/main" id="{8053EF19-8D24-481D-0BDA-F79A2035DF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0"/>
            <a:ext cx="992124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GB" dirty="0"/>
              <a:t>Insert headline here.</a:t>
            </a:r>
            <a:endParaRPr lang="en-US" dirty="0"/>
          </a:p>
        </p:txBody>
      </p:sp>
      <p:sp>
        <p:nvSpPr>
          <p:cNvPr id="17" name="3. Content Placeholder (1)">
            <a:extLst>
              <a:ext uri="{FF2B5EF4-FFF2-40B4-BE49-F238E27FC236}">
                <a16:creationId xmlns:a16="http://schemas.microsoft.com/office/drawing/2014/main" id="{11254375-EF80-738D-E998-C0B2F39CB8F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2920" y="1310641"/>
            <a:ext cx="5181600" cy="43789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solidFill>
                  <a:srgbClr val="1B1B1B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4. Content Placeholder (2)">
            <a:extLst>
              <a:ext uri="{FF2B5EF4-FFF2-40B4-BE49-F238E27FC236}">
                <a16:creationId xmlns:a16="http://schemas.microsoft.com/office/drawing/2014/main" id="{53C047A4-2E76-022B-2525-898053FDCC63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103620" y="1310641"/>
            <a:ext cx="5181600" cy="43789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solidFill>
                  <a:srgbClr val="1B1B1B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5" name="Picture 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9CECC89-37C6-DD92-BD75-F5B6FD637D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99" y="6180925"/>
            <a:ext cx="2635601" cy="47928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B09038A-B821-C355-53EC-71D38F1B09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5037" y="6072907"/>
            <a:ext cx="3514725" cy="69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6710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wo Content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2. Title Placeholder">
            <a:extLst>
              <a:ext uri="{FF2B5EF4-FFF2-40B4-BE49-F238E27FC236}">
                <a16:creationId xmlns:a16="http://schemas.microsoft.com/office/drawing/2014/main" id="{8053EF19-8D24-481D-0BDA-F79A2035DF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0"/>
            <a:ext cx="992124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GB" dirty="0"/>
              <a:t>Insert headline here.</a:t>
            </a:r>
            <a:endParaRPr lang="en-US" dirty="0"/>
          </a:p>
        </p:txBody>
      </p:sp>
      <p:sp>
        <p:nvSpPr>
          <p:cNvPr id="3" name="3. Content Placeholder (1)">
            <a:extLst>
              <a:ext uri="{FF2B5EF4-FFF2-40B4-BE49-F238E27FC236}">
                <a16:creationId xmlns:a16="http://schemas.microsoft.com/office/drawing/2014/main" id="{A162B99D-4A4D-B778-5FD2-9F4A22B0B3AA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968019" y="1636464"/>
            <a:ext cx="2520000" cy="252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solidFill>
                  <a:srgbClr val="1B1B1B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4. Text Box Placeholder (1)">
            <a:extLst>
              <a:ext uri="{FF2B5EF4-FFF2-40B4-BE49-F238E27FC236}">
                <a16:creationId xmlns:a16="http://schemas.microsoft.com/office/drawing/2014/main" id="{6D6CB8B4-9C8E-A2FA-558C-30A5D082700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67069" y="4351119"/>
            <a:ext cx="2520950" cy="101441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>
                <a:solidFill>
                  <a:srgbClr val="1B1B1B"/>
                </a:solidFill>
              </a:defRPr>
            </a:lvl1pPr>
          </a:lstStyle>
          <a:p>
            <a:r>
              <a:rPr lang="en-GB"/>
              <a:t>Insert sub copy here.</a:t>
            </a:r>
          </a:p>
        </p:txBody>
      </p:sp>
      <p:sp>
        <p:nvSpPr>
          <p:cNvPr id="4" name="5. Content Placeholder (2)">
            <a:extLst>
              <a:ext uri="{FF2B5EF4-FFF2-40B4-BE49-F238E27FC236}">
                <a16:creationId xmlns:a16="http://schemas.microsoft.com/office/drawing/2014/main" id="{A2B13861-080E-609A-01A7-5EDC25A0B0F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4836000" y="1637090"/>
            <a:ext cx="2520000" cy="252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solidFill>
                  <a:srgbClr val="1B1B1B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6. Text Box Placeholder (2)">
            <a:extLst>
              <a:ext uri="{FF2B5EF4-FFF2-40B4-BE49-F238E27FC236}">
                <a16:creationId xmlns:a16="http://schemas.microsoft.com/office/drawing/2014/main" id="{005774E2-5CA0-1157-5F43-7B5C9996EFC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35525" y="4351119"/>
            <a:ext cx="2520950" cy="101441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>
                <a:solidFill>
                  <a:srgbClr val="1B1B1B"/>
                </a:solidFill>
              </a:defRPr>
            </a:lvl1pPr>
          </a:lstStyle>
          <a:p>
            <a:r>
              <a:rPr lang="en-GB"/>
              <a:t>Insert sub copy here.</a:t>
            </a:r>
          </a:p>
        </p:txBody>
      </p:sp>
      <p:sp>
        <p:nvSpPr>
          <p:cNvPr id="9" name="7. Content Placeholder (3)">
            <a:extLst>
              <a:ext uri="{FF2B5EF4-FFF2-40B4-BE49-F238E27FC236}">
                <a16:creationId xmlns:a16="http://schemas.microsoft.com/office/drawing/2014/main" id="{5565E762-8883-AB43-D811-12B759024A9D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8714257" y="1637090"/>
            <a:ext cx="2520000" cy="252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solidFill>
                  <a:srgbClr val="1B1B1B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8. Text Box Placeholder (3)">
            <a:extLst>
              <a:ext uri="{FF2B5EF4-FFF2-40B4-BE49-F238E27FC236}">
                <a16:creationId xmlns:a16="http://schemas.microsoft.com/office/drawing/2014/main" id="{D584B818-73B8-22FE-5635-36F576CEABC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713782" y="4400389"/>
            <a:ext cx="2520475" cy="98107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1B1B1B"/>
                </a:solidFill>
              </a:defRPr>
            </a:lvl1pPr>
          </a:lstStyle>
          <a:p>
            <a:r>
              <a:rPr lang="en-GB"/>
              <a:t>Insert sub copy here.</a:t>
            </a:r>
          </a:p>
        </p:txBody>
      </p:sp>
      <p:pic>
        <p:nvPicPr>
          <p:cNvPr id="6" name="Picture 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393837B-1B16-F25B-143D-A10BAF58BA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399" y="5835379"/>
            <a:ext cx="2635601" cy="479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3346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Divider Slide - 1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. Title Placeholder">
            <a:extLst>
              <a:ext uri="{FF2B5EF4-FFF2-40B4-BE49-F238E27FC236}">
                <a16:creationId xmlns:a16="http://schemas.microsoft.com/office/drawing/2014/main" id="{4D8642A1-7E6D-B42F-7749-8DC80C6DEDA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400" y="754224"/>
            <a:ext cx="6520180" cy="97604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5400"/>
              </a:lnSpc>
              <a:defRPr sz="6000">
                <a:solidFill>
                  <a:srgbClr val="1B1B1B"/>
                </a:solidFill>
              </a:defRPr>
            </a:lvl1pPr>
          </a:lstStyle>
          <a:p>
            <a:r>
              <a:rPr lang="en-GB"/>
              <a:t>Insert headline here.</a:t>
            </a:r>
            <a:endParaRPr lang="en-US"/>
          </a:p>
        </p:txBody>
      </p:sp>
      <p:sp>
        <p:nvSpPr>
          <p:cNvPr id="4" name="2. Subtitle Placeholder">
            <a:extLst>
              <a:ext uri="{FF2B5EF4-FFF2-40B4-BE49-F238E27FC236}">
                <a16:creationId xmlns:a16="http://schemas.microsoft.com/office/drawing/2014/main" id="{798414E1-64D1-96D6-D06F-F94F3202CC5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400" y="2059593"/>
            <a:ext cx="6353996" cy="136940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rgbClr val="1B1B1B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Insert sub copy here.</a:t>
            </a:r>
            <a:endParaRPr lang="en-US"/>
          </a:p>
        </p:txBody>
      </p:sp>
      <p:sp>
        <p:nvSpPr>
          <p:cNvPr id="5" name="3. Picture Placeholder">
            <a:extLst>
              <a:ext uri="{FF2B5EF4-FFF2-40B4-BE49-F238E27FC236}">
                <a16:creationId xmlns:a16="http://schemas.microsoft.com/office/drawing/2014/main" id="{C4BE638E-576F-FF68-6661-2065A75207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852863"/>
            <a:ext cx="12192000" cy="3005137"/>
          </a:xfrm>
        </p:spPr>
        <p:txBody>
          <a:bodyPr/>
          <a:lstStyle>
            <a:lvl1pPr>
              <a:defRPr>
                <a:solidFill>
                  <a:srgbClr val="1B1B1B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pic>
        <p:nvPicPr>
          <p:cNvPr id="9" name="Picture 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66B7F87-1CCB-931C-DAFC-042D7E687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3478" y="622789"/>
            <a:ext cx="2635601" cy="479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454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Divider Slide - 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1. Title Placeholder">
            <a:extLst>
              <a:ext uri="{FF2B5EF4-FFF2-40B4-BE49-F238E27FC236}">
                <a16:creationId xmlns:a16="http://schemas.microsoft.com/office/drawing/2014/main" id="{DC759DBE-3BA0-9E84-5596-2AD69AA128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400" y="1603450"/>
            <a:ext cx="5377951" cy="1680537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5400"/>
              </a:lnSpc>
              <a:defRPr sz="6000">
                <a:solidFill>
                  <a:srgbClr val="1B1B1B"/>
                </a:solidFill>
              </a:defRPr>
            </a:lvl1pPr>
          </a:lstStyle>
          <a:p>
            <a:r>
              <a:rPr lang="en-GB"/>
              <a:t>Insert </a:t>
            </a:r>
            <a:br>
              <a:rPr lang="en-GB"/>
            </a:br>
            <a:r>
              <a:rPr lang="en-GB"/>
              <a:t>headline here.</a:t>
            </a:r>
            <a:endParaRPr lang="en-US"/>
          </a:p>
        </p:txBody>
      </p:sp>
      <p:sp>
        <p:nvSpPr>
          <p:cNvPr id="7" name="2. Subtitle Placeholder">
            <a:extLst>
              <a:ext uri="{FF2B5EF4-FFF2-40B4-BE49-F238E27FC236}">
                <a16:creationId xmlns:a16="http://schemas.microsoft.com/office/drawing/2014/main" id="{02A192BC-C9DB-F0AB-B1DE-03D15E5A873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400" y="3707702"/>
            <a:ext cx="5377951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rgbClr val="1B1B1B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Insert sub copy here.</a:t>
            </a:r>
            <a:endParaRPr lang="en-US"/>
          </a:p>
        </p:txBody>
      </p:sp>
      <p:sp>
        <p:nvSpPr>
          <p:cNvPr id="5" name="3. Picture Placeholder">
            <a:extLst>
              <a:ext uri="{FF2B5EF4-FFF2-40B4-BE49-F238E27FC236}">
                <a16:creationId xmlns:a16="http://schemas.microsoft.com/office/drawing/2014/main" id="{C4BE638E-576F-FF68-6661-2065A75207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07650" y="1"/>
            <a:ext cx="5784349" cy="6858000"/>
          </a:xfrm>
        </p:spPr>
        <p:txBody>
          <a:bodyPr/>
          <a:lstStyle>
            <a:lvl1pPr>
              <a:defRPr>
                <a:solidFill>
                  <a:srgbClr val="1B1B1B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26F1A4B-7C20-D3E8-BAAB-933BDC2603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399" y="5835379"/>
            <a:ext cx="2635601" cy="479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872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Divider Slide - 3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. Title Placeholder">
            <a:extLst>
              <a:ext uri="{FF2B5EF4-FFF2-40B4-BE49-F238E27FC236}">
                <a16:creationId xmlns:a16="http://schemas.microsoft.com/office/drawing/2014/main" id="{B7F235D6-4347-D7AC-BFE0-1EA4849BA5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07653" y="1603450"/>
            <a:ext cx="5377951" cy="1680537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5400"/>
              </a:lnSpc>
              <a:defRPr sz="6000">
                <a:solidFill>
                  <a:srgbClr val="1B1B1B"/>
                </a:solidFill>
              </a:defRPr>
            </a:lvl1pPr>
          </a:lstStyle>
          <a:p>
            <a:r>
              <a:rPr lang="en-GB"/>
              <a:t>Insert </a:t>
            </a:r>
            <a:br>
              <a:rPr lang="en-GB"/>
            </a:br>
            <a:r>
              <a:rPr lang="en-GB"/>
              <a:t>title here.</a:t>
            </a:r>
            <a:endParaRPr lang="en-US"/>
          </a:p>
        </p:txBody>
      </p:sp>
      <p:sp>
        <p:nvSpPr>
          <p:cNvPr id="8" name="2. Subtitle Placeholder">
            <a:extLst>
              <a:ext uri="{FF2B5EF4-FFF2-40B4-BE49-F238E27FC236}">
                <a16:creationId xmlns:a16="http://schemas.microsoft.com/office/drawing/2014/main" id="{F1BF5AB1-F146-83EF-D63E-DD9EA52569A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07653" y="3707702"/>
            <a:ext cx="5377951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rgbClr val="1B1B1B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Insert sub copy here.</a:t>
            </a:r>
            <a:endParaRPr lang="en-US"/>
          </a:p>
        </p:txBody>
      </p:sp>
      <p:sp>
        <p:nvSpPr>
          <p:cNvPr id="5" name="3. Picture Placeholder">
            <a:extLst>
              <a:ext uri="{FF2B5EF4-FFF2-40B4-BE49-F238E27FC236}">
                <a16:creationId xmlns:a16="http://schemas.microsoft.com/office/drawing/2014/main" id="{C4BE638E-576F-FF68-6661-2065A75207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5784349" cy="6858000"/>
          </a:xfrm>
        </p:spPr>
        <p:txBody>
          <a:bodyPr/>
          <a:lstStyle>
            <a:lvl1pPr>
              <a:defRPr>
                <a:solidFill>
                  <a:srgbClr val="1B1B1B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pic>
        <p:nvPicPr>
          <p:cNvPr id="6" name="Picture 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BF526FB-1163-BD4A-7E80-3940E63F4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7653" y="5835379"/>
            <a:ext cx="2635601" cy="479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895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37970-6E9B-CCBA-3086-7F55524EC2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75458D-7D1B-2FCB-0D06-5ECB7CA967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0321E-403A-E780-4B05-09DFB6C27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61CCC-6FF1-3549-9A42-DDFE380834F6}" type="datetime1">
              <a:rPr lang="en-GB" smtClean="0"/>
              <a:t>13/10/2025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413007-A3D0-047E-FB93-AFB580E56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89B379-D027-4E89-40E2-9FBF48E08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CE4CA-17A2-444D-B91B-7C9E63E5B0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375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0ACBE-FB22-AD4A-A802-4925B5A403F1}" type="datetime1">
              <a:rPr lang="en-GB" smtClean="0"/>
              <a:t>13/10/2025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800" y="6371167"/>
            <a:ext cx="2743200" cy="365125"/>
          </a:xfrm>
        </p:spPr>
        <p:txBody>
          <a:bodyPr/>
          <a:lstStyle>
            <a:lvl1pPr>
              <a:defRPr sz="2000">
                <a:solidFill>
                  <a:srgbClr val="00B0F0"/>
                </a:solidFill>
              </a:defRPr>
            </a:lvl1pPr>
          </a:lstStyle>
          <a:p>
            <a:fld id="{DFBCB640-E2E4-46AC-8607-2102058E596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1531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0BD39-3891-DC2A-64A8-C77B2D9D6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CEC3B9-E9F3-932E-46CC-7DD8DE081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5ADDC-2F3C-6040-A6CA-E226F5967FA7}" type="datetime1">
              <a:rPr lang="en-GB" smtClean="0"/>
              <a:t>13/10/2025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C9FFC5-7DEF-F17F-6457-118C93B71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5D9146-469D-606B-A7FB-C6043E50D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7E1C1-71D4-4A45-AA15-7F84C65D804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0441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4C08AA-2148-527A-BB20-1D271A404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437430"/>
            <a:ext cx="1051560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9797B6-4643-3710-FBDF-B4E98217FB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2920" y="1347469"/>
            <a:ext cx="10515600" cy="48294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481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rgbClr val="1B1B1B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rgbClr val="1B1B1B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rgbClr val="1B1B1B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rgbClr val="1B1B1B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rgbClr val="1B1B1B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rgbClr val="1B1B1B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postgresql.org/download/" TargetMode="Externa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my-account.cs.bham.ac.uk/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owasp.org/www-community/attacks/SQL_Injection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81F0E-7005-F5BE-B669-8495166CBD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/>
          <a:lstStyle/>
          <a:p>
            <a:r>
              <a:rPr lang="en-US" dirty="0"/>
              <a:t>Week 3: </a:t>
            </a:r>
            <a:r>
              <a:rPr lang="en-US" dirty="0">
                <a:solidFill>
                  <a:schemeClr val="dk1"/>
                </a:solidFill>
              </a:rPr>
              <a:t>Creating and populating databases; PostgreSQL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261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F1DAC-1C59-3A88-40DB-5C4CA5789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8" y="586464"/>
            <a:ext cx="2412003" cy="577340"/>
          </a:xfrm>
        </p:spPr>
        <p:txBody>
          <a:bodyPr/>
          <a:lstStyle/>
          <a:p>
            <a:r>
              <a:rPr lang="en-US" dirty="0"/>
              <a:t>This Week</a:t>
            </a:r>
            <a:endParaRPr lang="en-AE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C93AB09-709B-CF08-C474-C5431FA95A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7340345"/>
              </p:ext>
            </p:extLst>
          </p:nvPr>
        </p:nvGraphicFramePr>
        <p:xfrm>
          <a:off x="2602411" y="263671"/>
          <a:ext cx="9399181" cy="62374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411">
                  <a:extLst>
                    <a:ext uri="{9D8B030D-6E8A-4147-A177-3AD203B41FA5}">
                      <a16:colId xmlns:a16="http://schemas.microsoft.com/office/drawing/2014/main" val="3694587546"/>
                    </a:ext>
                  </a:extLst>
                </a:gridCol>
                <a:gridCol w="2320423">
                  <a:extLst>
                    <a:ext uri="{9D8B030D-6E8A-4147-A177-3AD203B41FA5}">
                      <a16:colId xmlns:a16="http://schemas.microsoft.com/office/drawing/2014/main" val="1946343675"/>
                    </a:ext>
                  </a:extLst>
                </a:gridCol>
                <a:gridCol w="1424821">
                  <a:extLst>
                    <a:ext uri="{9D8B030D-6E8A-4147-A177-3AD203B41FA5}">
                      <a16:colId xmlns:a16="http://schemas.microsoft.com/office/drawing/2014/main" val="2219019823"/>
                    </a:ext>
                  </a:extLst>
                </a:gridCol>
                <a:gridCol w="4941526">
                  <a:extLst>
                    <a:ext uri="{9D8B030D-6E8A-4147-A177-3AD203B41FA5}">
                      <a16:colId xmlns:a16="http://schemas.microsoft.com/office/drawing/2014/main" val="3697729728"/>
                    </a:ext>
                  </a:extLst>
                </a:gridCol>
              </a:tblGrid>
              <a:tr h="59283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Week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Lecture Dates (Edgbaston)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Lab Dates (Edgbaston)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Topic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2920893"/>
                  </a:ext>
                </a:extLst>
              </a:tr>
              <a:tr h="3687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1</a:t>
                      </a:r>
                    </a:p>
                  </a:txBody>
                  <a:tcPr anchor="ctr"/>
                </a:tc>
                <a:tc rowSpan="12"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Group 1 - Wednesdays (10:00-12:00) </a:t>
                      </a:r>
                    </a:p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Group 2 - Fridays</a:t>
                      </a:r>
                    </a:p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 (12:00-14:00)</a:t>
                      </a:r>
                    </a:p>
                  </a:txBody>
                  <a:tcPr anchor="ctr"/>
                </a:tc>
                <a:tc rowSpan="12"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Fridays </a:t>
                      </a:r>
                    </a:p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(14:00-17:00)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+mn-lt"/>
                        </a:rPr>
                        <a:t>Introduction to databases;  Database design guidelines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773942"/>
                  </a:ext>
                </a:extLst>
              </a:tr>
              <a:tr h="58355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2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+mn-lt"/>
                        </a:rPr>
                        <a:t>Database design, Entity relation (ER) modelling; Keys; </a:t>
                      </a:r>
                      <a:r>
                        <a:rPr lang="en-US" sz="1600" dirty="0" err="1">
                          <a:latin typeface="+mn-lt"/>
                        </a:rPr>
                        <a:t>Normalisation</a:t>
                      </a:r>
                      <a:r>
                        <a:rPr lang="en-US" sz="1600" dirty="0">
                          <a:latin typeface="+mn-lt"/>
                        </a:rPr>
                        <a:t>​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1455715"/>
                  </a:ext>
                </a:extLst>
              </a:tr>
              <a:tr h="116979">
                <a:tc rowSpan="2"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3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6289384"/>
                  </a:ext>
                </a:extLst>
              </a:tr>
              <a:tr h="581550">
                <a:tc vMerge="1"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3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Creating and populating databases; </a:t>
                      </a:r>
                      <a:r>
                        <a:rPr lang="en-US" sz="1600" b="0" i="0" u="none" strike="noStrike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PostgreSQL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2287852"/>
                  </a:ext>
                </a:extLst>
              </a:tr>
              <a:tr h="59283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4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+mn-lt"/>
                        </a:rPr>
                        <a:t>SQL Querying – Operators, Ordering, Aggregation; NoSQL and Graph Databases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6254541"/>
                  </a:ext>
                </a:extLst>
              </a:tr>
              <a:tr h="34322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5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7030A0"/>
                          </a:solidFill>
                          <a:highlight>
                            <a:srgbClr val="FFFF00"/>
                          </a:highlight>
                          <a:latin typeface="+mn-lt"/>
                        </a:rPr>
                        <a:t>Class 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0486376"/>
                  </a:ext>
                </a:extLst>
              </a:tr>
              <a:tr h="34322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6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+mn-lt"/>
                        </a:rPr>
                        <a:t>NoSQL and Graph Databases; Assessment support week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0216521"/>
                  </a:ext>
                </a:extLst>
              </a:tr>
              <a:tr h="59283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7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Web programming introduction; Tech stack, Template application</a:t>
                      </a:r>
                      <a:endParaRPr lang="en-US" sz="160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8008016"/>
                  </a:ext>
                </a:extLst>
              </a:tr>
              <a:tr h="59283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8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Web applications vs Static pages; Tech stack concepts; REST APIs; RESTFUL style</a:t>
                      </a:r>
                      <a:endParaRPr lang="en-US" sz="160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0997059"/>
                  </a:ext>
                </a:extLst>
              </a:tr>
              <a:tr h="59283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9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SpringBoot</a:t>
                      </a:r>
                      <a:r>
                        <a:rPr lang="en-GB" sz="16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application structure,; </a:t>
                      </a:r>
                      <a:r>
                        <a:rPr lang="en-GB" sz="16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SpringBoot</a:t>
                      </a:r>
                      <a:r>
                        <a:rPr lang="en-GB" sz="16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annotations, case study</a:t>
                      </a:r>
                      <a:endParaRPr lang="en-US" sz="160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8342401"/>
                  </a:ext>
                </a:extLst>
              </a:tr>
              <a:tr h="59283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10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+mn-lt"/>
                        </a:rPr>
                        <a:t>Front end concepts, TypeScript fundamentals, Angular front end development,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4303297"/>
                  </a:ext>
                </a:extLst>
              </a:tr>
              <a:tr h="34322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11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7030A0"/>
                          </a:solidFill>
                          <a:highlight>
                            <a:srgbClr val="FFFF00"/>
                          </a:highlight>
                          <a:latin typeface="+mn-lt"/>
                        </a:rPr>
                        <a:t>Class Test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8074625"/>
                  </a:ext>
                </a:extLst>
              </a:tr>
            </a:tbl>
          </a:graphicData>
        </a:graphic>
      </p:graphicFrame>
      <p:sp>
        <p:nvSpPr>
          <p:cNvPr id="8" name="Right Arrow 7">
            <a:extLst>
              <a:ext uri="{FF2B5EF4-FFF2-40B4-BE49-F238E27FC236}">
                <a16:creationId xmlns:a16="http://schemas.microsoft.com/office/drawing/2014/main" id="{BD582750-C143-115A-A7E9-5E4A0D85ED83}"/>
              </a:ext>
            </a:extLst>
          </p:cNvPr>
          <p:cNvSpPr/>
          <p:nvPr/>
        </p:nvSpPr>
        <p:spPr>
          <a:xfrm>
            <a:off x="572889" y="1926568"/>
            <a:ext cx="2185639" cy="46835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87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13B04-536B-51C0-FE4B-56FAC874A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48528-369F-D4CB-2C45-FBE9B534160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ER Diagram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0" dirty="0"/>
              <a:t>Organised data for easy access and management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b="0" dirty="0"/>
          </a:p>
          <a:p>
            <a:r>
              <a:rPr lang="en-GB" dirty="0"/>
              <a:t>Main Components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0" dirty="0"/>
              <a:t>Entities, Attributes, Relationships</a:t>
            </a:r>
          </a:p>
          <a:p>
            <a:endParaRPr lang="en-GB" b="0" dirty="0"/>
          </a:p>
          <a:p>
            <a:r>
              <a:rPr lang="en-GB" dirty="0"/>
              <a:t>ER Tools JDL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8580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3D43F-F400-2D36-2D87-A6A3ACCFC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Today’s Topic: PostgreSQL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53123-8B12-A080-19FF-5C5D4CA9E6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6072" y="1428750"/>
            <a:ext cx="11219688" cy="4294378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b="0" dirty="0"/>
              <a:t>Introduction PostgreSQL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b="0" dirty="0"/>
              <a:t>Installing PostgreSQL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dirty="0">
                <a:solidFill>
                  <a:srgbClr val="2D3B45"/>
                </a:solidFill>
              </a:rPr>
              <a:t>Creating a Database and Tables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dirty="0">
                <a:solidFill>
                  <a:srgbClr val="2D3B45"/>
                </a:solidFill>
              </a:rPr>
              <a:t>Basic SQL commands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dirty="0"/>
              <a:t>Summary</a:t>
            </a:r>
          </a:p>
          <a:p>
            <a:pPr>
              <a:lnSpc>
                <a:spcPct val="150000"/>
              </a:lnSpc>
            </a:pP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633903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484978" y="1512463"/>
            <a:ext cx="7190056" cy="3624837"/>
          </a:xfrm>
          <a:prstGeom prst="rect">
            <a:avLst/>
          </a:prstGeom>
        </p:spPr>
        <p:txBody>
          <a:bodyPr vert="horz" wrap="square" lIns="0" tIns="13842" rIns="0" bIns="0" rtlCol="0">
            <a:spAutoFit/>
          </a:bodyPr>
          <a:lstStyle/>
          <a:p>
            <a:pPr marL="25168" marR="10067" algn="just">
              <a:lnSpc>
                <a:spcPct val="102600"/>
              </a:lnSpc>
              <a:spcBef>
                <a:spcPts val="109"/>
              </a:spcBef>
            </a:pP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These lectures will be focused on PostgreSQL and, more  importantly, the </a:t>
            </a:r>
            <a:r>
              <a:rPr sz="2000" b="1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psql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command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line tool.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168" marR="10067" algn="just">
              <a:lnSpc>
                <a:spcPct val="102600"/>
              </a:lnSpc>
              <a:spcBef>
                <a:spcPts val="109"/>
              </a:spcBef>
            </a:pPr>
            <a:endParaRPr lang="en-AE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168" marR="10067" algn="just">
              <a:lnSpc>
                <a:spcPct val="102600"/>
              </a:lnSpc>
              <a:spcBef>
                <a:spcPts val="109"/>
              </a:spcBef>
            </a:pP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The skills are transferable  to other Database Management Systems as well as other front ends  to PostgreSQL. </a:t>
            </a:r>
            <a:endParaRPr lang="en-AE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168" marR="461825" algn="just">
              <a:lnSpc>
                <a:spcPct val="102600"/>
              </a:lnSpc>
              <a:spcBef>
                <a:spcPts val="1684"/>
              </a:spcBef>
            </a:pP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Note also that we will not be covering ALL possible commands  that exist in psql and SQL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(Structured Query Language)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168" marR="461825" algn="just">
              <a:lnSpc>
                <a:spcPct val="102600"/>
              </a:lnSpc>
              <a:spcBef>
                <a:spcPts val="1684"/>
              </a:spcBef>
            </a:pP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It is up to the student to explore additional commands as necessary.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14F2ACF8-3BE2-B6FF-8870-4B36E61F814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7C60A0-175D-3073-6C5E-3F6C878CA5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7680" y="861913"/>
            <a:ext cx="4362972" cy="1301100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E2CC9CAE-E199-2462-D3C7-D5D32DE21B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9587" y="2587496"/>
            <a:ext cx="2230967" cy="223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816BAC63-4BF7-004C-4C24-C78BAEF021A7}"/>
              </a:ext>
            </a:extLst>
          </p:cNvPr>
          <p:cNvSpPr txBox="1">
            <a:spLocks/>
          </p:cNvSpPr>
          <p:nvPr/>
        </p:nvSpPr>
        <p:spPr>
          <a:xfrm>
            <a:off x="576072" y="437430"/>
            <a:ext cx="11219688" cy="5773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GB" dirty="0"/>
              <a:t>Preliminaries</a:t>
            </a:r>
            <a:endParaRPr lang="en-AE" dirty="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2974E-716A-0AE4-BC33-2C941DA84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8EB2D-3072-166B-9FC1-5FB41AD8D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156" y="1367951"/>
            <a:ext cx="11219688" cy="4488305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0" dirty="0"/>
              <a:t>PostgreSQL is an advanced, free, and open-source relational database management system (DBMS).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b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0" dirty="0"/>
              <a:t>PostgreSQL supports both SQL (relational queries) and JSON (non-relational data) for flexible data management.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b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0" dirty="0"/>
              <a:t>It is known for being reliable, robust, and actively maintained for over 20 years by a large developer community.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b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0" dirty="0"/>
              <a:t>Commonly used for web applications, data analytics, and enterprise solutions</a:t>
            </a:r>
          </a:p>
          <a:p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4D3B6A-C933-278B-AC67-F3DC7FC6F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3177" y="365125"/>
            <a:ext cx="3593249" cy="1071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4328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EE120-C62C-5AD1-EAA0-49E80A349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00761-BDB1-E329-4FAD-FEE84B9AE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156" y="612234"/>
            <a:ext cx="11219688" cy="577340"/>
          </a:xfrm>
        </p:spPr>
        <p:txBody>
          <a:bodyPr/>
          <a:lstStyle/>
          <a:p>
            <a:r>
              <a:rPr lang="en-GB" dirty="0"/>
              <a:t>Core Features</a:t>
            </a:r>
            <a:br>
              <a:rPr lang="en-GB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08DD0-1A2E-8895-2904-5A837A7836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047" y="1436683"/>
            <a:ext cx="11219688" cy="4488305"/>
          </a:xfrm>
        </p:spPr>
        <p:txBody>
          <a:bodyPr>
            <a:normAutofit fontScale="925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0" dirty="0"/>
              <a:t>Highly Extensible: Supports custom data types, functions, and procedural languages.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b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0" dirty="0"/>
              <a:t>Strong Data Integrity: Implements constraints, transactions, and ACID compliance for secure, accurate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b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0" dirty="0"/>
              <a:t>Multi-platform Support: Runs on Windows, Linux, and macOS.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b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0" dirty="0"/>
              <a:t>Key Operations: Creating databases and tables, inserting and retrieving data, updating and deleting records.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b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0" dirty="0"/>
              <a:t>Widely adopted by organizations like Apple, Cisco, and Instagram.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95E688-8BDD-3116-2F69-27D75265F6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3177" y="365125"/>
            <a:ext cx="3593249" cy="1071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775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0EEF28A3-D5FA-B071-F5AD-B5E47714244F}"/>
              </a:ext>
            </a:extLst>
          </p:cNvPr>
          <p:cNvSpPr txBox="1"/>
          <p:nvPr/>
        </p:nvSpPr>
        <p:spPr>
          <a:xfrm>
            <a:off x="230372" y="1609746"/>
            <a:ext cx="11778216" cy="1332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000" algn="just">
              <a:lnSpc>
                <a:spcPct val="150000"/>
              </a:lnSpc>
            </a:pPr>
            <a:r>
              <a:rPr lang="en-US" sz="2000" b="1" dirty="0">
                <a:solidFill>
                  <a:srgbClr val="231F20"/>
                </a:solidFill>
                <a:effectLst/>
                <a:latin typeface="Arial" panose="020B0604020202020204" pitchFamily="34" charset="0"/>
                <a:ea typeface="Microsoft Sans Serif" panose="020B0604020202020204" pitchFamily="34" charset="0"/>
                <a:cs typeface="Arial" panose="020B0604020202020204" pitchFamily="34" charset="0"/>
              </a:rPr>
              <a:t>Personal Devices</a:t>
            </a:r>
            <a:endParaRPr lang="en-AE" sz="2000" dirty="0">
              <a:effectLst/>
              <a:latin typeface="Arial" panose="020B0604020202020204" pitchFamily="34" charset="0"/>
              <a:ea typeface="Microsoft Sans Serif" panose="020B0604020202020204" pitchFamily="34" charset="0"/>
              <a:cs typeface="Arial" panose="020B0604020202020204" pitchFamily="34" charset="0"/>
            </a:endParaRPr>
          </a:p>
          <a:p>
            <a:pPr marL="36000" algn="just">
              <a:lnSpc>
                <a:spcPct val="150000"/>
              </a:lnSpc>
            </a:pPr>
            <a:r>
              <a:rPr lang="en-GB" dirty="0">
                <a:solidFill>
                  <a:srgbClr val="231F20"/>
                </a:solidFill>
                <a:effectLst/>
                <a:latin typeface="Arial" panose="020B0604020202020204" pitchFamily="34" charset="0"/>
                <a:ea typeface="Microsoft Sans Serif" panose="020B0604020202020204" pitchFamily="34" charset="0"/>
                <a:cs typeface="Arial" panose="020B0604020202020204" pitchFamily="34" charset="0"/>
              </a:rPr>
              <a:t>install “</a:t>
            </a:r>
            <a:r>
              <a:rPr lang="en-GB" dirty="0">
                <a:solidFill>
                  <a:srgbClr val="2E74B5"/>
                </a:solidFill>
                <a:effectLst/>
                <a:latin typeface="Arial" panose="020B0604020202020204" pitchFamily="34" charset="0"/>
                <a:ea typeface="Microsoft Sans Serif" panose="020B0604020202020204" pitchFamily="34" charset="0"/>
                <a:cs typeface="Arial" panose="020B0604020202020204" pitchFamily="34" charset="0"/>
              </a:rPr>
              <a:t>PostgreSQL</a:t>
            </a:r>
            <a:r>
              <a:rPr lang="en-GB" dirty="0">
                <a:solidFill>
                  <a:srgbClr val="231F20"/>
                </a:solidFill>
                <a:effectLst/>
                <a:latin typeface="Arial" panose="020B0604020202020204" pitchFamily="34" charset="0"/>
                <a:ea typeface="Microsoft Sans Serif" panose="020B0604020202020204" pitchFamily="34" charset="0"/>
                <a:cs typeface="Arial" panose="020B0604020202020204" pitchFamily="34" charset="0"/>
              </a:rPr>
              <a:t>” by visiting the link.</a:t>
            </a:r>
          </a:p>
          <a:p>
            <a:pPr marL="36000" algn="just">
              <a:lnSpc>
                <a:spcPct val="150000"/>
              </a:lnSpc>
            </a:pPr>
            <a:r>
              <a:rPr lang="en-GB" dirty="0">
                <a:latin typeface="Arial" panose="020B0604020202020204" pitchFamily="34" charset="0"/>
                <a:ea typeface="Microsoft Sans Serif" panose="020B0604020202020204" pitchFamily="34" charset="0"/>
                <a:cs typeface="Arial" panose="020B0604020202020204" pitchFamily="34" charset="0"/>
                <a:hlinkClick r:id="rId2"/>
              </a:rPr>
              <a:t>https://www.postgresql.org/download/</a:t>
            </a:r>
            <a:r>
              <a:rPr lang="en-GB" dirty="0">
                <a:latin typeface="Arial" panose="020B0604020202020204" pitchFamily="34" charset="0"/>
                <a:ea typeface="Microsoft Sans Serif" panose="020B0604020202020204" pitchFamily="34" charset="0"/>
                <a:cs typeface="Arial" panose="020B0604020202020204" pitchFamily="34" charset="0"/>
              </a:rPr>
              <a:t> </a:t>
            </a:r>
            <a:endParaRPr lang="en-AE" dirty="0">
              <a:effectLst/>
              <a:latin typeface="Arial" panose="020B0604020202020204" pitchFamily="34" charset="0"/>
              <a:ea typeface="Microsoft Sans Serif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269" name="Picture 5">
            <a:extLst>
              <a:ext uri="{FF2B5EF4-FFF2-40B4-BE49-F238E27FC236}">
                <a16:creationId xmlns:a16="http://schemas.microsoft.com/office/drawing/2014/main" id="{D60861C7-31E3-52B4-5150-D5C68D5080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7052" y="3915774"/>
            <a:ext cx="3749456" cy="2222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E4D33BD-B814-3669-04E8-F2CA885EF855}"/>
              </a:ext>
            </a:extLst>
          </p:cNvPr>
          <p:cNvSpPr txBox="1"/>
          <p:nvPr/>
        </p:nvSpPr>
        <p:spPr>
          <a:xfrm>
            <a:off x="953953" y="3351430"/>
            <a:ext cx="3749456" cy="462819"/>
          </a:xfrm>
          <a:prstGeom prst="wedgeRectCallout">
            <a:avLst>
              <a:gd name="adj1" fmla="val -32315"/>
              <a:gd name="adj2" fmla="val -116693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180000" algn="just">
              <a:lnSpc>
                <a:spcPct val="150000"/>
              </a:lnSpc>
              <a:spcAft>
                <a:spcPts val="800"/>
              </a:spcAft>
            </a:pPr>
            <a:r>
              <a:rPr lang="en-GB" dirty="0">
                <a:solidFill>
                  <a:srgbClr val="231F20"/>
                </a:solidFill>
                <a:latin typeface="Arial" panose="020B0604020202020204" pitchFamily="34" charset="0"/>
                <a:ea typeface="Microsoft Sans Serif" panose="020B0604020202020204" pitchFamily="34" charset="0"/>
                <a:cs typeface="Arial" panose="020B0604020202020204" pitchFamily="34" charset="0"/>
              </a:rPr>
              <a:t>Don’t forget the Admin password.</a:t>
            </a:r>
            <a:endParaRPr lang="en-AE" dirty="0">
              <a:solidFill>
                <a:srgbClr val="231F20"/>
              </a:solidFill>
              <a:latin typeface="Arial" panose="020B0604020202020204" pitchFamily="34" charset="0"/>
              <a:ea typeface="Microsoft Sans Serif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46F4BD-B916-3F73-2DCD-81CF58CE8D17}"/>
              </a:ext>
            </a:extLst>
          </p:cNvPr>
          <p:cNvSpPr txBox="1"/>
          <p:nvPr/>
        </p:nvSpPr>
        <p:spPr>
          <a:xfrm>
            <a:off x="6968813" y="1674675"/>
            <a:ext cx="3301999" cy="1754326"/>
          </a:xfrm>
          <a:prstGeom prst="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PostgreSQL version </a:t>
            </a:r>
            <a:r>
              <a:rPr lang="en-AE" dirty="0">
                <a:latin typeface="Arial" panose="020B0604020202020204" pitchFamily="34" charset="0"/>
                <a:cs typeface="Arial" panose="020B0604020202020204" pitchFamily="34" charset="0"/>
              </a:rPr>
              <a:t>14.7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or older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(some queries will not run properly on latest version </a:t>
            </a:r>
            <a:r>
              <a:rPr lang="en-AE" dirty="0">
                <a:latin typeface="Arial" panose="020B0604020202020204" pitchFamily="34" charset="0"/>
                <a:cs typeface="Arial" panose="020B0604020202020204" pitchFamily="34" charset="0"/>
              </a:rPr>
              <a:t>15.2)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FF6750B4-2FD9-6E29-B687-8D4D81CF2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412" y="206015"/>
            <a:ext cx="11219688" cy="577340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Installing PostgreSQL</a:t>
            </a:r>
          </a:p>
        </p:txBody>
      </p:sp>
    </p:spTree>
    <p:extLst>
      <p:ext uri="{BB962C8B-B14F-4D97-AF65-F5344CB8AC3E}">
        <p14:creationId xmlns:p14="http://schemas.microsoft.com/office/powerpoint/2010/main" val="3105967322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 txBox="1"/>
          <p:nvPr/>
        </p:nvSpPr>
        <p:spPr>
          <a:xfrm>
            <a:off x="884986" y="1563299"/>
            <a:ext cx="10494214" cy="4131386"/>
          </a:xfrm>
          <a:prstGeom prst="rect">
            <a:avLst/>
          </a:prstGeom>
        </p:spPr>
        <p:txBody>
          <a:bodyPr vert="horz" wrap="square" lIns="0" tIns="13842" rIns="0" bIns="0" rtlCol="0">
            <a:spAutoFit/>
          </a:bodyPr>
          <a:lstStyle/>
          <a:p>
            <a:pPr marR="1001668">
              <a:lnSpc>
                <a:spcPct val="150000"/>
              </a:lnSpc>
              <a:spcBef>
                <a:spcPts val="109"/>
              </a:spcBef>
            </a:pPr>
            <a:r>
              <a:rPr sz="2180" spc="10" dirty="0">
                <a:latin typeface="Arial" panose="020B0604020202020204" pitchFamily="34" charset="0"/>
                <a:cs typeface="Arial" panose="020B0604020202020204" pitchFamily="34" charset="0"/>
              </a:rPr>
              <a:t>Please </a:t>
            </a:r>
            <a:r>
              <a:rPr lang="en-US" sz="2180" spc="1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sz="2180" spc="10" dirty="0">
                <a:latin typeface="Arial" panose="020B0604020202020204" pitchFamily="34" charset="0"/>
                <a:cs typeface="Arial" panose="020B0604020202020204" pitchFamily="34" charset="0"/>
              </a:rPr>
              <a:t>heck Canvas for Video Tutorials on installing PostgreSQL</a:t>
            </a:r>
          </a:p>
          <a:p>
            <a:pPr>
              <a:lnSpc>
                <a:spcPct val="150000"/>
              </a:lnSpc>
              <a:spcBef>
                <a:spcPts val="30"/>
              </a:spcBef>
            </a:pPr>
            <a:endParaRPr sz="2180" spc="1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48653" marR="207633">
              <a:lnSpc>
                <a:spcPct val="150000"/>
              </a:lnSpc>
            </a:pPr>
            <a:r>
              <a:rPr sz="2180" spc="10" dirty="0">
                <a:latin typeface="Arial" panose="020B0604020202020204" pitchFamily="34" charset="0"/>
                <a:cs typeface="Arial" panose="020B0604020202020204" pitchFamily="34" charset="0"/>
              </a:rPr>
              <a:t>From this point onward we are assuming that the PostgreSQL DBMS (Database Management Server) is installed on the  machine you are working on.</a:t>
            </a:r>
          </a:p>
          <a:p>
            <a:pPr marL="548653" marR="186240">
              <a:lnSpc>
                <a:spcPct val="150000"/>
              </a:lnSpc>
              <a:spcBef>
                <a:spcPts val="595"/>
              </a:spcBef>
            </a:pPr>
            <a:r>
              <a:rPr sz="2180" spc="10" dirty="0">
                <a:latin typeface="Arial" panose="020B0604020202020204" pitchFamily="34" charset="0"/>
                <a:cs typeface="Arial" panose="020B0604020202020204" pitchFamily="34" charset="0"/>
              </a:rPr>
              <a:t>We will be using a combination of </a:t>
            </a:r>
            <a:r>
              <a:rPr sz="2180" b="1" i="1" spc="1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psql</a:t>
            </a:r>
            <a:r>
              <a:rPr sz="2180" i="1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180" spc="10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sz="2180" i="1" spc="10" dirty="0">
                <a:latin typeface="Arial" panose="020B0604020202020204" pitchFamily="34" charset="0"/>
                <a:cs typeface="Arial" panose="020B0604020202020204" pitchFamily="34" charset="0"/>
              </a:rPr>
              <a:t>SQL </a:t>
            </a:r>
            <a:r>
              <a:rPr sz="2180" spc="10" dirty="0">
                <a:latin typeface="Arial" panose="020B0604020202020204" pitchFamily="34" charset="0"/>
                <a:cs typeface="Arial" panose="020B0604020202020204" pitchFamily="34" charset="0"/>
              </a:rPr>
              <a:t>commands in  this class.</a:t>
            </a:r>
          </a:p>
          <a:p>
            <a:pPr marL="548653" marR="335987">
              <a:lnSpc>
                <a:spcPct val="150000"/>
              </a:lnSpc>
              <a:spcBef>
                <a:spcPts val="595"/>
              </a:spcBef>
            </a:pPr>
            <a:r>
              <a:rPr sz="2180" spc="10" dirty="0">
                <a:latin typeface="Arial" panose="020B0604020202020204" pitchFamily="34" charset="0"/>
                <a:cs typeface="Arial" panose="020B0604020202020204" pitchFamily="34" charset="0"/>
              </a:rPr>
              <a:t>Please note that the </a:t>
            </a:r>
            <a:r>
              <a:rPr sz="2180" b="1" i="1" spc="1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psql</a:t>
            </a:r>
            <a:r>
              <a:rPr sz="2180" i="1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180" spc="10" dirty="0">
                <a:latin typeface="Arial" panose="020B0604020202020204" pitchFamily="34" charset="0"/>
                <a:cs typeface="Arial" panose="020B0604020202020204" pitchFamily="34" charset="0"/>
              </a:rPr>
              <a:t>commands will only work the  PostgreSQL, while the </a:t>
            </a:r>
            <a:r>
              <a:rPr sz="2180" i="1" spc="10" dirty="0">
                <a:latin typeface="Arial" panose="020B0604020202020204" pitchFamily="34" charset="0"/>
                <a:cs typeface="Arial" panose="020B0604020202020204" pitchFamily="34" charset="0"/>
              </a:rPr>
              <a:t>SQL </a:t>
            </a:r>
            <a:r>
              <a:rPr sz="2180" spc="10" dirty="0">
                <a:latin typeface="Arial" panose="020B0604020202020204" pitchFamily="34" charset="0"/>
                <a:cs typeface="Arial" panose="020B0604020202020204" pitchFamily="34" charset="0"/>
              </a:rPr>
              <a:t>commands should work with any  DBMS.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C09DC3B-5A29-2715-6F0F-375997F64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PostgreSQL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AAE5981-5CFE-879B-67F2-55B3CBFF8BBB}"/>
              </a:ext>
            </a:extLst>
          </p:cNvPr>
          <p:cNvSpPr txBox="1"/>
          <p:nvPr/>
        </p:nvSpPr>
        <p:spPr>
          <a:xfrm>
            <a:off x="374831" y="1545572"/>
            <a:ext cx="6172200" cy="9809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Aft>
                <a:spcPts val="800"/>
              </a:spcAft>
            </a:pPr>
            <a:r>
              <a:rPr lang="en-GB" sz="1800" b="1" dirty="0">
                <a:solidFill>
                  <a:srgbClr val="231F2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Access local database server</a:t>
            </a:r>
            <a:endParaRPr lang="en-AE" sz="2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algn="just">
              <a:lnSpc>
                <a:spcPct val="150000"/>
              </a:lnSpc>
              <a:spcAft>
                <a:spcPts val="800"/>
              </a:spcAft>
            </a:pPr>
            <a:r>
              <a:rPr lang="en-GB" sz="1800" dirty="0">
                <a:solidFill>
                  <a:srgbClr val="231F2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Open the program “</a:t>
            </a:r>
            <a:r>
              <a:rPr lang="en-GB" sz="1800" dirty="0" err="1">
                <a:solidFill>
                  <a:srgbClr val="231F2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psql</a:t>
            </a:r>
            <a:r>
              <a:rPr lang="en-GB" sz="1800" dirty="0">
                <a:solidFill>
                  <a:srgbClr val="231F2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” and/or “</a:t>
            </a:r>
            <a:r>
              <a:rPr lang="en-GB" sz="1800" dirty="0" err="1">
                <a:solidFill>
                  <a:srgbClr val="231F2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pgAdmin</a:t>
            </a:r>
            <a:r>
              <a:rPr lang="en-GB" sz="1800" dirty="0">
                <a:solidFill>
                  <a:srgbClr val="231F2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4” </a:t>
            </a:r>
            <a:endParaRPr lang="en-AE" sz="2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 descr="Text&#10;&#10;Description automatically generated">
            <a:extLst>
              <a:ext uri="{FF2B5EF4-FFF2-40B4-BE49-F238E27FC236}">
                <a16:creationId xmlns:a16="http://schemas.microsoft.com/office/drawing/2014/main" id="{F2C9BB88-3E64-E69D-EB7B-42E37D4438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7999" y="1007725"/>
            <a:ext cx="3459170" cy="132515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F8752AB-A0B3-A9E7-0686-10BB2772CA90}"/>
              </a:ext>
            </a:extLst>
          </p:cNvPr>
          <p:cNvSpPr txBox="1"/>
          <p:nvPr/>
        </p:nvSpPr>
        <p:spPr>
          <a:xfrm>
            <a:off x="374831" y="2596887"/>
            <a:ext cx="10629900" cy="4216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457200" algn="just">
              <a:lnSpc>
                <a:spcPct val="150000"/>
              </a:lnSpc>
              <a:spcAft>
                <a:spcPts val="800"/>
              </a:spcAft>
            </a:pPr>
            <a:r>
              <a:rPr lang="en-GB" sz="1600" i="1" dirty="0">
                <a:solidFill>
                  <a:srgbClr val="231F2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default password for local </a:t>
            </a:r>
            <a:r>
              <a:rPr lang="en-GB" sz="1600" i="1" dirty="0" err="1">
                <a:solidFill>
                  <a:srgbClr val="231F2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postgres</a:t>
            </a:r>
            <a:r>
              <a:rPr lang="en-GB" sz="1600" i="1" dirty="0">
                <a:solidFill>
                  <a:srgbClr val="231F2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instance on Dubai lab cluster machine is  “</a:t>
            </a:r>
            <a:r>
              <a:rPr lang="en-GB" sz="1600" i="1" dirty="0" err="1">
                <a:solidFill>
                  <a:srgbClr val="231F2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postgresql</a:t>
            </a:r>
            <a:r>
              <a:rPr lang="en-GB" sz="1600" i="1" dirty="0">
                <a:solidFill>
                  <a:srgbClr val="231F2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”.</a:t>
            </a:r>
            <a:endParaRPr lang="en-AE" sz="2000" i="1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DC4C6E-3980-2F58-4F59-35EBEC4BAA1E}"/>
              </a:ext>
            </a:extLst>
          </p:cNvPr>
          <p:cNvSpPr txBox="1"/>
          <p:nvPr/>
        </p:nvSpPr>
        <p:spPr>
          <a:xfrm>
            <a:off x="454878" y="3209693"/>
            <a:ext cx="6172200" cy="462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Aft>
                <a:spcPts val="800"/>
              </a:spcAft>
            </a:pPr>
            <a:r>
              <a:rPr lang="en-GB" sz="1800" b="1" dirty="0">
                <a:solidFill>
                  <a:srgbClr val="231F2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Access Edgbaston database server</a:t>
            </a:r>
            <a:endParaRPr lang="en-AE" sz="2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6FFADD-A138-252D-CCB4-955C4EEC2841}"/>
              </a:ext>
            </a:extLst>
          </p:cNvPr>
          <p:cNvSpPr txBox="1"/>
          <p:nvPr/>
        </p:nvSpPr>
        <p:spPr>
          <a:xfrm>
            <a:off x="1262952" y="3727567"/>
            <a:ext cx="9603858" cy="462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000" algn="just">
              <a:lnSpc>
                <a:spcPct val="150000"/>
              </a:lnSpc>
            </a:pPr>
            <a:r>
              <a:rPr lang="en-GB" sz="1800" dirty="0">
                <a:solidFill>
                  <a:srgbClr val="231F2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Create your CS account by visiting this link: </a:t>
            </a:r>
            <a:r>
              <a:rPr lang="en-GB" sz="1800" u="sng" dirty="0">
                <a:solidFill>
                  <a:srgbClr val="0563C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/>
              </a:rPr>
              <a:t>https://my-account.cs.bham.ac.uk/</a:t>
            </a:r>
            <a:endParaRPr lang="en-AE" sz="2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58DEDD-E31E-6CBC-6595-C171E5C5309B}"/>
              </a:ext>
            </a:extLst>
          </p:cNvPr>
          <p:cNvSpPr txBox="1"/>
          <p:nvPr/>
        </p:nvSpPr>
        <p:spPr>
          <a:xfrm>
            <a:off x="1262952" y="4534521"/>
            <a:ext cx="10409274" cy="129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GB" sz="1800" b="1" dirty="0">
                <a:solidFill>
                  <a:srgbClr val="231F2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Remote hostname:</a:t>
            </a:r>
            <a:r>
              <a:rPr lang="en-GB" sz="1800" dirty="0">
                <a:solidFill>
                  <a:srgbClr val="231F2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GB" sz="1800" dirty="0">
                <a:solidFill>
                  <a:srgbClr val="2E74B5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postgres-teaching.services.aws.cs.bham.ac.uk</a:t>
            </a:r>
            <a:endParaRPr lang="en-AE" sz="2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GB" sz="1800" b="1" dirty="0">
                <a:solidFill>
                  <a:srgbClr val="231F2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Username:</a:t>
            </a:r>
            <a:r>
              <a:rPr lang="en-GB" sz="1800" dirty="0">
                <a:solidFill>
                  <a:srgbClr val="231F2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your University (ADF) username</a:t>
            </a:r>
            <a:endParaRPr lang="en-AE" sz="2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GB" sz="1800" b="1" dirty="0">
                <a:solidFill>
                  <a:srgbClr val="231F2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Password:</a:t>
            </a:r>
            <a:r>
              <a:rPr lang="en-GB" sz="1800" dirty="0">
                <a:solidFill>
                  <a:srgbClr val="231F2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your CS account password  </a:t>
            </a:r>
            <a:endParaRPr lang="en-AE" sz="2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73B9236D-E240-AFE9-CA32-D8CDE2716823}"/>
              </a:ext>
            </a:extLst>
          </p:cNvPr>
          <p:cNvSpPr txBox="1">
            <a:spLocks/>
          </p:cNvSpPr>
          <p:nvPr/>
        </p:nvSpPr>
        <p:spPr>
          <a:xfrm>
            <a:off x="134112" y="334809"/>
            <a:ext cx="11219688" cy="5773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Database server</a:t>
            </a:r>
          </a:p>
        </p:txBody>
      </p:sp>
    </p:spTree>
    <p:extLst>
      <p:ext uri="{BB962C8B-B14F-4D97-AF65-F5344CB8AC3E}">
        <p14:creationId xmlns:p14="http://schemas.microsoft.com/office/powerpoint/2010/main" val="3740063728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 animBg="1"/>
      <p:bldP spid="3" grpId="0"/>
      <p:bldP spid="5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71090-F375-FD78-8592-933C1752E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437430"/>
            <a:ext cx="11219688" cy="577340"/>
          </a:xfrm>
        </p:spPr>
        <p:txBody>
          <a:bodyPr anchor="ctr">
            <a:normAutofit/>
          </a:bodyPr>
          <a:lstStyle/>
          <a:p>
            <a:r>
              <a:rPr lang="en-US" sz="3400"/>
              <a:t>Superusers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864D716-2CA2-C4F0-1587-82ABBE23BDC4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486156" y="1184847"/>
          <a:ext cx="11219688" cy="44883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57582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24B6AD5-5AF8-5D4D-BA6C-AEDC0B7DE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513" y="466725"/>
            <a:ext cx="9686925" cy="63912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D2BAFDC-D0E2-2874-6B20-720F6CB915FD}"/>
              </a:ext>
            </a:extLst>
          </p:cNvPr>
          <p:cNvSpPr txBox="1"/>
          <p:nvPr/>
        </p:nvSpPr>
        <p:spPr>
          <a:xfrm>
            <a:off x="0" y="0"/>
            <a:ext cx="6129670" cy="519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774" spc="-129" dirty="0">
                <a:solidFill>
                  <a:srgbClr val="3333B2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Importance of database access control</a:t>
            </a:r>
            <a:endParaRPr lang="en-AE" sz="2774" spc="-129" dirty="0">
              <a:solidFill>
                <a:srgbClr val="3333B2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15383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8D350-EEDA-45DD-5D21-45ABB073A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156" y="151179"/>
            <a:ext cx="11219688" cy="577340"/>
          </a:xfrm>
        </p:spPr>
        <p:txBody>
          <a:bodyPr>
            <a:normAutofit fontScale="90000"/>
          </a:bodyPr>
          <a:lstStyle/>
          <a:p>
            <a:r>
              <a:rPr lang="en-US" dirty="0"/>
              <a:t>SQL injection attack</a:t>
            </a:r>
            <a:endParaRPr lang="en-AE" dirty="0"/>
          </a:p>
        </p:txBody>
      </p:sp>
      <p:pic>
        <p:nvPicPr>
          <p:cNvPr id="16386" name="Picture 2">
            <a:extLst>
              <a:ext uri="{FF2B5EF4-FFF2-40B4-BE49-F238E27FC236}">
                <a16:creationId xmlns:a16="http://schemas.microsoft.com/office/drawing/2014/main" id="{B374454D-811F-A603-FCAB-29D3F0C845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504" y="624515"/>
            <a:ext cx="10160992" cy="4762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42A2479-CF0F-74AE-2F98-E8BB50121B1A}"/>
              </a:ext>
            </a:extLst>
          </p:cNvPr>
          <p:cNvSpPr txBox="1"/>
          <p:nvPr/>
        </p:nvSpPr>
        <p:spPr>
          <a:xfrm>
            <a:off x="321635" y="5202128"/>
            <a:ext cx="62359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3"/>
              </a:rPr>
              <a:t>https://owasp.org/www-community/attacks/SQL_Injection</a:t>
            </a:r>
            <a:r>
              <a:rPr lang="en-GB" dirty="0"/>
              <a:t> 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6140031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357115" y="1191436"/>
            <a:ext cx="11121523" cy="3184483"/>
          </a:xfrm>
          <a:prstGeom prst="rect">
            <a:avLst/>
          </a:prstGeom>
        </p:spPr>
        <p:txBody>
          <a:bodyPr vert="horz" wrap="square" lIns="0" tIns="376195" rIns="0" bIns="0" rtlCol="0">
            <a:spAutoFit/>
          </a:bodyPr>
          <a:lstStyle/>
          <a:p>
            <a:pPr marL="570046" marR="72986">
              <a:lnSpc>
                <a:spcPct val="102600"/>
              </a:lnSpc>
              <a:spcBef>
                <a:spcPts val="109"/>
              </a:spcBef>
            </a:pPr>
            <a:r>
              <a:rPr b="0" dirty="0"/>
              <a:t>To be able to add a new user (and perform all the commands  we want to on the database), we need to use the </a:t>
            </a:r>
            <a:r>
              <a:rPr b="0" i="1" dirty="0">
                <a:latin typeface="Arial"/>
                <a:cs typeface="Arial"/>
              </a:rPr>
              <a:t>psql  </a:t>
            </a:r>
            <a:r>
              <a:rPr b="0" dirty="0"/>
              <a:t>commandline tool.</a:t>
            </a:r>
            <a:endParaRPr lang="en-US" b="0" dirty="0"/>
          </a:p>
          <a:p>
            <a:pPr marL="570046" marR="72986">
              <a:lnSpc>
                <a:spcPct val="102600"/>
              </a:lnSpc>
              <a:spcBef>
                <a:spcPts val="109"/>
              </a:spcBef>
            </a:pPr>
            <a:endParaRPr b="0" dirty="0"/>
          </a:p>
          <a:p>
            <a:pPr marL="570046" marR="10067">
              <a:lnSpc>
                <a:spcPct val="102699"/>
              </a:lnSpc>
              <a:spcBef>
                <a:spcPts val="595"/>
              </a:spcBef>
            </a:pPr>
            <a:r>
              <a:rPr b="0" dirty="0"/>
              <a:t>Open up your commandline or shell tool (Windows: cmd or  Powershell, Mac: Terminal, Linux: any installed terminal tool)</a:t>
            </a:r>
          </a:p>
          <a:p>
            <a:pPr marL="570046" marR="980278">
              <a:lnSpc>
                <a:spcPct val="102600"/>
              </a:lnSpc>
              <a:spcBef>
                <a:spcPts val="595"/>
              </a:spcBef>
            </a:pPr>
            <a:r>
              <a:rPr b="0" dirty="0"/>
              <a:t>Type in the following command to open psql with the  postgres database: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973571" y="4627619"/>
            <a:ext cx="7156229" cy="443557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167360" rIns="0" bIns="0" rtlCol="0">
            <a:spAutoFit/>
          </a:bodyPr>
          <a:lstStyle/>
          <a:p>
            <a:pPr marL="278102">
              <a:spcBef>
                <a:spcPts val="1318"/>
              </a:spcBef>
              <a:tabLst>
                <a:tab pos="1020544" algn="l"/>
              </a:tabLst>
            </a:pPr>
            <a:r>
              <a:rPr sz="1784" spc="20" dirty="0">
                <a:solidFill>
                  <a:srgbClr val="7F7F7F"/>
                </a:solidFill>
                <a:latin typeface="Calibri"/>
                <a:cs typeface="Calibri"/>
              </a:rPr>
              <a:t>01 </a:t>
            </a:r>
            <a:r>
              <a:rPr sz="1784" spc="99" dirty="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sz="1784" spc="109" dirty="0">
                <a:solidFill>
                  <a:srgbClr val="7F7F7F"/>
                </a:solidFill>
                <a:latin typeface="Calibri"/>
                <a:cs typeface="Calibri"/>
              </a:rPr>
              <a:t>|	</a:t>
            </a:r>
            <a:r>
              <a:rPr sz="1784" spc="297" dirty="0">
                <a:latin typeface="Calibri"/>
                <a:cs typeface="Calibri"/>
              </a:rPr>
              <a:t>psql</a:t>
            </a:r>
            <a:r>
              <a:rPr sz="1784" spc="931" dirty="0">
                <a:latin typeface="Calibri"/>
                <a:cs typeface="Calibri"/>
              </a:rPr>
              <a:t> </a:t>
            </a:r>
            <a:r>
              <a:rPr sz="1784" spc="287" dirty="0">
                <a:latin typeface="Calibri"/>
                <a:cs typeface="Calibri"/>
              </a:rPr>
              <a:t>postgres</a:t>
            </a:r>
            <a:endParaRPr sz="1784" dirty="0">
              <a:latin typeface="Calibri"/>
              <a:cs typeface="Calibri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41F9192-B0A2-A59D-AC32-DAA8C5D2B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156" y="362396"/>
            <a:ext cx="11219688" cy="577340"/>
          </a:xfrm>
        </p:spPr>
        <p:txBody>
          <a:bodyPr/>
          <a:lstStyle/>
          <a:p>
            <a:r>
              <a:rPr lang="en-US" dirty="0"/>
              <a:t>Using </a:t>
            </a:r>
            <a:r>
              <a:rPr lang="en-US" dirty="0" err="1"/>
              <a:t>psql</a:t>
            </a:r>
            <a:endParaRPr lang="en-US" dirty="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7DE4578-E4D1-9ABF-225B-E936EA4C8ECA}"/>
              </a:ext>
            </a:extLst>
          </p:cNvPr>
          <p:cNvSpPr txBox="1"/>
          <p:nvPr/>
        </p:nvSpPr>
        <p:spPr>
          <a:xfrm>
            <a:off x="714375" y="103935"/>
            <a:ext cx="73148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Example 1: Room Booking Service</a:t>
            </a:r>
            <a:endParaRPr lang="en-AE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71314E2-A4A6-EC8E-6A37-4D9A220C2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738" y="817354"/>
            <a:ext cx="8166359" cy="5290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2821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7DE4578-E4D1-9ABF-225B-E936EA4C8ECA}"/>
              </a:ext>
            </a:extLst>
          </p:cNvPr>
          <p:cNvSpPr txBox="1"/>
          <p:nvPr/>
        </p:nvSpPr>
        <p:spPr>
          <a:xfrm>
            <a:off x="357187" y="200075"/>
            <a:ext cx="73148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Example 1: Room Booking Service</a:t>
            </a:r>
            <a:endParaRPr lang="en-AE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FF0C5E3-BF02-F8F7-F2F5-295B97A9E26C}"/>
              </a:ext>
            </a:extLst>
          </p:cNvPr>
          <p:cNvGraphicFramePr>
            <a:graphicFrameLocks noGrp="1"/>
          </p:cNvGraphicFramePr>
          <p:nvPr/>
        </p:nvGraphicFramePr>
        <p:xfrm>
          <a:off x="214612" y="5130796"/>
          <a:ext cx="6558329" cy="140335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408500">
                  <a:extLst>
                    <a:ext uri="{9D8B030D-6E8A-4147-A177-3AD203B41FA5}">
                      <a16:colId xmlns:a16="http://schemas.microsoft.com/office/drawing/2014/main" val="24799750"/>
                    </a:ext>
                  </a:extLst>
                </a:gridCol>
                <a:gridCol w="1518540">
                  <a:extLst>
                    <a:ext uri="{9D8B030D-6E8A-4147-A177-3AD203B41FA5}">
                      <a16:colId xmlns:a16="http://schemas.microsoft.com/office/drawing/2014/main" val="913602148"/>
                    </a:ext>
                  </a:extLst>
                </a:gridCol>
                <a:gridCol w="1848656">
                  <a:extLst>
                    <a:ext uri="{9D8B030D-6E8A-4147-A177-3AD203B41FA5}">
                      <a16:colId xmlns:a16="http://schemas.microsoft.com/office/drawing/2014/main" val="1701674353"/>
                    </a:ext>
                  </a:extLst>
                </a:gridCol>
                <a:gridCol w="1782633">
                  <a:extLst>
                    <a:ext uri="{9D8B030D-6E8A-4147-A177-3AD203B41FA5}">
                      <a16:colId xmlns:a16="http://schemas.microsoft.com/office/drawing/2014/main" val="1771681626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>
                          <a:effectLst/>
                        </a:rPr>
                        <a:t>room_id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>
                          <a:effectLst/>
                        </a:rPr>
                        <a:t>room_name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 dirty="0" err="1">
                          <a:effectLst/>
                        </a:rPr>
                        <a:t>room_capacity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 dirty="0" err="1">
                          <a:effectLst/>
                        </a:rPr>
                        <a:t>room_zoom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969526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>
                          <a:effectLst/>
                        </a:rPr>
                        <a:t>G0210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 dirty="0">
                          <a:effectLst/>
                        </a:rPr>
                        <a:t>Seminar Room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800" u="none" strike="noStrike">
                          <a:effectLst/>
                        </a:rPr>
                        <a:t>50</a:t>
                      </a:r>
                      <a:endParaRPr lang="en-AE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 dirty="0">
                          <a:effectLst/>
                        </a:rPr>
                        <a:t>yes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92132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>
                          <a:effectLst/>
                        </a:rPr>
                        <a:t>E1236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>
                          <a:effectLst/>
                        </a:rPr>
                        <a:t>Lab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800" u="none" strike="noStrike" dirty="0">
                          <a:effectLst/>
                        </a:rPr>
                        <a:t>40</a:t>
                      </a:r>
                      <a:endParaRPr lang="en-A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>
                          <a:effectLst/>
                        </a:rPr>
                        <a:t>no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341695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>
                          <a:effectLst/>
                        </a:rPr>
                        <a:t>G0205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>
                          <a:effectLst/>
                        </a:rPr>
                        <a:t>auditorium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800" u="none" strike="noStrike">
                          <a:effectLst/>
                        </a:rPr>
                        <a:t>100</a:t>
                      </a:r>
                      <a:endParaRPr lang="en-AE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 dirty="0">
                          <a:effectLst/>
                        </a:rPr>
                        <a:t>Yes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833130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…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…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…</a:t>
                      </a:r>
                      <a:endParaRPr lang="en-A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…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878965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D6DD567-3B77-F7C9-F729-FE47E8DBA3A9}"/>
              </a:ext>
            </a:extLst>
          </p:cNvPr>
          <p:cNvSpPr txBox="1"/>
          <p:nvPr/>
        </p:nvSpPr>
        <p:spPr>
          <a:xfrm>
            <a:off x="214612" y="4733077"/>
            <a:ext cx="6558329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Room</a:t>
            </a:r>
            <a:endParaRPr lang="en-AE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77CCBBF-4DD0-2CB6-A224-F8468588F5B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925027" y="4733077"/>
            <a:ext cx="1343107" cy="15998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FA3CA26-C22D-BCAF-D43C-37639341DB19}"/>
              </a:ext>
            </a:extLst>
          </p:cNvPr>
          <p:cNvSpPr txBox="1"/>
          <p:nvPr/>
        </p:nvSpPr>
        <p:spPr>
          <a:xfrm>
            <a:off x="8925026" y="4325493"/>
            <a:ext cx="1343107" cy="369332"/>
          </a:xfrm>
          <a:prstGeom prst="rect">
            <a:avLst/>
          </a:prstGeom>
          <a:solidFill>
            <a:srgbClr val="EBF1F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2A69A2"/>
                </a:solidFill>
              </a:rPr>
              <a:t>CS staff</a:t>
            </a:r>
            <a:endParaRPr lang="en-AE" dirty="0">
              <a:solidFill>
                <a:srgbClr val="2A69A2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AAC02BD-1E4A-D5DD-33DC-D096B25C17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6738" y="996131"/>
            <a:ext cx="5306202" cy="3437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0549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7DE4578-E4D1-9ABF-225B-E936EA4C8ECA}"/>
              </a:ext>
            </a:extLst>
          </p:cNvPr>
          <p:cNvSpPr txBox="1"/>
          <p:nvPr/>
        </p:nvSpPr>
        <p:spPr>
          <a:xfrm>
            <a:off x="490823" y="89800"/>
            <a:ext cx="73148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Example 1: Room Booking Service</a:t>
            </a:r>
            <a:endParaRPr lang="en-AE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FF0C5E3-BF02-F8F7-F2F5-295B97A9E26C}"/>
              </a:ext>
            </a:extLst>
          </p:cNvPr>
          <p:cNvGraphicFramePr>
            <a:graphicFrameLocks noGrp="1"/>
          </p:cNvGraphicFramePr>
          <p:nvPr/>
        </p:nvGraphicFramePr>
        <p:xfrm>
          <a:off x="214613" y="4620433"/>
          <a:ext cx="6558329" cy="140335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408500">
                  <a:extLst>
                    <a:ext uri="{9D8B030D-6E8A-4147-A177-3AD203B41FA5}">
                      <a16:colId xmlns:a16="http://schemas.microsoft.com/office/drawing/2014/main" val="24799750"/>
                    </a:ext>
                  </a:extLst>
                </a:gridCol>
                <a:gridCol w="1518540">
                  <a:extLst>
                    <a:ext uri="{9D8B030D-6E8A-4147-A177-3AD203B41FA5}">
                      <a16:colId xmlns:a16="http://schemas.microsoft.com/office/drawing/2014/main" val="913602148"/>
                    </a:ext>
                  </a:extLst>
                </a:gridCol>
                <a:gridCol w="1848656">
                  <a:extLst>
                    <a:ext uri="{9D8B030D-6E8A-4147-A177-3AD203B41FA5}">
                      <a16:colId xmlns:a16="http://schemas.microsoft.com/office/drawing/2014/main" val="1701674353"/>
                    </a:ext>
                  </a:extLst>
                </a:gridCol>
                <a:gridCol w="1782633">
                  <a:extLst>
                    <a:ext uri="{9D8B030D-6E8A-4147-A177-3AD203B41FA5}">
                      <a16:colId xmlns:a16="http://schemas.microsoft.com/office/drawing/2014/main" val="1771681626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>
                          <a:effectLst/>
                        </a:rPr>
                        <a:t>room_id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>
                          <a:effectLst/>
                        </a:rPr>
                        <a:t>room_name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 dirty="0" err="1">
                          <a:effectLst/>
                        </a:rPr>
                        <a:t>room_capacity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 dirty="0" err="1">
                          <a:effectLst/>
                        </a:rPr>
                        <a:t>room_zoom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969526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>
                          <a:effectLst/>
                        </a:rPr>
                        <a:t>G0210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 dirty="0">
                          <a:effectLst/>
                        </a:rPr>
                        <a:t>Seminar Room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800" u="none" strike="noStrike">
                          <a:effectLst/>
                        </a:rPr>
                        <a:t>50</a:t>
                      </a:r>
                      <a:endParaRPr lang="en-AE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 dirty="0">
                          <a:effectLst/>
                        </a:rPr>
                        <a:t>yes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92132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>
                          <a:effectLst/>
                        </a:rPr>
                        <a:t>E1236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>
                          <a:effectLst/>
                        </a:rPr>
                        <a:t>Lab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800" u="none" strike="noStrike" dirty="0">
                          <a:effectLst/>
                        </a:rPr>
                        <a:t>40</a:t>
                      </a:r>
                      <a:endParaRPr lang="en-A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>
                          <a:effectLst/>
                        </a:rPr>
                        <a:t>no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341695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>
                          <a:effectLst/>
                        </a:rPr>
                        <a:t>G0205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>
                          <a:effectLst/>
                        </a:rPr>
                        <a:t>auditorium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800" u="none" strike="noStrike">
                          <a:effectLst/>
                        </a:rPr>
                        <a:t>100</a:t>
                      </a:r>
                      <a:endParaRPr lang="en-AE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 dirty="0">
                          <a:effectLst/>
                        </a:rPr>
                        <a:t>Yes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833130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…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…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…</a:t>
                      </a:r>
                      <a:endParaRPr lang="en-A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…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878965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D6DD567-3B77-F7C9-F729-FE47E8DBA3A9}"/>
              </a:ext>
            </a:extLst>
          </p:cNvPr>
          <p:cNvSpPr txBox="1"/>
          <p:nvPr/>
        </p:nvSpPr>
        <p:spPr>
          <a:xfrm>
            <a:off x="214612" y="4238193"/>
            <a:ext cx="6558329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Room</a:t>
            </a:r>
            <a:endParaRPr lang="en-AE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77CCBBF-4DD0-2CB6-A224-F8468588F5B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824809" y="4501478"/>
            <a:ext cx="1343107" cy="15998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FA3CA26-C22D-BCAF-D43C-37639341DB19}"/>
              </a:ext>
            </a:extLst>
          </p:cNvPr>
          <p:cNvSpPr txBox="1"/>
          <p:nvPr/>
        </p:nvSpPr>
        <p:spPr>
          <a:xfrm>
            <a:off x="7824807" y="4161059"/>
            <a:ext cx="1343107" cy="369332"/>
          </a:xfrm>
          <a:prstGeom prst="rect">
            <a:avLst/>
          </a:prstGeom>
          <a:solidFill>
            <a:srgbClr val="EBF1F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2A69A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CS staff</a:t>
            </a:r>
            <a:endParaRPr lang="en-AE" dirty="0">
              <a:solidFill>
                <a:srgbClr val="2A69A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007C666-B86D-0B5A-1559-8CDCA9644E5E}"/>
              </a:ext>
            </a:extLst>
          </p:cNvPr>
          <p:cNvCxnSpPr/>
          <p:nvPr/>
        </p:nvCxnSpPr>
        <p:spPr>
          <a:xfrm flipV="1">
            <a:off x="893135" y="6176797"/>
            <a:ext cx="0" cy="2877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3D9F478-8858-C210-22BC-4EB907700B9B}"/>
              </a:ext>
            </a:extLst>
          </p:cNvPr>
          <p:cNvSpPr txBox="1"/>
          <p:nvPr/>
        </p:nvSpPr>
        <p:spPr>
          <a:xfrm>
            <a:off x="619085" y="6488668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  <a:endParaRPr lang="en-A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8F9192E-2D19-1474-AD5F-C7FD3262D44A}"/>
              </a:ext>
            </a:extLst>
          </p:cNvPr>
          <p:cNvCxnSpPr/>
          <p:nvPr/>
        </p:nvCxnSpPr>
        <p:spPr>
          <a:xfrm flipV="1">
            <a:off x="2417135" y="6152724"/>
            <a:ext cx="0" cy="2877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959C4C5-BDAB-C399-47BD-D2A84D1EE6E0}"/>
              </a:ext>
            </a:extLst>
          </p:cNvPr>
          <p:cNvSpPr txBox="1"/>
          <p:nvPr/>
        </p:nvSpPr>
        <p:spPr>
          <a:xfrm>
            <a:off x="2143085" y="6464595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  <a:endParaRPr lang="en-A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8EB0564-6DC8-63EC-0E1D-30B0A33D2E28}"/>
              </a:ext>
            </a:extLst>
          </p:cNvPr>
          <p:cNvCxnSpPr/>
          <p:nvPr/>
        </p:nvCxnSpPr>
        <p:spPr>
          <a:xfrm flipV="1">
            <a:off x="5932969" y="6152724"/>
            <a:ext cx="0" cy="2877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8255267-D993-3845-8436-EC969D029879}"/>
              </a:ext>
            </a:extLst>
          </p:cNvPr>
          <p:cNvSpPr txBox="1"/>
          <p:nvPr/>
        </p:nvSpPr>
        <p:spPr>
          <a:xfrm>
            <a:off x="5658919" y="6464595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  <a:endParaRPr lang="en-A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F258393-DAF2-2A80-68A9-34887498358E}"/>
              </a:ext>
            </a:extLst>
          </p:cNvPr>
          <p:cNvCxnSpPr/>
          <p:nvPr/>
        </p:nvCxnSpPr>
        <p:spPr>
          <a:xfrm flipV="1">
            <a:off x="4068726" y="6152724"/>
            <a:ext cx="0" cy="2877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EE31D5C-6415-68DD-F65B-16B79C8D1544}"/>
              </a:ext>
            </a:extLst>
          </p:cNvPr>
          <p:cNvSpPr txBox="1"/>
          <p:nvPr/>
        </p:nvSpPr>
        <p:spPr>
          <a:xfrm>
            <a:off x="3794676" y="6464595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integer</a:t>
            </a:r>
            <a:endParaRPr lang="en-A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BB2D6C8-7A78-BB31-9D8E-580A20F9AA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6739" y="817354"/>
            <a:ext cx="5306202" cy="3437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3212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7DE4578-E4D1-9ABF-225B-E936EA4C8ECA}"/>
              </a:ext>
            </a:extLst>
          </p:cNvPr>
          <p:cNvSpPr txBox="1"/>
          <p:nvPr/>
        </p:nvSpPr>
        <p:spPr>
          <a:xfrm>
            <a:off x="457200" y="58945"/>
            <a:ext cx="53575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Example 2: </a:t>
            </a:r>
            <a:r>
              <a:rPr lang="en-GB" sz="3600" dirty="0">
                <a:latin typeface="Arial" panose="020B0604020202020204" pitchFamily="34" charset="0"/>
                <a:cs typeface="Arial" panose="020B0604020202020204" pitchFamily="34" charset="0"/>
              </a:rPr>
              <a:t>To do list App</a:t>
            </a:r>
            <a:endParaRPr lang="en-AE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77CCBBF-4DD0-2CB6-A224-F8468588F5B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824809" y="4501478"/>
            <a:ext cx="1343107" cy="15998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FA3CA26-C22D-BCAF-D43C-37639341DB19}"/>
              </a:ext>
            </a:extLst>
          </p:cNvPr>
          <p:cNvSpPr txBox="1"/>
          <p:nvPr/>
        </p:nvSpPr>
        <p:spPr>
          <a:xfrm>
            <a:off x="7824807" y="4161059"/>
            <a:ext cx="1343107" cy="369332"/>
          </a:xfrm>
          <a:prstGeom prst="rect">
            <a:avLst/>
          </a:prstGeom>
          <a:solidFill>
            <a:srgbClr val="EBF1F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rgbClr val="2A69A2"/>
                </a:solidFill>
              </a:rPr>
              <a:t>testuser</a:t>
            </a:r>
            <a:endParaRPr lang="en-AE" dirty="0">
              <a:solidFill>
                <a:srgbClr val="2A69A2"/>
              </a:solidFill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CDA0A4F2-5C74-EAE0-167D-7946DA4383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051" y="900666"/>
            <a:ext cx="6934200" cy="5200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58049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7DE4578-E4D1-9ABF-225B-E936EA4C8ECA}"/>
              </a:ext>
            </a:extLst>
          </p:cNvPr>
          <p:cNvSpPr txBox="1"/>
          <p:nvPr/>
        </p:nvSpPr>
        <p:spPr>
          <a:xfrm>
            <a:off x="774050" y="78613"/>
            <a:ext cx="53575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Example 2: </a:t>
            </a:r>
            <a:r>
              <a:rPr lang="en-GB" sz="3600" dirty="0">
                <a:latin typeface="Arial" panose="020B0604020202020204" pitchFamily="34" charset="0"/>
                <a:cs typeface="Arial" panose="020B0604020202020204" pitchFamily="34" charset="0"/>
              </a:rPr>
              <a:t>To do list App</a:t>
            </a:r>
            <a:endParaRPr lang="en-AE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77CCBBF-4DD0-2CB6-A224-F8468588F5B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249572" y="2356522"/>
            <a:ext cx="1343107" cy="15998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FA3CA26-C22D-BCAF-D43C-37639341DB19}"/>
              </a:ext>
            </a:extLst>
          </p:cNvPr>
          <p:cNvSpPr txBox="1"/>
          <p:nvPr/>
        </p:nvSpPr>
        <p:spPr>
          <a:xfrm>
            <a:off x="9215612" y="1984765"/>
            <a:ext cx="1343107" cy="369332"/>
          </a:xfrm>
          <a:prstGeom prst="rect">
            <a:avLst/>
          </a:prstGeom>
          <a:solidFill>
            <a:srgbClr val="EBF1F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rgbClr val="2A69A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testuser</a:t>
            </a:r>
            <a:endParaRPr lang="en-AE" dirty="0">
              <a:solidFill>
                <a:srgbClr val="2A69A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007C666-B86D-0B5A-1559-8CDCA9644E5E}"/>
              </a:ext>
            </a:extLst>
          </p:cNvPr>
          <p:cNvCxnSpPr>
            <a:cxnSpLocks/>
          </p:cNvCxnSpPr>
          <p:nvPr/>
        </p:nvCxnSpPr>
        <p:spPr>
          <a:xfrm flipV="1">
            <a:off x="893135" y="6176797"/>
            <a:ext cx="0" cy="2877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8F9192E-2D19-1474-AD5F-C7FD3262D44A}"/>
              </a:ext>
            </a:extLst>
          </p:cNvPr>
          <p:cNvCxnSpPr/>
          <p:nvPr/>
        </p:nvCxnSpPr>
        <p:spPr>
          <a:xfrm flipV="1">
            <a:off x="2143085" y="6165998"/>
            <a:ext cx="0" cy="2877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959C4C5-BDAB-C399-47BD-D2A84D1EE6E0}"/>
              </a:ext>
            </a:extLst>
          </p:cNvPr>
          <p:cNvSpPr txBox="1"/>
          <p:nvPr/>
        </p:nvSpPr>
        <p:spPr>
          <a:xfrm>
            <a:off x="1855268" y="6440522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  <a:endParaRPr lang="en-A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8EB0564-6DC8-63EC-0E1D-30B0A33D2E28}"/>
              </a:ext>
            </a:extLst>
          </p:cNvPr>
          <p:cNvCxnSpPr/>
          <p:nvPr/>
        </p:nvCxnSpPr>
        <p:spPr>
          <a:xfrm flipV="1">
            <a:off x="5932969" y="6152724"/>
            <a:ext cx="0" cy="2877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F258393-DAF2-2A80-68A9-34887498358E}"/>
              </a:ext>
            </a:extLst>
          </p:cNvPr>
          <p:cNvCxnSpPr/>
          <p:nvPr/>
        </p:nvCxnSpPr>
        <p:spPr>
          <a:xfrm flipV="1">
            <a:off x="3405636" y="6189412"/>
            <a:ext cx="0" cy="2877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EE31D5C-6415-68DD-F65B-16B79C8D1544}"/>
              </a:ext>
            </a:extLst>
          </p:cNvPr>
          <p:cNvSpPr txBox="1"/>
          <p:nvPr/>
        </p:nvSpPr>
        <p:spPr>
          <a:xfrm>
            <a:off x="491495" y="6381799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integer</a:t>
            </a:r>
            <a:endParaRPr lang="en-A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CDA0A4F2-5C74-EAE0-167D-7946DA4383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26" y="705276"/>
            <a:ext cx="5979927" cy="4484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C39F71E-1BF4-512F-ECE8-4F4CBC789CC2}"/>
              </a:ext>
            </a:extLst>
          </p:cNvPr>
          <p:cNvGraphicFramePr>
            <a:graphicFrameLocks noGrp="1"/>
          </p:cNvGraphicFramePr>
          <p:nvPr/>
        </p:nvGraphicFramePr>
        <p:xfrm>
          <a:off x="271441" y="5347659"/>
          <a:ext cx="10435545" cy="802640"/>
        </p:xfrm>
        <a:graphic>
          <a:graphicData uri="http://schemas.openxmlformats.org/drawingml/2006/table">
            <a:tbl>
              <a:tblPr/>
              <a:tblGrid>
                <a:gridCol w="1245794">
                  <a:extLst>
                    <a:ext uri="{9D8B030D-6E8A-4147-A177-3AD203B41FA5}">
                      <a16:colId xmlns:a16="http://schemas.microsoft.com/office/drawing/2014/main" val="3656217153"/>
                    </a:ext>
                  </a:extLst>
                </a:gridCol>
                <a:gridCol w="1116361">
                  <a:extLst>
                    <a:ext uri="{9D8B030D-6E8A-4147-A177-3AD203B41FA5}">
                      <a16:colId xmlns:a16="http://schemas.microsoft.com/office/drawing/2014/main" val="1089592592"/>
                    </a:ext>
                  </a:extLst>
                </a:gridCol>
                <a:gridCol w="1359048">
                  <a:extLst>
                    <a:ext uri="{9D8B030D-6E8A-4147-A177-3AD203B41FA5}">
                      <a16:colId xmlns:a16="http://schemas.microsoft.com/office/drawing/2014/main" val="491885477"/>
                    </a:ext>
                  </a:extLst>
                </a:gridCol>
                <a:gridCol w="1310510">
                  <a:extLst>
                    <a:ext uri="{9D8B030D-6E8A-4147-A177-3AD203B41FA5}">
                      <a16:colId xmlns:a16="http://schemas.microsoft.com/office/drawing/2014/main" val="2434579698"/>
                    </a:ext>
                  </a:extLst>
                </a:gridCol>
                <a:gridCol w="1051644">
                  <a:extLst>
                    <a:ext uri="{9D8B030D-6E8A-4147-A177-3AD203B41FA5}">
                      <a16:colId xmlns:a16="http://schemas.microsoft.com/office/drawing/2014/main" val="3079265944"/>
                    </a:ext>
                  </a:extLst>
                </a:gridCol>
                <a:gridCol w="776598">
                  <a:extLst>
                    <a:ext uri="{9D8B030D-6E8A-4147-A177-3AD203B41FA5}">
                      <a16:colId xmlns:a16="http://schemas.microsoft.com/office/drawing/2014/main" val="2884098340"/>
                    </a:ext>
                  </a:extLst>
                </a:gridCol>
                <a:gridCol w="970748">
                  <a:extLst>
                    <a:ext uri="{9D8B030D-6E8A-4147-A177-3AD203B41FA5}">
                      <a16:colId xmlns:a16="http://schemas.microsoft.com/office/drawing/2014/main" val="3795600335"/>
                    </a:ext>
                  </a:extLst>
                </a:gridCol>
                <a:gridCol w="1035465">
                  <a:extLst>
                    <a:ext uri="{9D8B030D-6E8A-4147-A177-3AD203B41FA5}">
                      <a16:colId xmlns:a16="http://schemas.microsoft.com/office/drawing/2014/main" val="4069925390"/>
                    </a:ext>
                  </a:extLst>
                </a:gridCol>
                <a:gridCol w="1569377">
                  <a:extLst>
                    <a:ext uri="{9D8B030D-6E8A-4147-A177-3AD203B41FA5}">
                      <a16:colId xmlns:a16="http://schemas.microsoft.com/office/drawing/2014/main" val="953792314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todo_item_id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description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owner_id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priority_id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context_id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status_id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project_id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due_date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completion_date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22245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598243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813600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4980008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B1FEFCD8-8991-C9D2-D5FA-FB03AE77687F}"/>
              </a:ext>
            </a:extLst>
          </p:cNvPr>
          <p:cNvSpPr txBox="1"/>
          <p:nvPr/>
        </p:nvSpPr>
        <p:spPr>
          <a:xfrm>
            <a:off x="2980744" y="6453796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integer</a:t>
            </a:r>
            <a:endParaRPr lang="en-A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630791-D561-174A-86D1-8F82ED3D509C}"/>
              </a:ext>
            </a:extLst>
          </p:cNvPr>
          <p:cNvSpPr txBox="1"/>
          <p:nvPr/>
        </p:nvSpPr>
        <p:spPr>
          <a:xfrm>
            <a:off x="4176744" y="6444595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integer</a:t>
            </a:r>
            <a:endParaRPr lang="en-A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371EFDB-575E-1130-AB61-41F77E112974}"/>
              </a:ext>
            </a:extLst>
          </p:cNvPr>
          <p:cNvCxnSpPr/>
          <p:nvPr/>
        </p:nvCxnSpPr>
        <p:spPr>
          <a:xfrm flipV="1">
            <a:off x="4601636" y="6205853"/>
            <a:ext cx="0" cy="2877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16E363C-C14F-BC99-D3E1-1AB64C48DD45}"/>
              </a:ext>
            </a:extLst>
          </p:cNvPr>
          <p:cNvSpPr txBox="1"/>
          <p:nvPr/>
        </p:nvSpPr>
        <p:spPr>
          <a:xfrm>
            <a:off x="5459381" y="6372121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integer</a:t>
            </a:r>
            <a:endParaRPr lang="en-A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4449879-9B9A-6C1C-9E00-8C6761203C60}"/>
              </a:ext>
            </a:extLst>
          </p:cNvPr>
          <p:cNvSpPr txBox="1"/>
          <p:nvPr/>
        </p:nvSpPr>
        <p:spPr>
          <a:xfrm>
            <a:off x="6287850" y="6357692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integer</a:t>
            </a:r>
            <a:endParaRPr lang="en-A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C89AF6C-12AF-16A8-803D-9A3779A403D0}"/>
              </a:ext>
            </a:extLst>
          </p:cNvPr>
          <p:cNvSpPr txBox="1"/>
          <p:nvPr/>
        </p:nvSpPr>
        <p:spPr>
          <a:xfrm>
            <a:off x="7165474" y="6343263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integer</a:t>
            </a:r>
            <a:endParaRPr lang="en-A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40E760E-6DB7-E5DF-39D7-346C3736FB82}"/>
              </a:ext>
            </a:extLst>
          </p:cNvPr>
          <p:cNvSpPr txBox="1"/>
          <p:nvPr/>
        </p:nvSpPr>
        <p:spPr>
          <a:xfrm>
            <a:off x="8166163" y="6349752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date</a:t>
            </a:r>
            <a:endParaRPr lang="en-A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F7242D4-BB9E-A06C-C747-026F0F442B8C}"/>
              </a:ext>
            </a:extLst>
          </p:cNvPr>
          <p:cNvSpPr txBox="1"/>
          <p:nvPr/>
        </p:nvSpPr>
        <p:spPr>
          <a:xfrm>
            <a:off x="9679487" y="6343263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date</a:t>
            </a:r>
            <a:endParaRPr lang="en-A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16C4B46-A07A-08F8-2FEC-AA080E2F3B75}"/>
              </a:ext>
            </a:extLst>
          </p:cNvPr>
          <p:cNvCxnSpPr/>
          <p:nvPr/>
        </p:nvCxnSpPr>
        <p:spPr>
          <a:xfrm flipV="1">
            <a:off x="6712742" y="6165998"/>
            <a:ext cx="0" cy="2877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9D34A93-41B5-DC30-3902-FEB7EA1D9FC7}"/>
              </a:ext>
            </a:extLst>
          </p:cNvPr>
          <p:cNvCxnSpPr/>
          <p:nvPr/>
        </p:nvCxnSpPr>
        <p:spPr>
          <a:xfrm flipV="1">
            <a:off x="7586875" y="6152724"/>
            <a:ext cx="0" cy="2877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F1E968B-364F-5935-2A86-38F214DB45EF}"/>
              </a:ext>
            </a:extLst>
          </p:cNvPr>
          <p:cNvCxnSpPr/>
          <p:nvPr/>
        </p:nvCxnSpPr>
        <p:spPr>
          <a:xfrm flipV="1">
            <a:off x="8557982" y="6165998"/>
            <a:ext cx="0" cy="2877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5E8E0C3-AB2A-0520-CCD9-272145118025}"/>
              </a:ext>
            </a:extLst>
          </p:cNvPr>
          <p:cNvCxnSpPr/>
          <p:nvPr/>
        </p:nvCxnSpPr>
        <p:spPr>
          <a:xfrm flipV="1">
            <a:off x="9981910" y="6182290"/>
            <a:ext cx="0" cy="2877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EF8804BF-913C-B75C-9738-96B6EF02E384}"/>
              </a:ext>
            </a:extLst>
          </p:cNvPr>
          <p:cNvSpPr txBox="1"/>
          <p:nvPr/>
        </p:nvSpPr>
        <p:spPr>
          <a:xfrm>
            <a:off x="271441" y="4981028"/>
            <a:ext cx="10435545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todo_item</a:t>
            </a:r>
            <a:endParaRPr lang="en-AE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6372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936728" y="1028976"/>
            <a:ext cx="9693172" cy="706648"/>
          </a:xfrm>
          <a:prstGeom prst="rect">
            <a:avLst/>
          </a:prstGeom>
        </p:spPr>
        <p:txBody>
          <a:bodyPr vert="horz" wrap="square" lIns="0" tIns="22650" rIns="0" bIns="0" rtlCol="0">
            <a:spAutoFit/>
          </a:bodyPr>
          <a:lstStyle/>
          <a:p>
            <a:pPr marL="25168">
              <a:spcBef>
                <a:spcPts val="178"/>
              </a:spcBef>
            </a:pPr>
            <a:r>
              <a:rPr sz="2180" dirty="0">
                <a:latin typeface="Arial" panose="020B0604020202020204" pitchFamily="34" charset="0"/>
                <a:cs typeface="Arial" panose="020B0604020202020204" pitchFamily="34" charset="0"/>
              </a:rPr>
              <a:t>Creating a new user named </a:t>
            </a:r>
            <a:r>
              <a:rPr sz="2180" i="1" u="sng" dirty="0">
                <a:latin typeface="Arial" panose="020B0604020202020204" pitchFamily="34" charset="0"/>
                <a:cs typeface="Arial" panose="020B0604020202020204" pitchFamily="34" charset="0"/>
              </a:rPr>
              <a:t>testuser</a:t>
            </a:r>
            <a:r>
              <a:rPr sz="218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180" dirty="0">
                <a:latin typeface="Arial" panose="020B0604020202020204" pitchFamily="34" charset="0"/>
                <a:cs typeface="Arial" panose="020B0604020202020204" pitchFamily="34" charset="0"/>
              </a:rPr>
              <a:t>with a password</a:t>
            </a:r>
            <a:r>
              <a:rPr lang="en-US" sz="21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180" i="1" u="sng" dirty="0">
                <a:latin typeface="Arial" panose="020B0604020202020204" pitchFamily="34" charset="0"/>
                <a:cs typeface="Arial" panose="020B0604020202020204" pitchFamily="34" charset="0"/>
              </a:rPr>
              <a:t>password</a:t>
            </a:r>
            <a:r>
              <a:rPr sz="2180" dirty="0">
                <a:latin typeface="Arial" panose="020B0604020202020204" pitchFamily="34" charset="0"/>
                <a:cs typeface="Arial" panose="020B0604020202020204" pitchFamily="34" charset="0"/>
              </a:rPr>
              <a:t>. Note the use of </a:t>
            </a:r>
            <a:r>
              <a:rPr sz="2180" u="sng" dirty="0">
                <a:latin typeface="Arial" panose="020B0604020202020204" pitchFamily="34" charset="0"/>
                <a:cs typeface="Arial" panose="020B0604020202020204" pitchFamily="34" charset="0"/>
              </a:rPr>
              <a:t>single quotes for string literals</a:t>
            </a:r>
            <a:r>
              <a:rPr sz="218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797426" y="3280250"/>
            <a:ext cx="7156229" cy="718119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167360" rIns="0" bIns="0" rtlCol="0">
            <a:spAutoFit/>
          </a:bodyPr>
          <a:lstStyle/>
          <a:p>
            <a:pPr marL="632965" indent="-356121">
              <a:spcBef>
                <a:spcPts val="1318"/>
              </a:spcBef>
              <a:buAutoNum type="arabicPeriod"/>
              <a:tabLst>
                <a:tab pos="634223" algn="l"/>
                <a:tab pos="1023063" algn="l"/>
              </a:tabLst>
            </a:pPr>
            <a:r>
              <a:rPr sz="1784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	</a:t>
            </a:r>
            <a:r>
              <a:rPr sz="1784" dirty="0">
                <a:solidFill>
                  <a:srgbClr val="C41F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 ROLE  </a:t>
            </a:r>
            <a:r>
              <a:rPr sz="1784" dirty="0">
                <a:latin typeface="Arial" panose="020B0604020202020204" pitchFamily="34" charset="0"/>
                <a:cs typeface="Arial" panose="020B0604020202020204" pitchFamily="34" charset="0"/>
              </a:rPr>
              <a:t>testuser</a:t>
            </a:r>
          </a:p>
          <a:p>
            <a:pPr marL="632965" indent="-356121">
              <a:spcBef>
                <a:spcPts val="30"/>
              </a:spcBef>
              <a:buAutoNum type="arabicPeriod"/>
              <a:tabLst>
                <a:tab pos="634223" algn="l"/>
                <a:tab pos="1591850" algn="l"/>
              </a:tabLst>
            </a:pPr>
            <a:r>
              <a:rPr sz="1784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	</a:t>
            </a:r>
            <a:r>
              <a:rPr sz="1784" dirty="0">
                <a:latin typeface="Arial" panose="020B0604020202020204" pitchFamily="34" charset="0"/>
                <a:cs typeface="Arial" panose="020B0604020202020204" pitchFamily="34" charset="0"/>
              </a:rPr>
              <a:t>NOINHERIT    LOGIN    PASSWORD   </a:t>
            </a:r>
            <a:r>
              <a:rPr sz="1784" dirty="0">
                <a:solidFill>
                  <a:srgbClr val="009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'password'</a:t>
            </a:r>
            <a:r>
              <a:rPr sz="1784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61895" y="4088380"/>
            <a:ext cx="7813571" cy="358348"/>
          </a:xfrm>
          <a:prstGeom prst="rect">
            <a:avLst/>
          </a:prstGeom>
        </p:spPr>
        <p:txBody>
          <a:bodyPr vert="horz" wrap="square" lIns="0" tIns="22650" rIns="0" bIns="0" rtlCol="0">
            <a:spAutoFit/>
          </a:bodyPr>
          <a:lstStyle/>
          <a:p>
            <a:pPr marL="25168">
              <a:spcBef>
                <a:spcPts val="178"/>
              </a:spcBef>
            </a:pPr>
            <a:r>
              <a:rPr sz="2180" dirty="0">
                <a:latin typeface="Arial" panose="020B0604020202020204" pitchFamily="34" charset="0"/>
                <a:cs typeface="Arial" panose="020B0604020202020204" pitchFamily="34" charset="0"/>
              </a:rPr>
              <a:t>Viewing all the users in a database: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87061" y="4563584"/>
            <a:ext cx="7156229" cy="443557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167360" rIns="0" bIns="0" rtlCol="0">
            <a:spAutoFit/>
          </a:bodyPr>
          <a:lstStyle/>
          <a:p>
            <a:pPr marL="278102">
              <a:spcBef>
                <a:spcPts val="1318"/>
              </a:spcBef>
              <a:tabLst>
                <a:tab pos="1014252" algn="l"/>
              </a:tabLst>
            </a:pPr>
            <a:r>
              <a:rPr sz="1784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  |	</a:t>
            </a:r>
            <a:r>
              <a:rPr sz="1784" dirty="0">
                <a:latin typeface="Arial" panose="020B0604020202020204" pitchFamily="34" charset="0"/>
                <a:cs typeface="Arial" panose="020B0604020202020204" pitchFamily="34" charset="0"/>
              </a:rPr>
              <a:t>\ du</a:t>
            </a:r>
            <a:endParaRPr sz="178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2300" y="5122377"/>
            <a:ext cx="10264672" cy="336501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3842" rIns="0" bIns="0" rtlCol="0">
            <a:spAutoFit/>
          </a:bodyPr>
          <a:lstStyle/>
          <a:p>
            <a:pPr marL="25168" marR="10067">
              <a:lnSpc>
                <a:spcPct val="102600"/>
              </a:lnSpc>
              <a:spcBef>
                <a:spcPts val="109"/>
              </a:spcBef>
            </a:pPr>
            <a:r>
              <a:rPr sz="2180" dirty="0">
                <a:latin typeface="Arial" panose="020B0604020202020204" pitchFamily="34" charset="0"/>
                <a:cs typeface="Arial" panose="020B0604020202020204" pitchFamily="34" charset="0"/>
              </a:rPr>
              <a:t>Notice how our new </a:t>
            </a:r>
            <a:r>
              <a:rPr sz="2180" i="1" dirty="0">
                <a:latin typeface="Arial" panose="020B0604020202020204" pitchFamily="34" charset="0"/>
                <a:cs typeface="Arial" panose="020B0604020202020204" pitchFamily="34" charset="0"/>
              </a:rPr>
              <a:t>testuser </a:t>
            </a:r>
            <a:r>
              <a:rPr sz="2180" dirty="0">
                <a:latin typeface="Arial" panose="020B0604020202020204" pitchFamily="34" charset="0"/>
                <a:cs typeface="Arial" panose="020B0604020202020204" pitchFamily="34" charset="0"/>
              </a:rPr>
              <a:t>has no attributes (i.e.  permissions associated with it)</a:t>
            </a:r>
          </a:p>
        </p:txBody>
      </p:sp>
      <p:sp>
        <p:nvSpPr>
          <p:cNvPr id="12" name="object 5">
            <a:extLst>
              <a:ext uri="{FF2B5EF4-FFF2-40B4-BE49-F238E27FC236}">
                <a16:creationId xmlns:a16="http://schemas.microsoft.com/office/drawing/2014/main" id="{9591C47D-5CAD-35B3-B42E-CF5144F6321F}"/>
              </a:ext>
            </a:extLst>
          </p:cNvPr>
          <p:cNvSpPr txBox="1"/>
          <p:nvPr/>
        </p:nvSpPr>
        <p:spPr>
          <a:xfrm>
            <a:off x="2797426" y="2026758"/>
            <a:ext cx="7156229" cy="718119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167360" rIns="0" bIns="0" rtlCol="0">
            <a:spAutoFit/>
          </a:bodyPr>
          <a:lstStyle/>
          <a:p>
            <a:pPr marL="632965" indent="-356121">
              <a:spcBef>
                <a:spcPts val="1318"/>
              </a:spcBef>
              <a:buAutoNum type="arabicPeriod"/>
              <a:tabLst>
                <a:tab pos="634223" algn="l"/>
                <a:tab pos="1023063" algn="l"/>
              </a:tabLst>
            </a:pPr>
            <a:r>
              <a:rPr sz="1784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	</a:t>
            </a:r>
            <a:r>
              <a:rPr sz="1784" dirty="0">
                <a:solidFill>
                  <a:srgbClr val="C41F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 ROLE  </a:t>
            </a:r>
            <a:r>
              <a:rPr lang="en-US" sz="1784" dirty="0" err="1">
                <a:latin typeface="Arial" panose="020B0604020202020204" pitchFamily="34" charset="0"/>
                <a:cs typeface="Arial" panose="020B0604020202020204" pitchFamily="34" charset="0"/>
              </a:rPr>
              <a:t>cs_staff</a:t>
            </a:r>
            <a:endParaRPr sz="1784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32965" indent="-356121">
              <a:spcBef>
                <a:spcPts val="30"/>
              </a:spcBef>
              <a:buAutoNum type="arabicPeriod"/>
              <a:tabLst>
                <a:tab pos="634223" algn="l"/>
                <a:tab pos="1591850" algn="l"/>
              </a:tabLst>
            </a:pPr>
            <a:r>
              <a:rPr sz="1784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	</a:t>
            </a:r>
            <a:r>
              <a:rPr sz="1784" dirty="0">
                <a:latin typeface="Arial" panose="020B0604020202020204" pitchFamily="34" charset="0"/>
                <a:cs typeface="Arial" panose="020B0604020202020204" pitchFamily="34" charset="0"/>
              </a:rPr>
              <a:t>NOINHERIT    LOGIN    PASSWORD   </a:t>
            </a:r>
            <a:r>
              <a:rPr sz="1784" dirty="0">
                <a:solidFill>
                  <a:srgbClr val="009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'password'</a:t>
            </a:r>
            <a:r>
              <a:rPr sz="1784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290B1898-60C0-D44A-69CF-20C7A7BA21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27"/>
          <a:stretch/>
        </p:blipFill>
        <p:spPr bwMode="auto">
          <a:xfrm>
            <a:off x="10034269" y="3280250"/>
            <a:ext cx="1948624" cy="1813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D8169CF-BD4F-E466-FAA7-1F5257681D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098" y="1999896"/>
            <a:ext cx="2308328" cy="1495395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CF3EB46-F22F-2A93-0440-91F275E67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792" y="233806"/>
            <a:ext cx="11219688" cy="577340"/>
          </a:xfrm>
        </p:spPr>
        <p:txBody>
          <a:bodyPr/>
          <a:lstStyle/>
          <a:p>
            <a:r>
              <a:rPr lang="en-GB" spc="-50" dirty="0">
                <a:solidFill>
                  <a:srgbClr val="3333B2"/>
                </a:solidFill>
              </a:rPr>
              <a:t>Setting</a:t>
            </a:r>
            <a:r>
              <a:rPr lang="en-GB" spc="30" dirty="0">
                <a:solidFill>
                  <a:srgbClr val="3333B2"/>
                </a:solidFill>
              </a:rPr>
              <a:t> </a:t>
            </a:r>
            <a:r>
              <a:rPr lang="en-GB" spc="-119" dirty="0">
                <a:solidFill>
                  <a:srgbClr val="3333B2"/>
                </a:solidFill>
              </a:rPr>
              <a:t>up</a:t>
            </a:r>
            <a:r>
              <a:rPr lang="en-GB" spc="30" dirty="0">
                <a:solidFill>
                  <a:srgbClr val="3333B2"/>
                </a:solidFill>
              </a:rPr>
              <a:t> </a:t>
            </a:r>
            <a:r>
              <a:rPr lang="en-GB" spc="-149" dirty="0">
                <a:solidFill>
                  <a:srgbClr val="3333B2"/>
                </a:solidFill>
              </a:rPr>
              <a:t>users</a:t>
            </a:r>
            <a:r>
              <a:rPr lang="en-GB" spc="30" dirty="0">
                <a:solidFill>
                  <a:srgbClr val="3333B2"/>
                </a:solidFill>
              </a:rPr>
              <a:t> </a:t>
            </a:r>
            <a:r>
              <a:rPr lang="en-GB" spc="-99" dirty="0">
                <a:solidFill>
                  <a:srgbClr val="3333B2"/>
                </a:solidFill>
              </a:rPr>
              <a:t>for</a:t>
            </a:r>
            <a:r>
              <a:rPr lang="en-GB" spc="40" dirty="0">
                <a:solidFill>
                  <a:srgbClr val="3333B2"/>
                </a:solidFill>
              </a:rPr>
              <a:t> </a:t>
            </a:r>
            <a:r>
              <a:rPr lang="en-GB" spc="-30" dirty="0">
                <a:solidFill>
                  <a:srgbClr val="3333B2"/>
                </a:solidFill>
              </a:rPr>
              <a:t>PostgreSQL</a:t>
            </a:r>
            <a:endParaRPr lang="en-US" dirty="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7" grpId="0"/>
      <p:bldP spid="8" grpId="0" animBg="1"/>
      <p:bldP spid="10" grpId="0" animBg="1"/>
      <p:bldP spid="1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284C6-F0BD-81A4-D889-C11B51E2B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pc="-99" dirty="0" err="1">
                <a:solidFill>
                  <a:srgbClr val="3333B2"/>
                </a:solidFill>
              </a:rPr>
              <a:t>psql</a:t>
            </a:r>
            <a:r>
              <a:rPr lang="en-GB" spc="-10" dirty="0">
                <a:solidFill>
                  <a:srgbClr val="3333B2"/>
                </a:solidFill>
              </a:rPr>
              <a:t> </a:t>
            </a:r>
            <a:r>
              <a:rPr lang="en-GB" spc="-149" dirty="0">
                <a:solidFill>
                  <a:srgbClr val="3333B2"/>
                </a:solidFill>
              </a:rPr>
              <a:t>vs</a:t>
            </a:r>
            <a:r>
              <a:rPr lang="en-GB" spc="-10" dirty="0">
                <a:solidFill>
                  <a:srgbClr val="3333B2"/>
                </a:solidFill>
              </a:rPr>
              <a:t> </a:t>
            </a:r>
            <a:r>
              <a:rPr lang="en-GB" spc="69" dirty="0">
                <a:solidFill>
                  <a:srgbClr val="3333B2"/>
                </a:solidFill>
              </a:rPr>
              <a:t>SQL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ABB68-6C93-3267-4E9C-2C053DA9BA6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25168" marR="10067">
              <a:lnSpc>
                <a:spcPct val="102600"/>
              </a:lnSpc>
              <a:spcBef>
                <a:spcPts val="109"/>
              </a:spcBef>
            </a:pPr>
            <a:r>
              <a:rPr lang="en-GB" dirty="0">
                <a:solidFill>
                  <a:schemeClr val="accent3"/>
                </a:solidFill>
              </a:rPr>
              <a:t>Syntax</a:t>
            </a:r>
          </a:p>
          <a:p>
            <a:pPr marL="368068" marR="10067" indent="-342900">
              <a:lnSpc>
                <a:spcPct val="102600"/>
              </a:lnSpc>
              <a:spcBef>
                <a:spcPts val="109"/>
              </a:spcBef>
              <a:buFont typeface="Arial" panose="020B0604020202020204" pitchFamily="34" charset="0"/>
              <a:buChar char="•"/>
            </a:pPr>
            <a:r>
              <a:rPr lang="en-GB" b="0" dirty="0"/>
              <a:t>Note the difference in syntax between SQL commands and </a:t>
            </a:r>
            <a:r>
              <a:rPr lang="en-GB" b="0" dirty="0" err="1"/>
              <a:t>psql</a:t>
            </a:r>
            <a:r>
              <a:rPr lang="en-GB" b="0" dirty="0"/>
              <a:t>  instructions. </a:t>
            </a:r>
          </a:p>
          <a:p>
            <a:pPr marL="368068" marR="10067" indent="-342900">
              <a:lnSpc>
                <a:spcPct val="102600"/>
              </a:lnSpc>
              <a:spcBef>
                <a:spcPts val="109"/>
              </a:spcBef>
              <a:buFont typeface="Arial" panose="020B0604020202020204" pitchFamily="34" charset="0"/>
              <a:buChar char="•"/>
            </a:pPr>
            <a:endParaRPr lang="en-GB" b="0" dirty="0"/>
          </a:p>
          <a:p>
            <a:pPr marL="368068" marR="10067" indent="-342900">
              <a:lnSpc>
                <a:spcPct val="102600"/>
              </a:lnSpc>
              <a:spcBef>
                <a:spcPts val="109"/>
              </a:spcBef>
              <a:buFont typeface="Arial" panose="020B0604020202020204" pitchFamily="34" charset="0"/>
              <a:buChar char="•"/>
            </a:pPr>
            <a:r>
              <a:rPr lang="en-GB" b="0" dirty="0"/>
              <a:t>SQL commands end in a semi-colon, while </a:t>
            </a:r>
            <a:r>
              <a:rPr lang="en-GB" b="0" dirty="0" err="1"/>
              <a:t>psql</a:t>
            </a:r>
            <a:r>
              <a:rPr lang="en-GB" b="0" dirty="0"/>
              <a:t> commands start with a backslash.</a:t>
            </a:r>
          </a:p>
          <a:p>
            <a:pPr marL="368068" marR="10067" indent="-342900">
              <a:lnSpc>
                <a:spcPct val="102600"/>
              </a:lnSpc>
              <a:spcBef>
                <a:spcPts val="109"/>
              </a:spcBef>
              <a:buFont typeface="Arial" panose="020B0604020202020204" pitchFamily="34" charset="0"/>
              <a:buChar char="•"/>
            </a:pPr>
            <a:endParaRPr lang="en-GB" b="0" dirty="0"/>
          </a:p>
          <a:p>
            <a:pPr marL="368068" marR="10067" indent="-342900">
              <a:lnSpc>
                <a:spcPct val="102600"/>
              </a:lnSpc>
              <a:spcBef>
                <a:spcPts val="109"/>
              </a:spcBef>
              <a:buFont typeface="Arial" panose="020B0604020202020204" pitchFamily="34" charset="0"/>
              <a:buChar char="•"/>
            </a:pPr>
            <a:r>
              <a:rPr lang="en-GB" b="0" dirty="0"/>
              <a:t> Reserved words in SQL (e.g.  CREATE, SELECT etc.) are generally written in all upper case to  make them easier to read. </a:t>
            </a:r>
          </a:p>
          <a:p>
            <a:pPr marL="368068" marR="10067" indent="-342900">
              <a:lnSpc>
                <a:spcPct val="102600"/>
              </a:lnSpc>
              <a:spcBef>
                <a:spcPts val="109"/>
              </a:spcBef>
              <a:buFont typeface="Arial" panose="020B0604020202020204" pitchFamily="34" charset="0"/>
              <a:buChar char="•"/>
            </a:pPr>
            <a:endParaRPr lang="en-GB" b="0" dirty="0"/>
          </a:p>
          <a:p>
            <a:pPr marL="368068" marR="10067" indent="-342900">
              <a:lnSpc>
                <a:spcPct val="102600"/>
              </a:lnSpc>
              <a:spcBef>
                <a:spcPts val="109"/>
              </a:spcBef>
              <a:buFont typeface="Arial" panose="020B0604020202020204" pitchFamily="34" charset="0"/>
              <a:buChar char="•"/>
            </a:pPr>
            <a:r>
              <a:rPr lang="en-GB" b="0" dirty="0"/>
              <a:t>Most </a:t>
            </a:r>
            <a:r>
              <a:rPr lang="en-GB" b="0" dirty="0" err="1"/>
              <a:t>DBMSes</a:t>
            </a:r>
            <a:r>
              <a:rPr lang="en-GB" b="0" dirty="0"/>
              <a:t> are not case sensitive but  it is always good practise to make sure your case keeps matching.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2512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93735-C962-ADC3-EA19-19B7F8AD3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Outline (This Week)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96B8A-647B-B47E-F855-6E113E9A3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941705"/>
            <a:ext cx="11089640" cy="4351338"/>
          </a:xfrm>
          <a:noFill/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2D3B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PostgreSQL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2D3B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Creating a Database and Tables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2D3B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Basic SQL commands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B971209-E4DA-8F8A-7F13-24FD77CAF1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3307" y="-127000"/>
            <a:ext cx="2556933" cy="2556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4B62AED4-2F36-0F24-22F2-FF1099D697A1}"/>
              </a:ext>
            </a:extLst>
          </p:cNvPr>
          <p:cNvSpPr/>
          <p:nvPr/>
        </p:nvSpPr>
        <p:spPr>
          <a:xfrm>
            <a:off x="381000" y="2057400"/>
            <a:ext cx="609600" cy="52955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2030118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6584" y="135090"/>
            <a:ext cx="4961067" cy="461219"/>
          </a:xfrm>
          <a:prstGeom prst="rect">
            <a:avLst/>
          </a:prstGeom>
        </p:spPr>
        <p:txBody>
          <a:bodyPr vert="horz" wrap="square" lIns="0" tIns="33975" rIns="0" bIns="0" rtlCol="0" anchor="ctr">
            <a:spAutoFit/>
          </a:bodyPr>
          <a:lstStyle/>
          <a:p>
            <a:pPr marL="25168">
              <a:lnSpc>
                <a:spcPct val="100000"/>
              </a:lnSpc>
              <a:spcBef>
                <a:spcPts val="268"/>
              </a:spcBef>
            </a:pPr>
            <a:r>
              <a:rPr sz="2774" spc="-69" dirty="0">
                <a:solidFill>
                  <a:srgbClr val="3333B2"/>
                </a:solidFill>
              </a:rPr>
              <a:t>Creating</a:t>
            </a:r>
            <a:r>
              <a:rPr sz="2774" spc="-20" dirty="0">
                <a:solidFill>
                  <a:srgbClr val="3333B2"/>
                </a:solidFill>
              </a:rPr>
              <a:t> </a:t>
            </a:r>
            <a:r>
              <a:rPr sz="2774" spc="-129" dirty="0">
                <a:solidFill>
                  <a:srgbClr val="3333B2"/>
                </a:solidFill>
              </a:rPr>
              <a:t>a</a:t>
            </a:r>
            <a:r>
              <a:rPr sz="2774" dirty="0">
                <a:solidFill>
                  <a:srgbClr val="3333B2"/>
                </a:solidFill>
              </a:rPr>
              <a:t> </a:t>
            </a:r>
            <a:r>
              <a:rPr sz="2774" spc="-89" dirty="0">
                <a:solidFill>
                  <a:srgbClr val="3333B2"/>
                </a:solidFill>
              </a:rPr>
              <a:t>Database</a:t>
            </a:r>
            <a:r>
              <a:rPr lang="en-US" sz="2774" spc="-89" dirty="0">
                <a:solidFill>
                  <a:srgbClr val="3333B2"/>
                </a:solidFill>
              </a:rPr>
              <a:t> (Example 1)</a:t>
            </a:r>
            <a:endParaRPr sz="2774" dirty="0"/>
          </a:p>
        </p:txBody>
      </p:sp>
      <p:sp>
        <p:nvSpPr>
          <p:cNvPr id="4" name="object 4"/>
          <p:cNvSpPr txBox="1"/>
          <p:nvPr/>
        </p:nvSpPr>
        <p:spPr>
          <a:xfrm>
            <a:off x="568428" y="846571"/>
            <a:ext cx="11153672" cy="1130308"/>
          </a:xfrm>
          <a:prstGeom prst="rect">
            <a:avLst/>
          </a:prstGeom>
        </p:spPr>
        <p:txBody>
          <a:bodyPr vert="horz" wrap="square" lIns="0" tIns="13842" rIns="0" bIns="0" rtlCol="0">
            <a:spAutoFit/>
          </a:bodyPr>
          <a:lstStyle/>
          <a:p>
            <a:pPr marL="25168" marR="10067">
              <a:lnSpc>
                <a:spcPct val="102600"/>
              </a:lnSpc>
              <a:spcBef>
                <a:spcPts val="109"/>
              </a:spcBef>
            </a:pPr>
            <a:r>
              <a:rPr sz="2180" dirty="0">
                <a:latin typeface="Arial" panose="020B0604020202020204" pitchFamily="34" charset="0"/>
                <a:cs typeface="Arial" panose="020B0604020202020204" pitchFamily="34" charset="0"/>
              </a:rPr>
              <a:t>We cannot grant database specific permissions to our new  user if we  don’t have a database that we  want them to use.</a:t>
            </a:r>
          </a:p>
          <a:p>
            <a:pPr marL="25168">
              <a:spcBef>
                <a:spcPts val="664"/>
              </a:spcBef>
            </a:pPr>
            <a:r>
              <a:rPr sz="2180" dirty="0">
                <a:latin typeface="Arial" panose="020B0604020202020204" pitchFamily="34" charset="0"/>
                <a:cs typeface="Arial" panose="020B0604020202020204" pitchFamily="34" charset="0"/>
              </a:rPr>
              <a:t>We first need to create a data base as follows: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93595" y="2078998"/>
            <a:ext cx="7156229" cy="1986271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162327" rIns="0" bIns="0" rtlCol="0">
            <a:spAutoFit/>
          </a:bodyPr>
          <a:lstStyle/>
          <a:p>
            <a:pPr marL="278102" marR="2603587">
              <a:lnSpc>
                <a:spcPct val="101499"/>
              </a:lnSpc>
              <a:spcBef>
                <a:spcPts val="1278"/>
              </a:spcBef>
              <a:tabLst>
                <a:tab pos="1023063" algn="l"/>
                <a:tab pos="1589333" algn="l"/>
              </a:tabLst>
            </a:pPr>
            <a:r>
              <a:rPr sz="1784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  |	</a:t>
            </a:r>
            <a:r>
              <a:rPr sz="1784" dirty="0">
                <a:solidFill>
                  <a:srgbClr val="C41F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</a:t>
            </a:r>
            <a:r>
              <a:rPr sz="1784" dirty="0">
                <a:latin typeface="Arial" panose="020B0604020202020204" pitchFamily="34" charset="0"/>
                <a:cs typeface="Arial" panose="020B0604020202020204" pitchFamily="34" charset="0"/>
              </a:rPr>
              <a:t>DATABASE </a:t>
            </a:r>
            <a:r>
              <a:rPr lang="en-GB" sz="1784" dirty="0" err="1">
                <a:latin typeface="Arial" panose="020B0604020202020204" pitchFamily="34" charset="0"/>
                <a:cs typeface="Arial" panose="020B0604020202020204" pitchFamily="34" charset="0"/>
              </a:rPr>
              <a:t>room_booking</a:t>
            </a:r>
            <a:endParaRPr lang="en-US" sz="1784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8102" marR="2603587">
              <a:lnSpc>
                <a:spcPct val="101499"/>
              </a:lnSpc>
              <a:spcBef>
                <a:spcPts val="1278"/>
              </a:spcBef>
              <a:tabLst>
                <a:tab pos="1023063" algn="l"/>
                <a:tab pos="1589333" algn="l"/>
              </a:tabLst>
            </a:pPr>
            <a:r>
              <a:rPr sz="1784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  |		</a:t>
            </a:r>
            <a:r>
              <a:rPr sz="1784" dirty="0"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</a:p>
          <a:p>
            <a:pPr marL="276844">
              <a:spcBef>
                <a:spcPts val="30"/>
              </a:spcBef>
              <a:tabLst>
                <a:tab pos="634223" algn="l"/>
                <a:tab pos="1590592" algn="l"/>
              </a:tabLst>
            </a:pPr>
            <a:r>
              <a:rPr lang="en-US" sz="1784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 </a:t>
            </a:r>
            <a:r>
              <a:rPr sz="1784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	</a:t>
            </a:r>
            <a:r>
              <a:rPr sz="1784" dirty="0">
                <a:latin typeface="Arial" panose="020B0604020202020204" pitchFamily="34" charset="0"/>
                <a:cs typeface="Arial" panose="020B0604020202020204" pitchFamily="34" charset="0"/>
              </a:rPr>
              <a:t>OWNER =  </a:t>
            </a:r>
            <a:r>
              <a:rPr lang="en-US" sz="1784" dirty="0" err="1">
                <a:latin typeface="Arial" panose="020B0604020202020204" pitchFamily="34" charset="0"/>
                <a:cs typeface="Arial" panose="020B0604020202020204" pitchFamily="34" charset="0"/>
              </a:rPr>
              <a:t>cs_staff</a:t>
            </a:r>
            <a:endParaRPr sz="1784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6844">
              <a:spcBef>
                <a:spcPts val="40"/>
              </a:spcBef>
              <a:tabLst>
                <a:tab pos="634223" algn="l"/>
                <a:tab pos="1591850" algn="l"/>
              </a:tabLst>
            </a:pPr>
            <a:r>
              <a:rPr lang="en-US" sz="1784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 </a:t>
            </a:r>
            <a:r>
              <a:rPr sz="1784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	</a:t>
            </a:r>
            <a:r>
              <a:rPr sz="1784" dirty="0">
                <a:latin typeface="Arial" panose="020B0604020202020204" pitchFamily="34" charset="0"/>
                <a:cs typeface="Arial" panose="020B0604020202020204" pitchFamily="34" charset="0"/>
              </a:rPr>
              <a:t>ENCODING   =   </a:t>
            </a:r>
            <a:r>
              <a:rPr sz="1784" dirty="0">
                <a:solidFill>
                  <a:srgbClr val="009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'UTF8</a:t>
            </a:r>
            <a:r>
              <a:rPr lang="en-US" sz="1784" dirty="0">
                <a:solidFill>
                  <a:srgbClr val="009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</a:t>
            </a:r>
            <a:endParaRPr sz="1784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6844">
              <a:spcBef>
                <a:spcPts val="30"/>
              </a:spcBef>
              <a:tabLst>
                <a:tab pos="634223" algn="l"/>
                <a:tab pos="1593108" algn="l"/>
              </a:tabLst>
            </a:pPr>
            <a:r>
              <a:rPr lang="en-US" sz="1784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05 </a:t>
            </a:r>
            <a:r>
              <a:rPr sz="1784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	</a:t>
            </a:r>
            <a:r>
              <a:rPr sz="1784" dirty="0">
                <a:solidFill>
                  <a:srgbClr val="C41F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CONNECTION  LIMIT  </a:t>
            </a:r>
            <a:r>
              <a:rPr sz="1784" dirty="0">
                <a:latin typeface="Arial" panose="020B0604020202020204" pitchFamily="34" charset="0"/>
                <a:cs typeface="Arial" panose="020B0604020202020204" pitchFamily="34" charset="0"/>
              </a:rPr>
              <a:t>=   -1;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68429" y="4000848"/>
            <a:ext cx="10861571" cy="335347"/>
          </a:xfrm>
          <a:prstGeom prst="rect">
            <a:avLst/>
          </a:prstGeom>
        </p:spPr>
        <p:txBody>
          <a:bodyPr vert="horz" wrap="square" lIns="0" tIns="13842" rIns="0" bIns="0" rtlCol="0">
            <a:spAutoFit/>
          </a:bodyPr>
          <a:lstStyle/>
          <a:p>
            <a:pPr marL="25168" marR="10067">
              <a:lnSpc>
                <a:spcPct val="102600"/>
              </a:lnSpc>
              <a:spcBef>
                <a:spcPts val="109"/>
              </a:spcBef>
            </a:pPr>
            <a:r>
              <a:rPr sz="2180" dirty="0">
                <a:latin typeface="Arial" panose="020B0604020202020204" pitchFamily="34" charset="0"/>
                <a:cs typeface="Arial" panose="020B0604020202020204" pitchFamily="34" charset="0"/>
              </a:rPr>
              <a:t>We can now connect to our new database with our new user  as follows: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93595" y="4817066"/>
            <a:ext cx="7156229" cy="443557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167360" rIns="0" bIns="0" rtlCol="0">
            <a:spAutoFit/>
          </a:bodyPr>
          <a:lstStyle/>
          <a:p>
            <a:pPr marL="278102">
              <a:spcBef>
                <a:spcPts val="1318"/>
              </a:spcBef>
              <a:tabLst>
                <a:tab pos="1014252" algn="l"/>
              </a:tabLst>
            </a:pPr>
            <a:r>
              <a:rPr sz="1784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  |	</a:t>
            </a:r>
            <a:r>
              <a:rPr sz="1784" dirty="0">
                <a:latin typeface="Arial" panose="020B0604020202020204" pitchFamily="34" charset="0"/>
                <a:cs typeface="Arial" panose="020B0604020202020204" pitchFamily="34" charset="0"/>
              </a:rPr>
              <a:t>\ c   </a:t>
            </a:r>
            <a:r>
              <a:rPr lang="en-GB" sz="1784" dirty="0" err="1">
                <a:latin typeface="Arial" panose="020B0604020202020204" pitchFamily="34" charset="0"/>
                <a:cs typeface="Arial" panose="020B0604020202020204" pitchFamily="34" charset="0"/>
              </a:rPr>
              <a:t>room_booking</a:t>
            </a:r>
            <a:r>
              <a:rPr lang="en-US" sz="1784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sz="1784" dirty="0" err="1">
                <a:latin typeface="Arial" panose="020B0604020202020204" pitchFamily="34" charset="0"/>
                <a:cs typeface="Arial" panose="020B0604020202020204" pitchFamily="34" charset="0"/>
              </a:rPr>
              <a:t>cs_staff</a:t>
            </a:r>
            <a:endParaRPr sz="1784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EA1240E-7AE0-069C-D850-EC0E9D2DD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8119" y="1636733"/>
            <a:ext cx="3534035" cy="2289440"/>
          </a:xfrm>
          <a:prstGeom prst="rect">
            <a:avLst/>
          </a:prstGeom>
        </p:spPr>
      </p:pic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8" grpId="0"/>
      <p:bldP spid="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886" y="48293"/>
            <a:ext cx="5280044" cy="461219"/>
          </a:xfrm>
          <a:prstGeom prst="rect">
            <a:avLst/>
          </a:prstGeom>
        </p:spPr>
        <p:txBody>
          <a:bodyPr vert="horz" wrap="square" lIns="0" tIns="33975" rIns="0" bIns="0" rtlCol="0" anchor="ctr">
            <a:spAutoFit/>
          </a:bodyPr>
          <a:lstStyle/>
          <a:p>
            <a:pPr marL="25168">
              <a:lnSpc>
                <a:spcPct val="100000"/>
              </a:lnSpc>
              <a:spcBef>
                <a:spcPts val="268"/>
              </a:spcBef>
            </a:pPr>
            <a:r>
              <a:rPr lang="en-US" sz="2774" spc="-69" dirty="0">
                <a:solidFill>
                  <a:srgbClr val="3333B2"/>
                </a:solidFill>
              </a:rPr>
              <a:t>Creating</a:t>
            </a:r>
            <a:r>
              <a:rPr lang="en-US" sz="2774" spc="-20" dirty="0">
                <a:solidFill>
                  <a:srgbClr val="3333B2"/>
                </a:solidFill>
              </a:rPr>
              <a:t> </a:t>
            </a:r>
            <a:r>
              <a:rPr lang="en-US" sz="2774" spc="-129" dirty="0">
                <a:solidFill>
                  <a:srgbClr val="3333B2"/>
                </a:solidFill>
              </a:rPr>
              <a:t>a</a:t>
            </a:r>
            <a:r>
              <a:rPr lang="en-US" sz="2774" dirty="0">
                <a:solidFill>
                  <a:srgbClr val="3333B2"/>
                </a:solidFill>
              </a:rPr>
              <a:t> </a:t>
            </a:r>
            <a:r>
              <a:rPr lang="en-US" sz="2774" spc="-89" dirty="0">
                <a:solidFill>
                  <a:srgbClr val="3333B2"/>
                </a:solidFill>
              </a:rPr>
              <a:t>Database (Example 2)</a:t>
            </a:r>
            <a:endParaRPr sz="2774" dirty="0"/>
          </a:p>
        </p:txBody>
      </p:sp>
      <p:sp>
        <p:nvSpPr>
          <p:cNvPr id="4" name="object 4"/>
          <p:cNvSpPr txBox="1"/>
          <p:nvPr/>
        </p:nvSpPr>
        <p:spPr>
          <a:xfrm>
            <a:off x="568428" y="846571"/>
            <a:ext cx="11153672" cy="1130308"/>
          </a:xfrm>
          <a:prstGeom prst="rect">
            <a:avLst/>
          </a:prstGeom>
        </p:spPr>
        <p:txBody>
          <a:bodyPr vert="horz" wrap="square" lIns="0" tIns="13842" rIns="0" bIns="0" rtlCol="0">
            <a:spAutoFit/>
          </a:bodyPr>
          <a:lstStyle/>
          <a:p>
            <a:pPr marL="25168" marR="10067">
              <a:lnSpc>
                <a:spcPct val="102600"/>
              </a:lnSpc>
              <a:spcBef>
                <a:spcPts val="109"/>
              </a:spcBef>
            </a:pPr>
            <a:r>
              <a:rPr sz="2180" dirty="0">
                <a:latin typeface="Arial" panose="020B0604020202020204" pitchFamily="34" charset="0"/>
                <a:cs typeface="Arial" panose="020B0604020202020204" pitchFamily="34" charset="0"/>
              </a:rPr>
              <a:t>We cannot grant database specific permissions to our new  user if we  don’t have a database that we  want them to use.</a:t>
            </a:r>
          </a:p>
          <a:p>
            <a:pPr marL="25168">
              <a:spcBef>
                <a:spcPts val="664"/>
              </a:spcBef>
            </a:pPr>
            <a:r>
              <a:rPr sz="2180" dirty="0">
                <a:latin typeface="Arial" panose="020B0604020202020204" pitchFamily="34" charset="0"/>
                <a:cs typeface="Arial" panose="020B0604020202020204" pitchFamily="34" charset="0"/>
              </a:rPr>
              <a:t>We first need to create a data base as follows: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93595" y="2078998"/>
            <a:ext cx="7156229" cy="1708951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162327" rIns="0" bIns="0" rtlCol="0">
            <a:spAutoFit/>
          </a:bodyPr>
          <a:lstStyle/>
          <a:p>
            <a:pPr marL="278102" marR="2603587">
              <a:lnSpc>
                <a:spcPct val="101499"/>
              </a:lnSpc>
              <a:spcBef>
                <a:spcPts val="1278"/>
              </a:spcBef>
              <a:tabLst>
                <a:tab pos="1023063" algn="l"/>
                <a:tab pos="1589333" algn="l"/>
              </a:tabLst>
            </a:pPr>
            <a:r>
              <a:rPr sz="1784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  |	</a:t>
            </a:r>
            <a:r>
              <a:rPr sz="1784" dirty="0">
                <a:solidFill>
                  <a:srgbClr val="C41F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</a:t>
            </a:r>
            <a:r>
              <a:rPr sz="1784" dirty="0">
                <a:latin typeface="Arial" panose="020B0604020202020204" pitchFamily="34" charset="0"/>
                <a:cs typeface="Arial" panose="020B0604020202020204" pitchFamily="34" charset="0"/>
              </a:rPr>
              <a:t>DATABASE </a:t>
            </a:r>
            <a:r>
              <a:rPr sz="1784" dirty="0" err="1">
                <a:latin typeface="Arial" panose="020B0604020202020204" pitchFamily="34" charset="0"/>
                <a:cs typeface="Arial" panose="020B0604020202020204" pitchFamily="34" charset="0"/>
              </a:rPr>
              <a:t>todo_list</a:t>
            </a:r>
            <a:r>
              <a:rPr sz="1784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endParaRPr lang="en-US" sz="1784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8102" marR="2603587">
              <a:lnSpc>
                <a:spcPct val="101499"/>
              </a:lnSpc>
              <a:spcBef>
                <a:spcPts val="1278"/>
              </a:spcBef>
              <a:tabLst>
                <a:tab pos="1023063" algn="l"/>
                <a:tab pos="1589333" algn="l"/>
              </a:tabLst>
            </a:pPr>
            <a:r>
              <a:rPr sz="1784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  |		</a:t>
            </a:r>
            <a:r>
              <a:rPr sz="1784" dirty="0"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</a:p>
          <a:p>
            <a:pPr marL="276844">
              <a:spcBef>
                <a:spcPts val="30"/>
              </a:spcBef>
              <a:tabLst>
                <a:tab pos="634223" algn="l"/>
                <a:tab pos="1590592" algn="l"/>
              </a:tabLst>
            </a:pPr>
            <a:r>
              <a:rPr lang="en-US" sz="1784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 </a:t>
            </a:r>
            <a:r>
              <a:rPr sz="1784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	</a:t>
            </a:r>
            <a:r>
              <a:rPr sz="1784" dirty="0">
                <a:latin typeface="Arial" panose="020B0604020202020204" pitchFamily="34" charset="0"/>
                <a:cs typeface="Arial" panose="020B0604020202020204" pitchFamily="34" charset="0"/>
              </a:rPr>
              <a:t>OWNER =  testuser</a:t>
            </a:r>
          </a:p>
          <a:p>
            <a:pPr marL="276844">
              <a:spcBef>
                <a:spcPts val="40"/>
              </a:spcBef>
              <a:tabLst>
                <a:tab pos="634223" algn="l"/>
                <a:tab pos="1591850" algn="l"/>
              </a:tabLst>
            </a:pPr>
            <a:r>
              <a:rPr lang="en-US" sz="1784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 </a:t>
            </a:r>
            <a:r>
              <a:rPr sz="1784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	</a:t>
            </a:r>
            <a:r>
              <a:rPr sz="1784" dirty="0">
                <a:latin typeface="Arial" panose="020B0604020202020204" pitchFamily="34" charset="0"/>
                <a:cs typeface="Arial" panose="020B0604020202020204" pitchFamily="34" charset="0"/>
              </a:rPr>
              <a:t>ENCODING   =   </a:t>
            </a:r>
            <a:r>
              <a:rPr sz="1784" dirty="0">
                <a:solidFill>
                  <a:srgbClr val="009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'UTF8</a:t>
            </a:r>
            <a:r>
              <a:rPr lang="en-US" sz="1784" dirty="0">
                <a:solidFill>
                  <a:srgbClr val="009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</a:t>
            </a:r>
            <a:endParaRPr sz="1784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6844">
              <a:spcBef>
                <a:spcPts val="30"/>
              </a:spcBef>
              <a:tabLst>
                <a:tab pos="634223" algn="l"/>
                <a:tab pos="1593108" algn="l"/>
              </a:tabLst>
            </a:pPr>
            <a:r>
              <a:rPr lang="en-US" sz="1784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05 </a:t>
            </a:r>
            <a:r>
              <a:rPr sz="1784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	</a:t>
            </a:r>
            <a:r>
              <a:rPr sz="1784" dirty="0">
                <a:solidFill>
                  <a:srgbClr val="C41F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CONNECTION  LIMIT  </a:t>
            </a:r>
            <a:r>
              <a:rPr sz="1784" dirty="0">
                <a:latin typeface="Arial" panose="020B0604020202020204" pitchFamily="34" charset="0"/>
                <a:cs typeface="Arial" panose="020B0604020202020204" pitchFamily="34" charset="0"/>
              </a:rPr>
              <a:t>=   -1;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68429" y="4000848"/>
            <a:ext cx="10861571" cy="335347"/>
          </a:xfrm>
          <a:prstGeom prst="rect">
            <a:avLst/>
          </a:prstGeom>
        </p:spPr>
        <p:txBody>
          <a:bodyPr vert="horz" wrap="square" lIns="0" tIns="13842" rIns="0" bIns="0" rtlCol="0">
            <a:spAutoFit/>
          </a:bodyPr>
          <a:lstStyle/>
          <a:p>
            <a:pPr marL="25168" marR="10067">
              <a:lnSpc>
                <a:spcPct val="102600"/>
              </a:lnSpc>
              <a:spcBef>
                <a:spcPts val="109"/>
              </a:spcBef>
            </a:pPr>
            <a:r>
              <a:rPr sz="2180" dirty="0">
                <a:latin typeface="Arial" panose="020B0604020202020204" pitchFamily="34" charset="0"/>
                <a:cs typeface="Arial" panose="020B0604020202020204" pitchFamily="34" charset="0"/>
              </a:rPr>
              <a:t>We can now connect to our new database with our new user  as follows: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93595" y="4817066"/>
            <a:ext cx="7156229" cy="443557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167360" rIns="0" bIns="0" rtlCol="0">
            <a:spAutoFit/>
          </a:bodyPr>
          <a:lstStyle/>
          <a:p>
            <a:pPr marL="278102">
              <a:spcBef>
                <a:spcPts val="1318"/>
              </a:spcBef>
              <a:tabLst>
                <a:tab pos="1014252" algn="l"/>
              </a:tabLst>
            </a:pPr>
            <a:r>
              <a:rPr sz="1784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  |	</a:t>
            </a:r>
            <a:r>
              <a:rPr sz="1784" dirty="0">
                <a:latin typeface="Arial" panose="020B0604020202020204" pitchFamily="34" charset="0"/>
                <a:cs typeface="Arial" panose="020B0604020202020204" pitchFamily="34" charset="0"/>
              </a:rPr>
              <a:t>\ c   todo_list    testuser</a:t>
            </a:r>
            <a:endParaRPr sz="1784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8BD6F73-A689-1F08-1794-5D44B16E0D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191" r="12011"/>
          <a:stretch/>
        </p:blipFill>
        <p:spPr>
          <a:xfrm>
            <a:off x="9355316" y="1354922"/>
            <a:ext cx="2289656" cy="2536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571733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8" grpId="0"/>
      <p:bldP spid="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920" y="74813"/>
            <a:ext cx="4512977" cy="461219"/>
          </a:xfrm>
          <a:prstGeom prst="rect">
            <a:avLst/>
          </a:prstGeom>
        </p:spPr>
        <p:txBody>
          <a:bodyPr vert="horz" wrap="square" lIns="0" tIns="33975" rIns="0" bIns="0" rtlCol="0" anchor="ctr">
            <a:spAutoFit/>
          </a:bodyPr>
          <a:lstStyle/>
          <a:p>
            <a:pPr marL="25168">
              <a:lnSpc>
                <a:spcPct val="100000"/>
              </a:lnSpc>
              <a:spcBef>
                <a:spcPts val="268"/>
              </a:spcBef>
            </a:pPr>
            <a:r>
              <a:rPr sz="2774" spc="-69" dirty="0">
                <a:solidFill>
                  <a:srgbClr val="3333B2"/>
                </a:solidFill>
              </a:rPr>
              <a:t>Creating</a:t>
            </a:r>
            <a:r>
              <a:rPr sz="2774" spc="-10" dirty="0">
                <a:solidFill>
                  <a:srgbClr val="3333B2"/>
                </a:solidFill>
              </a:rPr>
              <a:t> </a:t>
            </a:r>
            <a:r>
              <a:rPr sz="2774" spc="-129" dirty="0">
                <a:solidFill>
                  <a:srgbClr val="3333B2"/>
                </a:solidFill>
              </a:rPr>
              <a:t>a</a:t>
            </a:r>
            <a:r>
              <a:rPr sz="2774" spc="10" dirty="0">
                <a:solidFill>
                  <a:srgbClr val="3333B2"/>
                </a:solidFill>
              </a:rPr>
              <a:t> </a:t>
            </a:r>
            <a:r>
              <a:rPr sz="2774" spc="-89" dirty="0">
                <a:solidFill>
                  <a:srgbClr val="3333B2"/>
                </a:solidFill>
              </a:rPr>
              <a:t>Table</a:t>
            </a:r>
            <a:r>
              <a:rPr lang="en-US" sz="2774" spc="-89" dirty="0">
                <a:solidFill>
                  <a:srgbClr val="3333B2"/>
                </a:solidFill>
              </a:rPr>
              <a:t> (Example 1)</a:t>
            </a:r>
            <a:endParaRPr sz="2774" dirty="0"/>
          </a:p>
        </p:txBody>
      </p:sp>
      <p:sp>
        <p:nvSpPr>
          <p:cNvPr id="4" name="object 4"/>
          <p:cNvSpPr txBox="1"/>
          <p:nvPr/>
        </p:nvSpPr>
        <p:spPr>
          <a:xfrm>
            <a:off x="530328" y="711528"/>
            <a:ext cx="11306071" cy="680891"/>
          </a:xfrm>
          <a:prstGeom prst="rect">
            <a:avLst/>
          </a:prstGeom>
        </p:spPr>
        <p:txBody>
          <a:bodyPr vert="horz" wrap="square" lIns="0" tIns="13842" rIns="0" bIns="0" rtlCol="0">
            <a:spAutoFit/>
          </a:bodyPr>
          <a:lstStyle/>
          <a:p>
            <a:pPr marL="25168" marR="10067">
              <a:lnSpc>
                <a:spcPct val="102600"/>
              </a:lnSpc>
              <a:spcBef>
                <a:spcPts val="109"/>
              </a:spcBef>
            </a:pPr>
            <a:r>
              <a:rPr sz="2180" dirty="0">
                <a:latin typeface="Arial" panose="020B0604020202020204" pitchFamily="34" charset="0"/>
                <a:cs typeface="Arial" panose="020B0604020202020204" pitchFamily="34" charset="0"/>
              </a:rPr>
              <a:t>To create a table we use the SQL command shown below.  We’ll discuss this command in more detail in the next couple  of slides: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129CE38-2588-FDB6-7BBC-152B33E38C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0798" y="1636733"/>
            <a:ext cx="3534035" cy="228944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79534BC-9FBE-29C4-4BE8-E16DD08807E2}"/>
              </a:ext>
            </a:extLst>
          </p:cNvPr>
          <p:cNvSpPr txBox="1"/>
          <p:nvPr/>
        </p:nvSpPr>
        <p:spPr>
          <a:xfrm>
            <a:off x="229124" y="6073723"/>
            <a:ext cx="5503430" cy="64633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case of permission denied error,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GRANT CREATE ON SCHEMA public TO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cs_staff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en-A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94A1D00-8173-B0B9-F366-6F4103D9FACA}"/>
              </a:ext>
            </a:extLst>
          </p:cNvPr>
          <p:cNvSpPr txBox="1"/>
          <p:nvPr/>
        </p:nvSpPr>
        <p:spPr>
          <a:xfrm>
            <a:off x="305685" y="1732426"/>
            <a:ext cx="4766045" cy="304698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CREATE TABLE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public.room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room_id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text NOT NULL,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room_name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text,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room_capacity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integer,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room_zoom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text,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PRIMARY KEY (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room_id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  <a:endParaRPr lang="en-AE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EF671114-3E90-3BEA-BE67-41A0649046FC}"/>
              </a:ext>
            </a:extLst>
          </p:cNvPr>
          <p:cNvGraphicFramePr>
            <a:graphicFrameLocks noGrp="1"/>
          </p:cNvGraphicFramePr>
          <p:nvPr/>
        </p:nvGraphicFramePr>
        <p:xfrm>
          <a:off x="5593547" y="4368061"/>
          <a:ext cx="6558329" cy="140335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408500">
                  <a:extLst>
                    <a:ext uri="{9D8B030D-6E8A-4147-A177-3AD203B41FA5}">
                      <a16:colId xmlns:a16="http://schemas.microsoft.com/office/drawing/2014/main" val="24799750"/>
                    </a:ext>
                  </a:extLst>
                </a:gridCol>
                <a:gridCol w="1518540">
                  <a:extLst>
                    <a:ext uri="{9D8B030D-6E8A-4147-A177-3AD203B41FA5}">
                      <a16:colId xmlns:a16="http://schemas.microsoft.com/office/drawing/2014/main" val="913602148"/>
                    </a:ext>
                  </a:extLst>
                </a:gridCol>
                <a:gridCol w="1848656">
                  <a:extLst>
                    <a:ext uri="{9D8B030D-6E8A-4147-A177-3AD203B41FA5}">
                      <a16:colId xmlns:a16="http://schemas.microsoft.com/office/drawing/2014/main" val="1701674353"/>
                    </a:ext>
                  </a:extLst>
                </a:gridCol>
                <a:gridCol w="1782633">
                  <a:extLst>
                    <a:ext uri="{9D8B030D-6E8A-4147-A177-3AD203B41FA5}">
                      <a16:colId xmlns:a16="http://schemas.microsoft.com/office/drawing/2014/main" val="1771681626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 dirty="0" err="1">
                          <a:effectLst/>
                        </a:rPr>
                        <a:t>room_id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>
                          <a:effectLst/>
                        </a:rPr>
                        <a:t>room_name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 dirty="0" err="1">
                          <a:effectLst/>
                        </a:rPr>
                        <a:t>room_capacity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 dirty="0" err="1">
                          <a:effectLst/>
                        </a:rPr>
                        <a:t>room_zoom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969526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>
                          <a:effectLst/>
                        </a:rPr>
                        <a:t>G0210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 dirty="0">
                          <a:effectLst/>
                        </a:rPr>
                        <a:t>Seminar Room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800" u="none" strike="noStrike">
                          <a:effectLst/>
                        </a:rPr>
                        <a:t>50</a:t>
                      </a:r>
                      <a:endParaRPr lang="en-AE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 dirty="0">
                          <a:effectLst/>
                        </a:rPr>
                        <a:t>yes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92132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 dirty="0">
                          <a:effectLst/>
                        </a:rPr>
                        <a:t>E1236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>
                          <a:effectLst/>
                        </a:rPr>
                        <a:t>Lab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800" u="none" strike="noStrike" dirty="0">
                          <a:effectLst/>
                        </a:rPr>
                        <a:t>40</a:t>
                      </a:r>
                      <a:endParaRPr lang="en-A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>
                          <a:effectLst/>
                        </a:rPr>
                        <a:t>no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341695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>
                          <a:effectLst/>
                        </a:rPr>
                        <a:t>G0205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>
                          <a:effectLst/>
                        </a:rPr>
                        <a:t>auditorium</a:t>
                      </a:r>
                      <a:endParaRPr lang="en-GB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800" u="none" strike="noStrike">
                          <a:effectLst/>
                        </a:rPr>
                        <a:t>100</a:t>
                      </a:r>
                      <a:endParaRPr lang="en-AE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u="none" strike="noStrike" dirty="0">
                          <a:effectLst/>
                        </a:rPr>
                        <a:t>Yes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833130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…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…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…</a:t>
                      </a:r>
                      <a:endParaRPr lang="en-A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…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8789650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BF5FA644-38F3-B5DD-AE53-213CD413FDDD}"/>
              </a:ext>
            </a:extLst>
          </p:cNvPr>
          <p:cNvSpPr txBox="1"/>
          <p:nvPr/>
        </p:nvSpPr>
        <p:spPr>
          <a:xfrm>
            <a:off x="5593546" y="3985821"/>
            <a:ext cx="6558329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Room</a:t>
            </a:r>
            <a:endParaRPr lang="en-AE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9B97F1A-D8AC-BC0C-265A-9B40FE12556D}"/>
              </a:ext>
            </a:extLst>
          </p:cNvPr>
          <p:cNvCxnSpPr/>
          <p:nvPr/>
        </p:nvCxnSpPr>
        <p:spPr>
          <a:xfrm flipV="1">
            <a:off x="6272069" y="5924425"/>
            <a:ext cx="0" cy="2877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FAAC4CA2-84E0-1953-2F6D-B06ADABA7981}"/>
              </a:ext>
            </a:extLst>
          </p:cNvPr>
          <p:cNvSpPr txBox="1"/>
          <p:nvPr/>
        </p:nvSpPr>
        <p:spPr>
          <a:xfrm>
            <a:off x="5998019" y="6236296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  <a:endParaRPr lang="en-A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6FC80F4-7E63-D6CE-63DD-BC6AD94CF0FB}"/>
              </a:ext>
            </a:extLst>
          </p:cNvPr>
          <p:cNvCxnSpPr/>
          <p:nvPr/>
        </p:nvCxnSpPr>
        <p:spPr>
          <a:xfrm flipV="1">
            <a:off x="7796069" y="5900352"/>
            <a:ext cx="0" cy="2877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004083B-C206-3A7A-7A9C-B0286F13E530}"/>
              </a:ext>
            </a:extLst>
          </p:cNvPr>
          <p:cNvSpPr txBox="1"/>
          <p:nvPr/>
        </p:nvSpPr>
        <p:spPr>
          <a:xfrm>
            <a:off x="7522019" y="6212223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  <a:endParaRPr lang="en-A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F15A27E-E23F-CFB5-53A8-CC8BB25E9F77}"/>
              </a:ext>
            </a:extLst>
          </p:cNvPr>
          <p:cNvCxnSpPr/>
          <p:nvPr/>
        </p:nvCxnSpPr>
        <p:spPr>
          <a:xfrm flipV="1">
            <a:off x="11311903" y="5900352"/>
            <a:ext cx="0" cy="2877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552A87B0-BE6B-10E1-BD60-D16FDCB3AF24}"/>
              </a:ext>
            </a:extLst>
          </p:cNvPr>
          <p:cNvSpPr txBox="1"/>
          <p:nvPr/>
        </p:nvSpPr>
        <p:spPr>
          <a:xfrm>
            <a:off x="11037853" y="6212223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  <a:endParaRPr lang="en-A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A774E5C-1DD2-C2CF-1037-D0DA82484A6C}"/>
              </a:ext>
            </a:extLst>
          </p:cNvPr>
          <p:cNvCxnSpPr/>
          <p:nvPr/>
        </p:nvCxnSpPr>
        <p:spPr>
          <a:xfrm flipV="1">
            <a:off x="9447660" y="5756453"/>
            <a:ext cx="0" cy="2877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5C31672D-CF49-C7BE-1396-EDD2FAB3D868}"/>
              </a:ext>
            </a:extLst>
          </p:cNvPr>
          <p:cNvSpPr txBox="1"/>
          <p:nvPr/>
        </p:nvSpPr>
        <p:spPr>
          <a:xfrm>
            <a:off x="9157587" y="6068324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integer</a:t>
            </a:r>
            <a:endParaRPr lang="en-A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921" y="74813"/>
            <a:ext cx="4736260" cy="461219"/>
          </a:xfrm>
          <a:prstGeom prst="rect">
            <a:avLst/>
          </a:prstGeom>
        </p:spPr>
        <p:txBody>
          <a:bodyPr vert="horz" wrap="square" lIns="0" tIns="33975" rIns="0" bIns="0" rtlCol="0" anchor="ctr">
            <a:spAutoFit/>
          </a:bodyPr>
          <a:lstStyle/>
          <a:p>
            <a:pPr marL="25168">
              <a:lnSpc>
                <a:spcPct val="100000"/>
              </a:lnSpc>
              <a:spcBef>
                <a:spcPts val="268"/>
              </a:spcBef>
            </a:pPr>
            <a:r>
              <a:rPr lang="en-US" sz="2774" spc="-69" dirty="0">
                <a:solidFill>
                  <a:srgbClr val="3333B2"/>
                </a:solidFill>
              </a:rPr>
              <a:t>Creating</a:t>
            </a:r>
            <a:r>
              <a:rPr lang="en-US" sz="2774" spc="-10" dirty="0">
                <a:solidFill>
                  <a:srgbClr val="3333B2"/>
                </a:solidFill>
              </a:rPr>
              <a:t> </a:t>
            </a:r>
            <a:r>
              <a:rPr lang="en-US" sz="2774" spc="-129" dirty="0">
                <a:solidFill>
                  <a:srgbClr val="3333B2"/>
                </a:solidFill>
              </a:rPr>
              <a:t>a</a:t>
            </a:r>
            <a:r>
              <a:rPr lang="en-US" sz="2774" spc="10" dirty="0">
                <a:solidFill>
                  <a:srgbClr val="3333B2"/>
                </a:solidFill>
              </a:rPr>
              <a:t> </a:t>
            </a:r>
            <a:r>
              <a:rPr lang="en-US" sz="2774" spc="-89" dirty="0">
                <a:solidFill>
                  <a:srgbClr val="3333B2"/>
                </a:solidFill>
              </a:rPr>
              <a:t>Table (Example 2)</a:t>
            </a:r>
            <a:endParaRPr sz="2774" dirty="0"/>
          </a:p>
        </p:txBody>
      </p:sp>
      <p:sp>
        <p:nvSpPr>
          <p:cNvPr id="4" name="object 4"/>
          <p:cNvSpPr txBox="1"/>
          <p:nvPr/>
        </p:nvSpPr>
        <p:spPr>
          <a:xfrm>
            <a:off x="530328" y="711528"/>
            <a:ext cx="11306071" cy="680891"/>
          </a:xfrm>
          <a:prstGeom prst="rect">
            <a:avLst/>
          </a:prstGeom>
        </p:spPr>
        <p:txBody>
          <a:bodyPr vert="horz" wrap="square" lIns="0" tIns="13842" rIns="0" bIns="0" rtlCol="0">
            <a:spAutoFit/>
          </a:bodyPr>
          <a:lstStyle/>
          <a:p>
            <a:pPr marL="25168" marR="10067">
              <a:lnSpc>
                <a:spcPct val="102600"/>
              </a:lnSpc>
              <a:spcBef>
                <a:spcPts val="109"/>
              </a:spcBef>
            </a:pPr>
            <a:r>
              <a:rPr sz="2180" dirty="0">
                <a:latin typeface="Arial" panose="020B0604020202020204" pitchFamily="34" charset="0"/>
                <a:cs typeface="Arial" panose="020B0604020202020204" pitchFamily="34" charset="0"/>
              </a:rPr>
              <a:t>To create a table we use the SQL command shown below.  We’ll discuss this command in more detail in the next couple  of slides: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D375E89-3DC8-C1BE-A388-4757AE92F7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2949" y="1424410"/>
            <a:ext cx="3000613" cy="33164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3E387D0-EFA5-5FFF-0B5D-BCE9C5ABA19D}"/>
              </a:ext>
            </a:extLst>
          </p:cNvPr>
          <p:cNvSpPr txBox="1"/>
          <p:nvPr/>
        </p:nvSpPr>
        <p:spPr>
          <a:xfrm>
            <a:off x="530329" y="1670293"/>
            <a:ext cx="3701430" cy="28931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CREATE TABLE </a:t>
            </a:r>
            <a:r>
              <a:rPr lang="en-GB" sz="1400" dirty="0" err="1">
                <a:latin typeface="Arial" panose="020B0604020202020204" pitchFamily="34" charset="0"/>
                <a:cs typeface="Arial" panose="020B0604020202020204" pitchFamily="34" charset="0"/>
              </a:rPr>
              <a:t>public.todo_item</a:t>
            </a:r>
            <a:endParaRPr lang="en-GB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(    </a:t>
            </a:r>
          </a:p>
          <a:p>
            <a:pPr lvl="1"/>
            <a:r>
              <a:rPr lang="en-GB" sz="1400" dirty="0" err="1">
                <a:latin typeface="Arial" panose="020B0604020202020204" pitchFamily="34" charset="0"/>
                <a:cs typeface="Arial" panose="020B0604020202020204" pitchFamily="34" charset="0"/>
              </a:rPr>
              <a:t>todo_item_id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 integer NOT NULL,    </a:t>
            </a:r>
          </a:p>
          <a:p>
            <a:pPr lvl="1"/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description text,    </a:t>
            </a:r>
          </a:p>
          <a:p>
            <a:pPr lvl="1"/>
            <a:r>
              <a:rPr lang="en-GB" sz="1400" dirty="0" err="1">
                <a:latin typeface="Arial" panose="020B0604020202020204" pitchFamily="34" charset="0"/>
                <a:cs typeface="Arial" panose="020B0604020202020204" pitchFamily="34" charset="0"/>
              </a:rPr>
              <a:t>owner_id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 integer,    </a:t>
            </a:r>
          </a:p>
          <a:p>
            <a:pPr lvl="1"/>
            <a:r>
              <a:rPr lang="en-GB" sz="1400" dirty="0" err="1">
                <a:latin typeface="Arial" panose="020B0604020202020204" pitchFamily="34" charset="0"/>
                <a:cs typeface="Arial" panose="020B0604020202020204" pitchFamily="34" charset="0"/>
              </a:rPr>
              <a:t>priority_id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 integer,   </a:t>
            </a:r>
          </a:p>
          <a:p>
            <a:pPr lvl="1"/>
            <a:r>
              <a:rPr lang="en-GB" sz="1400" dirty="0" err="1">
                <a:latin typeface="Arial" panose="020B0604020202020204" pitchFamily="34" charset="0"/>
                <a:cs typeface="Arial" panose="020B0604020202020204" pitchFamily="34" charset="0"/>
              </a:rPr>
              <a:t>context_id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 integer,    </a:t>
            </a:r>
          </a:p>
          <a:p>
            <a:pPr lvl="1"/>
            <a:r>
              <a:rPr lang="en-GB" sz="1400" dirty="0" err="1">
                <a:latin typeface="Arial" panose="020B0604020202020204" pitchFamily="34" charset="0"/>
                <a:cs typeface="Arial" panose="020B0604020202020204" pitchFamily="34" charset="0"/>
              </a:rPr>
              <a:t>status_id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 integer,    </a:t>
            </a:r>
          </a:p>
          <a:p>
            <a:pPr lvl="1"/>
            <a:r>
              <a:rPr lang="en-GB" sz="1400" dirty="0" err="1">
                <a:latin typeface="Arial" panose="020B0604020202020204" pitchFamily="34" charset="0"/>
                <a:cs typeface="Arial" panose="020B0604020202020204" pitchFamily="34" charset="0"/>
              </a:rPr>
              <a:t>project_id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 integer,    </a:t>
            </a:r>
          </a:p>
          <a:p>
            <a:pPr lvl="1"/>
            <a:r>
              <a:rPr lang="en-GB" sz="1400" dirty="0" err="1">
                <a:latin typeface="Arial" panose="020B0604020202020204" pitchFamily="34" charset="0"/>
                <a:cs typeface="Arial" panose="020B0604020202020204" pitchFamily="34" charset="0"/>
              </a:rPr>
              <a:t>due_date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 date,    </a:t>
            </a:r>
          </a:p>
          <a:p>
            <a:pPr lvl="1"/>
            <a:r>
              <a:rPr lang="en-GB" sz="1400" dirty="0" err="1">
                <a:latin typeface="Arial" panose="020B0604020202020204" pitchFamily="34" charset="0"/>
                <a:cs typeface="Arial" panose="020B0604020202020204" pitchFamily="34" charset="0"/>
              </a:rPr>
              <a:t>completion_date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 date,    </a:t>
            </a:r>
          </a:p>
          <a:p>
            <a:pPr lvl="1"/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PRIMARY KEY (</a:t>
            </a:r>
            <a:r>
              <a:rPr lang="en-GB" sz="1400" dirty="0" err="1">
                <a:latin typeface="Arial" panose="020B0604020202020204" pitchFamily="34" charset="0"/>
                <a:cs typeface="Arial" panose="020B0604020202020204" pitchFamily="34" charset="0"/>
              </a:rPr>
              <a:t>todo_item_id</a:t>
            </a:r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  <a:endParaRPr lang="en-AE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9EAD024-0C08-1F25-0E86-9226B8C7D1E0}"/>
              </a:ext>
            </a:extLst>
          </p:cNvPr>
          <p:cNvCxnSpPr>
            <a:cxnSpLocks/>
          </p:cNvCxnSpPr>
          <p:nvPr/>
        </p:nvCxnSpPr>
        <p:spPr>
          <a:xfrm flipV="1">
            <a:off x="1489727" y="5561853"/>
            <a:ext cx="0" cy="2877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58EAD28-6C6E-9C71-8F93-993D4C90208F}"/>
              </a:ext>
            </a:extLst>
          </p:cNvPr>
          <p:cNvCxnSpPr/>
          <p:nvPr/>
        </p:nvCxnSpPr>
        <p:spPr>
          <a:xfrm flipV="1">
            <a:off x="2739677" y="5551054"/>
            <a:ext cx="0" cy="2877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B55FC47-91C9-00D3-2789-555475C34E6C}"/>
              </a:ext>
            </a:extLst>
          </p:cNvPr>
          <p:cNvSpPr txBox="1"/>
          <p:nvPr/>
        </p:nvSpPr>
        <p:spPr>
          <a:xfrm>
            <a:off x="2451860" y="5825578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  <a:endParaRPr lang="en-A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FB59712-3444-1F2C-76AE-53B24203716F}"/>
              </a:ext>
            </a:extLst>
          </p:cNvPr>
          <p:cNvCxnSpPr/>
          <p:nvPr/>
        </p:nvCxnSpPr>
        <p:spPr>
          <a:xfrm flipV="1">
            <a:off x="6529561" y="5537780"/>
            <a:ext cx="0" cy="2877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2309070-EE1C-C44F-3CE6-8A69E042715C}"/>
              </a:ext>
            </a:extLst>
          </p:cNvPr>
          <p:cNvCxnSpPr/>
          <p:nvPr/>
        </p:nvCxnSpPr>
        <p:spPr>
          <a:xfrm flipV="1">
            <a:off x="4002228" y="5574468"/>
            <a:ext cx="0" cy="2877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F3C99EC-00B5-7515-9E99-9BBAA196F098}"/>
              </a:ext>
            </a:extLst>
          </p:cNvPr>
          <p:cNvSpPr txBox="1"/>
          <p:nvPr/>
        </p:nvSpPr>
        <p:spPr>
          <a:xfrm>
            <a:off x="1088087" y="5797335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integer</a:t>
            </a:r>
            <a:endParaRPr lang="en-A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B11CA48-3A24-2BFA-1898-67634EFB31EE}"/>
              </a:ext>
            </a:extLst>
          </p:cNvPr>
          <p:cNvGraphicFramePr>
            <a:graphicFrameLocks noGrp="1"/>
          </p:cNvGraphicFramePr>
          <p:nvPr/>
        </p:nvGraphicFramePr>
        <p:xfrm>
          <a:off x="848394" y="5042996"/>
          <a:ext cx="10435545" cy="802640"/>
        </p:xfrm>
        <a:graphic>
          <a:graphicData uri="http://schemas.openxmlformats.org/drawingml/2006/table">
            <a:tbl>
              <a:tblPr/>
              <a:tblGrid>
                <a:gridCol w="1245794">
                  <a:extLst>
                    <a:ext uri="{9D8B030D-6E8A-4147-A177-3AD203B41FA5}">
                      <a16:colId xmlns:a16="http://schemas.microsoft.com/office/drawing/2014/main" val="3656217153"/>
                    </a:ext>
                  </a:extLst>
                </a:gridCol>
                <a:gridCol w="1116361">
                  <a:extLst>
                    <a:ext uri="{9D8B030D-6E8A-4147-A177-3AD203B41FA5}">
                      <a16:colId xmlns:a16="http://schemas.microsoft.com/office/drawing/2014/main" val="1089592592"/>
                    </a:ext>
                  </a:extLst>
                </a:gridCol>
                <a:gridCol w="1359048">
                  <a:extLst>
                    <a:ext uri="{9D8B030D-6E8A-4147-A177-3AD203B41FA5}">
                      <a16:colId xmlns:a16="http://schemas.microsoft.com/office/drawing/2014/main" val="491885477"/>
                    </a:ext>
                  </a:extLst>
                </a:gridCol>
                <a:gridCol w="1310510">
                  <a:extLst>
                    <a:ext uri="{9D8B030D-6E8A-4147-A177-3AD203B41FA5}">
                      <a16:colId xmlns:a16="http://schemas.microsoft.com/office/drawing/2014/main" val="2434579698"/>
                    </a:ext>
                  </a:extLst>
                </a:gridCol>
                <a:gridCol w="1051644">
                  <a:extLst>
                    <a:ext uri="{9D8B030D-6E8A-4147-A177-3AD203B41FA5}">
                      <a16:colId xmlns:a16="http://schemas.microsoft.com/office/drawing/2014/main" val="3079265944"/>
                    </a:ext>
                  </a:extLst>
                </a:gridCol>
                <a:gridCol w="776598">
                  <a:extLst>
                    <a:ext uri="{9D8B030D-6E8A-4147-A177-3AD203B41FA5}">
                      <a16:colId xmlns:a16="http://schemas.microsoft.com/office/drawing/2014/main" val="2884098340"/>
                    </a:ext>
                  </a:extLst>
                </a:gridCol>
                <a:gridCol w="970748">
                  <a:extLst>
                    <a:ext uri="{9D8B030D-6E8A-4147-A177-3AD203B41FA5}">
                      <a16:colId xmlns:a16="http://schemas.microsoft.com/office/drawing/2014/main" val="3795600335"/>
                    </a:ext>
                  </a:extLst>
                </a:gridCol>
                <a:gridCol w="1035465">
                  <a:extLst>
                    <a:ext uri="{9D8B030D-6E8A-4147-A177-3AD203B41FA5}">
                      <a16:colId xmlns:a16="http://schemas.microsoft.com/office/drawing/2014/main" val="4069925390"/>
                    </a:ext>
                  </a:extLst>
                </a:gridCol>
                <a:gridCol w="1569377">
                  <a:extLst>
                    <a:ext uri="{9D8B030D-6E8A-4147-A177-3AD203B41FA5}">
                      <a16:colId xmlns:a16="http://schemas.microsoft.com/office/drawing/2014/main" val="953792314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todo_item_id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description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owner_id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priority_id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context_id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status_id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project_id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due_date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completion_date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22245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598243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813600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4980008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BA2C9CE6-982A-9865-382C-374D4B7B1573}"/>
              </a:ext>
            </a:extLst>
          </p:cNvPr>
          <p:cNvSpPr txBox="1"/>
          <p:nvPr/>
        </p:nvSpPr>
        <p:spPr>
          <a:xfrm>
            <a:off x="3577336" y="5838852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integer</a:t>
            </a:r>
            <a:endParaRPr lang="en-A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4CF1B9-3E22-DD9F-3104-5C77665C914C}"/>
              </a:ext>
            </a:extLst>
          </p:cNvPr>
          <p:cNvSpPr txBox="1"/>
          <p:nvPr/>
        </p:nvSpPr>
        <p:spPr>
          <a:xfrm>
            <a:off x="4773336" y="5829651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integer</a:t>
            </a:r>
            <a:endParaRPr lang="en-A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00BB26B-9178-FD7D-D087-BBDA0BF907E8}"/>
              </a:ext>
            </a:extLst>
          </p:cNvPr>
          <p:cNvCxnSpPr/>
          <p:nvPr/>
        </p:nvCxnSpPr>
        <p:spPr>
          <a:xfrm flipV="1">
            <a:off x="5198228" y="5590909"/>
            <a:ext cx="0" cy="2877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66B29EE-86C1-0F6A-B81B-C28EF2EAC750}"/>
              </a:ext>
            </a:extLst>
          </p:cNvPr>
          <p:cNvSpPr txBox="1"/>
          <p:nvPr/>
        </p:nvSpPr>
        <p:spPr>
          <a:xfrm>
            <a:off x="6055973" y="5818137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integer</a:t>
            </a:r>
            <a:endParaRPr lang="en-A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E8C1646-C8E4-2DA7-4822-0F03BBE3E62E}"/>
              </a:ext>
            </a:extLst>
          </p:cNvPr>
          <p:cNvSpPr txBox="1"/>
          <p:nvPr/>
        </p:nvSpPr>
        <p:spPr>
          <a:xfrm>
            <a:off x="6884442" y="5824028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integer</a:t>
            </a:r>
            <a:endParaRPr lang="en-A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E8B5E0C-DA71-4FC6-5FD6-286F0E77BB8D}"/>
              </a:ext>
            </a:extLst>
          </p:cNvPr>
          <p:cNvSpPr txBox="1"/>
          <p:nvPr/>
        </p:nvSpPr>
        <p:spPr>
          <a:xfrm>
            <a:off x="7762066" y="5819759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integer</a:t>
            </a:r>
            <a:endParaRPr lang="en-A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AE667E6-88F1-7B15-E6F8-C75B0C540F5E}"/>
              </a:ext>
            </a:extLst>
          </p:cNvPr>
          <p:cNvSpPr txBox="1"/>
          <p:nvPr/>
        </p:nvSpPr>
        <p:spPr>
          <a:xfrm>
            <a:off x="8823715" y="5816088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date</a:t>
            </a:r>
            <a:endParaRPr lang="en-A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0FCF76D-B6FA-A89B-1856-5242C2955286}"/>
              </a:ext>
            </a:extLst>
          </p:cNvPr>
          <p:cNvSpPr txBox="1"/>
          <p:nvPr/>
        </p:nvSpPr>
        <p:spPr>
          <a:xfrm>
            <a:off x="9808927" y="5834745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date</a:t>
            </a:r>
            <a:endParaRPr lang="en-A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BC3FF4F-48A2-B725-9516-E49A2FAB56AA}"/>
              </a:ext>
            </a:extLst>
          </p:cNvPr>
          <p:cNvCxnSpPr/>
          <p:nvPr/>
        </p:nvCxnSpPr>
        <p:spPr>
          <a:xfrm flipV="1">
            <a:off x="7309334" y="5551054"/>
            <a:ext cx="0" cy="2877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F47BE63-824D-6BBA-34E0-50C994177A5C}"/>
              </a:ext>
            </a:extLst>
          </p:cNvPr>
          <p:cNvCxnSpPr/>
          <p:nvPr/>
        </p:nvCxnSpPr>
        <p:spPr>
          <a:xfrm flipV="1">
            <a:off x="8183467" y="5537780"/>
            <a:ext cx="0" cy="2877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9B8EC97-A67B-CF36-C14F-C83859F6EC11}"/>
              </a:ext>
            </a:extLst>
          </p:cNvPr>
          <p:cNvCxnSpPr/>
          <p:nvPr/>
        </p:nvCxnSpPr>
        <p:spPr>
          <a:xfrm flipV="1">
            <a:off x="9154574" y="5551054"/>
            <a:ext cx="0" cy="2877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AA84A70-A395-D863-3701-52129CD07FA6}"/>
              </a:ext>
            </a:extLst>
          </p:cNvPr>
          <p:cNvCxnSpPr/>
          <p:nvPr/>
        </p:nvCxnSpPr>
        <p:spPr>
          <a:xfrm flipV="1">
            <a:off x="10125680" y="5561903"/>
            <a:ext cx="0" cy="2877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EDCFA22-5623-1AA5-EC8D-3D7E87B965E2}"/>
              </a:ext>
            </a:extLst>
          </p:cNvPr>
          <p:cNvSpPr txBox="1"/>
          <p:nvPr/>
        </p:nvSpPr>
        <p:spPr>
          <a:xfrm>
            <a:off x="484235" y="4572207"/>
            <a:ext cx="10435545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todo_item</a:t>
            </a:r>
            <a:endParaRPr lang="en-AE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5977689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325240" y="967234"/>
            <a:ext cx="11541520" cy="5283818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3842" rIns="0" bIns="0" rtlCol="0">
            <a:spAutoFit/>
          </a:bodyPr>
          <a:lstStyle/>
          <a:p>
            <a:pPr marL="912946" marR="663166" indent="-342900">
              <a:lnSpc>
                <a:spcPct val="102699"/>
              </a:lnSpc>
              <a:spcBef>
                <a:spcPts val="109"/>
              </a:spcBef>
              <a:buFont typeface="Arial" panose="020B0604020202020204" pitchFamily="34" charset="0"/>
              <a:buChar char="•"/>
            </a:pPr>
            <a:r>
              <a:rPr b="0" dirty="0"/>
              <a:t>In PostgreSQL we can organise tables within a Database  according to </a:t>
            </a:r>
            <a:r>
              <a:rPr b="0" i="1" dirty="0">
                <a:latin typeface="Arial"/>
                <a:cs typeface="Arial"/>
              </a:rPr>
              <a:t>schemas</a:t>
            </a:r>
            <a:r>
              <a:rPr b="0" dirty="0"/>
              <a:t>.</a:t>
            </a:r>
            <a:endParaRPr lang="en-US" b="0" dirty="0"/>
          </a:p>
          <a:p>
            <a:pPr marL="912946" marR="663166" indent="-342900">
              <a:lnSpc>
                <a:spcPct val="102699"/>
              </a:lnSpc>
              <a:spcBef>
                <a:spcPts val="109"/>
              </a:spcBef>
              <a:buFont typeface="Arial" panose="020B0604020202020204" pitchFamily="34" charset="0"/>
              <a:buChar char="•"/>
            </a:pPr>
            <a:endParaRPr b="0" dirty="0"/>
          </a:p>
          <a:p>
            <a:pPr marL="912946" indent="-342900">
              <a:lnSpc>
                <a:spcPct val="100000"/>
              </a:lnSpc>
              <a:spcBef>
                <a:spcPts val="662"/>
              </a:spcBef>
              <a:buFont typeface="Arial" panose="020B0604020202020204" pitchFamily="34" charset="0"/>
              <a:buChar char="•"/>
            </a:pPr>
            <a:r>
              <a:rPr b="0" dirty="0"/>
              <a:t>A schema allows us more control over access to a Database.</a:t>
            </a:r>
          </a:p>
          <a:p>
            <a:pPr marL="1370146" marR="10067" lvl="1" indent="-342900">
              <a:lnSpc>
                <a:spcPct val="102600"/>
              </a:lnSpc>
              <a:spcBef>
                <a:spcPts val="585"/>
              </a:spcBef>
              <a:buFont typeface="Arial" panose="020B0604020202020204" pitchFamily="34" charset="0"/>
              <a:buChar char="•"/>
            </a:pPr>
            <a:r>
              <a:rPr b="0" dirty="0"/>
              <a:t>For example we can have a schema setup for management and  another for employees.</a:t>
            </a:r>
            <a:endParaRPr lang="en-CA" b="0" dirty="0"/>
          </a:p>
          <a:p>
            <a:pPr marL="1370146" marR="10067" lvl="1" indent="-342900">
              <a:lnSpc>
                <a:spcPct val="102600"/>
              </a:lnSpc>
              <a:spcBef>
                <a:spcPts val="585"/>
              </a:spcBef>
              <a:buFont typeface="Arial" panose="020B0604020202020204" pitchFamily="34" charset="0"/>
              <a:buChar char="•"/>
            </a:pPr>
            <a:endParaRPr b="0" dirty="0"/>
          </a:p>
          <a:p>
            <a:pPr marL="912946" marR="166106" indent="-342900">
              <a:lnSpc>
                <a:spcPct val="102600"/>
              </a:lnSpc>
              <a:spcBef>
                <a:spcPts val="595"/>
              </a:spcBef>
              <a:buFont typeface="Arial" panose="020B0604020202020204" pitchFamily="34" charset="0"/>
              <a:buChar char="•"/>
            </a:pPr>
            <a:r>
              <a:rPr b="0" dirty="0"/>
              <a:t>The </a:t>
            </a:r>
            <a:r>
              <a:rPr b="0" i="1" dirty="0">
                <a:latin typeface="Arial"/>
                <a:cs typeface="Arial"/>
              </a:rPr>
              <a:t>management </a:t>
            </a:r>
            <a:r>
              <a:rPr b="0" dirty="0"/>
              <a:t>schema could include more tables (e.g.  payroll information), while the </a:t>
            </a:r>
            <a:r>
              <a:rPr b="0" i="1" dirty="0">
                <a:latin typeface="Arial"/>
                <a:cs typeface="Arial"/>
              </a:rPr>
              <a:t>employee </a:t>
            </a:r>
            <a:r>
              <a:rPr b="0" dirty="0"/>
              <a:t>scheme would be  limited to tables the employees need for daily work only (e.g.  sales information).</a:t>
            </a:r>
            <a:endParaRPr lang="en-US" b="0" dirty="0"/>
          </a:p>
          <a:p>
            <a:pPr marL="912946" marR="166106" indent="-342900">
              <a:lnSpc>
                <a:spcPct val="102600"/>
              </a:lnSpc>
              <a:spcBef>
                <a:spcPts val="595"/>
              </a:spcBef>
              <a:buFont typeface="Arial" panose="020B0604020202020204" pitchFamily="34" charset="0"/>
              <a:buChar char="•"/>
            </a:pPr>
            <a:endParaRPr b="0" dirty="0"/>
          </a:p>
          <a:p>
            <a:pPr marL="912946" marR="184982" indent="-342900">
              <a:lnSpc>
                <a:spcPct val="102600"/>
              </a:lnSpc>
              <a:spcBef>
                <a:spcPts val="595"/>
              </a:spcBef>
              <a:buFont typeface="Arial" panose="020B0604020202020204" pitchFamily="34" charset="0"/>
              <a:buChar char="•"/>
            </a:pPr>
            <a:r>
              <a:rPr b="0" dirty="0"/>
              <a:t>In our example we are going to be using the default </a:t>
            </a:r>
            <a:r>
              <a:rPr b="0" i="1" dirty="0">
                <a:latin typeface="Arial"/>
                <a:cs typeface="Arial"/>
              </a:rPr>
              <a:t>public  </a:t>
            </a:r>
            <a:r>
              <a:rPr b="0" dirty="0"/>
              <a:t>schema, that includes all tables in a database, and is created  automatically when we  create a database.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35ED466-DD49-B570-59C5-90CF3F760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156" y="284597"/>
            <a:ext cx="11219688" cy="577340"/>
          </a:xfrm>
        </p:spPr>
        <p:txBody>
          <a:bodyPr/>
          <a:lstStyle/>
          <a:p>
            <a:r>
              <a:rPr lang="en-US" dirty="0"/>
              <a:t>Schemas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47622" y="1021032"/>
            <a:ext cx="11028293" cy="4533869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3842" rIns="0" bIns="0" rtlCol="0">
            <a:spAutoFit/>
          </a:bodyPr>
          <a:lstStyle/>
          <a:p>
            <a:pPr marL="368068" marR="125838" indent="-342900">
              <a:lnSpc>
                <a:spcPct val="102600"/>
              </a:lnSpc>
              <a:spcBef>
                <a:spcPts val="109"/>
              </a:spcBef>
              <a:buFont typeface="Arial" panose="020B0604020202020204" pitchFamily="34" charset="0"/>
              <a:buChar char="•"/>
            </a:pPr>
            <a:r>
              <a:rPr sz="2180" spc="10" dirty="0">
                <a:latin typeface="Arial" panose="020B0604020202020204" pitchFamily="34" charset="0"/>
                <a:cs typeface="Arial" panose="020B0604020202020204" pitchFamily="34" charset="0"/>
              </a:rPr>
              <a:t>Each table we create needs to define columns that store the  various attributes of one row in our table.</a:t>
            </a:r>
            <a:endParaRPr lang="en-US" sz="2180" spc="1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8068" marR="125838" indent="-342900">
              <a:lnSpc>
                <a:spcPct val="102600"/>
              </a:lnSpc>
              <a:spcBef>
                <a:spcPts val="109"/>
              </a:spcBef>
              <a:buFont typeface="Arial" panose="020B0604020202020204" pitchFamily="34" charset="0"/>
              <a:buChar char="•"/>
            </a:pPr>
            <a:endParaRPr sz="2180" spc="1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8068" marR="18876" indent="-342900">
              <a:lnSpc>
                <a:spcPct val="102600"/>
              </a:lnSpc>
              <a:spcBef>
                <a:spcPts val="595"/>
              </a:spcBef>
              <a:buFont typeface="Arial" panose="020B0604020202020204" pitchFamily="34" charset="0"/>
              <a:buChar char="•"/>
            </a:pPr>
            <a:r>
              <a:rPr sz="2180" spc="10" dirty="0">
                <a:latin typeface="Arial" panose="020B0604020202020204" pitchFamily="34" charset="0"/>
                <a:cs typeface="Arial" panose="020B0604020202020204" pitchFamily="34" charset="0"/>
              </a:rPr>
              <a:t>For example, we need to define what attributes (e.g.  description, due date etc.) we need to store per </a:t>
            </a:r>
            <a:r>
              <a:rPr sz="2180" spc="1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todo item </a:t>
            </a:r>
            <a:r>
              <a:rPr sz="2180" spc="10" dirty="0">
                <a:latin typeface="Arial" panose="020B0604020202020204" pitchFamily="34" charset="0"/>
                <a:cs typeface="Arial" panose="020B0604020202020204" pitchFamily="34" charset="0"/>
              </a:rPr>
              <a:t>in  our table.</a:t>
            </a:r>
            <a:endParaRPr lang="en-US" sz="2180" spc="1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8068" marR="18876" indent="-342900">
              <a:lnSpc>
                <a:spcPct val="102600"/>
              </a:lnSpc>
              <a:spcBef>
                <a:spcPts val="595"/>
              </a:spcBef>
              <a:buFont typeface="Arial" panose="020B0604020202020204" pitchFamily="34" charset="0"/>
              <a:buChar char="•"/>
            </a:pPr>
            <a:endParaRPr sz="2180" spc="1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8068" marR="10067" indent="-342900">
              <a:lnSpc>
                <a:spcPct val="102600"/>
              </a:lnSpc>
              <a:spcBef>
                <a:spcPts val="595"/>
              </a:spcBef>
              <a:buFont typeface="Arial" panose="020B0604020202020204" pitchFamily="34" charset="0"/>
              <a:buChar char="•"/>
            </a:pPr>
            <a:r>
              <a:rPr sz="2180" spc="10" dirty="0">
                <a:latin typeface="Arial" panose="020B0604020202020204" pitchFamily="34" charset="0"/>
                <a:cs typeface="Arial" panose="020B0604020202020204" pitchFamily="34" charset="0"/>
              </a:rPr>
              <a:t>Each column definition includes the name of the column, the  datatype, and a number of other optional parameters</a:t>
            </a:r>
            <a:endParaRPr lang="en-US" sz="2180" spc="1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8068" marR="10067" indent="-342900">
              <a:lnSpc>
                <a:spcPct val="102600"/>
              </a:lnSpc>
              <a:spcBef>
                <a:spcPts val="595"/>
              </a:spcBef>
              <a:buFont typeface="Arial" panose="020B0604020202020204" pitchFamily="34" charset="0"/>
              <a:buChar char="•"/>
            </a:pPr>
            <a:endParaRPr sz="2180" spc="1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8068" marR="154781" indent="-342900">
              <a:lnSpc>
                <a:spcPct val="102600"/>
              </a:lnSpc>
              <a:spcBef>
                <a:spcPts val="595"/>
              </a:spcBef>
              <a:buFont typeface="Arial" panose="020B0604020202020204" pitchFamily="34" charset="0"/>
              <a:buChar char="•"/>
            </a:pPr>
            <a:r>
              <a:rPr sz="2180" spc="10" dirty="0">
                <a:latin typeface="Arial" panose="020B0604020202020204" pitchFamily="34" charset="0"/>
                <a:cs typeface="Arial" panose="020B0604020202020204" pitchFamily="34" charset="0"/>
              </a:rPr>
              <a:t>The names of the column follow a similar set of rules to  naming variables in a language like Java, e.g. no spaces, no  special characters, cannot start with a number etc.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DA49834-18B9-16A7-451E-CAD3AA2A5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622" y="294555"/>
            <a:ext cx="11219688" cy="577340"/>
          </a:xfrm>
        </p:spPr>
        <p:txBody>
          <a:bodyPr/>
          <a:lstStyle/>
          <a:p>
            <a:r>
              <a:rPr lang="en-US" dirty="0"/>
              <a:t>Table Columns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/>
          <p:nvPr/>
        </p:nvSpPr>
        <p:spPr>
          <a:xfrm>
            <a:off x="4177621" y="3389436"/>
            <a:ext cx="83051" cy="0"/>
          </a:xfrm>
          <a:custGeom>
            <a:avLst/>
            <a:gdLst/>
            <a:ahLst/>
            <a:cxnLst/>
            <a:rect l="l" t="t" r="r" b="b"/>
            <a:pathLst>
              <a:path w="41909">
                <a:moveTo>
                  <a:pt x="0" y="0"/>
                </a:moveTo>
                <a:lnTo>
                  <a:pt x="41567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xfrm>
            <a:off x="169782" y="1204540"/>
            <a:ext cx="12022217" cy="3075139"/>
          </a:xfrm>
          <a:prstGeom prst="rect">
            <a:avLst/>
          </a:prstGeom>
        </p:spPr>
        <p:txBody>
          <a:bodyPr vert="horz" wrap="square" lIns="0" tIns="348109" rIns="0" bIns="0" rtlCol="0">
            <a:spAutoFit/>
          </a:bodyPr>
          <a:lstStyle/>
          <a:p>
            <a:pPr marL="570046" marR="10067">
              <a:lnSpc>
                <a:spcPct val="102600"/>
              </a:lnSpc>
              <a:spcBef>
                <a:spcPts val="109"/>
              </a:spcBef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Because we made </a:t>
            </a:r>
            <a:r>
              <a:rPr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testuser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the owner of </a:t>
            </a:r>
            <a:r>
              <a:rPr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todo</a:t>
            </a:r>
            <a:r>
              <a:rPr lang="en-US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_</a:t>
            </a:r>
            <a:r>
              <a:rPr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testuser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can  do almost everything we want with the </a:t>
            </a:r>
            <a:r>
              <a:rPr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todo</a:t>
            </a:r>
            <a:r>
              <a:rPr lang="en-US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_</a:t>
            </a:r>
            <a:r>
              <a:rPr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</a:t>
            </a:r>
            <a:r>
              <a:rPr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database.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0046" marR="10067">
              <a:lnSpc>
                <a:spcPct val="102600"/>
              </a:lnSpc>
              <a:spcBef>
                <a:spcPts val="109"/>
              </a:spcBef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0046" marR="109477">
              <a:lnSpc>
                <a:spcPct val="102600"/>
              </a:lnSpc>
              <a:spcBef>
                <a:spcPts val="595"/>
              </a:spcBef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We can </a:t>
            </a:r>
            <a:r>
              <a:rPr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GRANT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REVOKE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 more fine-grained permissions  using code similar to the examples below (assuming a table named </a:t>
            </a:r>
            <a:r>
              <a:rPr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todo</a:t>
            </a:r>
            <a:r>
              <a:rPr lang="en-US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_</a:t>
            </a:r>
            <a:r>
              <a:rPr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item</a:t>
            </a:r>
            <a:r>
              <a:rPr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exists):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125814" y="4448306"/>
            <a:ext cx="9096505" cy="709639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162327" rIns="0" bIns="0" rtlCol="0">
            <a:spAutoFit/>
          </a:bodyPr>
          <a:lstStyle/>
          <a:p>
            <a:pPr marL="634223" marR="753769" indent="-634223">
              <a:lnSpc>
                <a:spcPct val="101499"/>
              </a:lnSpc>
              <a:spcBef>
                <a:spcPts val="1278"/>
              </a:spcBef>
              <a:buAutoNum type="arabicPeriod"/>
              <a:tabLst>
                <a:tab pos="634223" algn="l"/>
                <a:tab pos="1023063" algn="l"/>
              </a:tabLst>
            </a:pPr>
            <a:r>
              <a:rPr sz="1784" dirty="0">
                <a:solidFill>
                  <a:srgbClr val="7F7F7F"/>
                </a:solidFill>
                <a:latin typeface="Calibri"/>
                <a:cs typeface="Calibri"/>
              </a:rPr>
              <a:t>|	</a:t>
            </a:r>
            <a:r>
              <a:rPr sz="1784" dirty="0">
                <a:solidFill>
                  <a:srgbClr val="C41F43"/>
                </a:solidFill>
                <a:latin typeface="Calibri"/>
                <a:cs typeface="Calibri"/>
              </a:rPr>
              <a:t>REVOKE    SELECT   ON   </a:t>
            </a:r>
            <a:r>
              <a:rPr sz="1784" dirty="0">
                <a:latin typeface="Calibri"/>
                <a:cs typeface="Calibri"/>
              </a:rPr>
              <a:t>public. todo_item    </a:t>
            </a:r>
            <a:r>
              <a:rPr sz="1784" dirty="0">
                <a:solidFill>
                  <a:srgbClr val="C41F43"/>
                </a:solidFill>
                <a:latin typeface="Calibri"/>
                <a:cs typeface="Calibri"/>
              </a:rPr>
              <a:t>FROM  </a:t>
            </a:r>
            <a:r>
              <a:rPr sz="1784" dirty="0">
                <a:latin typeface="Calibri"/>
                <a:cs typeface="Calibri"/>
              </a:rPr>
              <a:t>testuser;</a:t>
            </a:r>
          </a:p>
          <a:p>
            <a:pPr marL="634223" marR="1176585" indent="-634223">
              <a:lnSpc>
                <a:spcPct val="101499"/>
              </a:lnSpc>
              <a:buAutoNum type="arabicPeriod"/>
              <a:tabLst>
                <a:tab pos="634223" algn="l"/>
                <a:tab pos="1021804" algn="l"/>
              </a:tabLst>
            </a:pPr>
            <a:r>
              <a:rPr sz="1784" dirty="0">
                <a:solidFill>
                  <a:srgbClr val="7F7F7F"/>
                </a:solidFill>
                <a:latin typeface="Calibri"/>
                <a:cs typeface="Calibri"/>
              </a:rPr>
              <a:t>|	</a:t>
            </a:r>
            <a:r>
              <a:rPr sz="1784" dirty="0">
                <a:solidFill>
                  <a:srgbClr val="C41F43"/>
                </a:solidFill>
                <a:latin typeface="Calibri"/>
                <a:cs typeface="Calibri"/>
              </a:rPr>
              <a:t>GRANT    SELECT   ON   </a:t>
            </a:r>
            <a:r>
              <a:rPr sz="1784" dirty="0">
                <a:latin typeface="Calibri"/>
                <a:cs typeface="Calibri"/>
              </a:rPr>
              <a:t>public. todo_item   TO  testuser;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E6B5B8A-33F3-B28D-7297-F56AAAC94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up user permissions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5B01DF2-4C50-3DFC-C350-A828399DD78A}"/>
              </a:ext>
            </a:extLst>
          </p:cNvPr>
          <p:cNvSpPr txBox="1"/>
          <p:nvPr/>
        </p:nvSpPr>
        <p:spPr>
          <a:xfrm>
            <a:off x="486156" y="1700033"/>
            <a:ext cx="11219688" cy="3827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2946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Each column we add to a Table needs to have a Datatype.</a:t>
            </a:r>
          </a:p>
          <a:p>
            <a:pPr marL="912946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2946" marR="10067" indent="-342900">
              <a:lnSpc>
                <a:spcPct val="1026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 the same way we declare variables in Java as 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int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etc.  we need to define data types for the columns in our Tables.</a:t>
            </a:r>
          </a:p>
          <a:p>
            <a:pPr marL="912946" marR="10067" indent="-342900">
              <a:lnSpc>
                <a:spcPct val="1026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2946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example above has the 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integer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text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date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datatypes.</a:t>
            </a:r>
          </a:p>
          <a:p>
            <a:pPr marL="912946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2946" marR="346054" indent="-342900">
              <a:lnSpc>
                <a:spcPct val="1026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There are many more datatypes available in PostgreSQL so  please take some time to research what they are and when  they should be used.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90B9383-A14A-C43E-BF16-72F804A8D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156" y="397034"/>
            <a:ext cx="11219688" cy="577340"/>
          </a:xfrm>
        </p:spPr>
        <p:txBody>
          <a:bodyPr/>
          <a:lstStyle/>
          <a:p>
            <a:r>
              <a:rPr lang="en-US" dirty="0"/>
              <a:t>Data Types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 txBox="1"/>
          <p:nvPr/>
        </p:nvSpPr>
        <p:spPr>
          <a:xfrm>
            <a:off x="459271" y="1060724"/>
            <a:ext cx="11273458" cy="4736552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3842" rIns="0" bIns="0" rtlCol="0">
            <a:spAutoFit/>
          </a:bodyPr>
          <a:lstStyle/>
          <a:p>
            <a:pPr marL="25168" marR="283135">
              <a:lnSpc>
                <a:spcPct val="102600"/>
              </a:lnSpc>
              <a:spcBef>
                <a:spcPts val="109"/>
              </a:spcBef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In any database we  need to define various relationships and  constraints.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168" marR="283135">
              <a:lnSpc>
                <a:spcPct val="102600"/>
              </a:lnSpc>
              <a:spcBef>
                <a:spcPts val="109"/>
              </a:spcBef>
            </a:pP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168" marR="226508">
              <a:lnSpc>
                <a:spcPct val="102600"/>
              </a:lnSpc>
              <a:spcBef>
                <a:spcPts val="595"/>
              </a:spcBef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One of the main constraints we  will define is the </a:t>
            </a:r>
            <a:r>
              <a:rPr sz="2400" i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PRIMARY  KEY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constraint.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168" marR="226508">
              <a:lnSpc>
                <a:spcPct val="102600"/>
              </a:lnSpc>
              <a:spcBef>
                <a:spcPts val="595"/>
              </a:spcBef>
            </a:pP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168">
              <a:spcBef>
                <a:spcPts val="662"/>
              </a:spcBef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In the example about we  set the </a:t>
            </a:r>
            <a:r>
              <a:rPr sz="2400" i="1" dirty="0">
                <a:latin typeface="Arial" panose="020B0604020202020204" pitchFamily="34" charset="0"/>
                <a:cs typeface="Arial" panose="020B0604020202020204" pitchFamily="34" charset="0"/>
              </a:rPr>
              <a:t>todo item id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as the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i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PRIMARY KEY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for that table.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168">
              <a:spcBef>
                <a:spcPts val="662"/>
              </a:spcBef>
            </a:pP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168">
              <a:spcBef>
                <a:spcPts val="654"/>
              </a:spcBef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we also define that the </a:t>
            </a:r>
            <a:r>
              <a:rPr sz="2400" i="1" dirty="0">
                <a:latin typeface="Arial" panose="020B0604020202020204" pitchFamily="34" charset="0"/>
                <a:cs typeface="Arial" panose="020B0604020202020204" pitchFamily="34" charset="0"/>
              </a:rPr>
              <a:t>todo item id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cannot be null, using the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i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NULL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optional definition.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168">
              <a:spcBef>
                <a:spcPts val="654"/>
              </a:spcBef>
            </a:pP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168">
              <a:spcBef>
                <a:spcPts val="664"/>
              </a:spcBef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We need both of these definitions in place to ensure that our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i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PRIMARY KEY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constraint will work correctly.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A5FB6E4-05B1-1B6C-C80C-B8DF091B3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156" y="212980"/>
            <a:ext cx="11219688" cy="577340"/>
          </a:xfrm>
        </p:spPr>
        <p:txBody>
          <a:bodyPr/>
          <a:lstStyle/>
          <a:p>
            <a:r>
              <a:rPr lang="en-US" dirty="0"/>
              <a:t>Defining Constraints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14451-C67C-029E-F4BD-EC5F61849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Foreign Keys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E2B58-50ED-E8B6-C1EA-6A9DAB4B5B8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R="250416">
              <a:lnSpc>
                <a:spcPct val="150000"/>
              </a:lnSpc>
              <a:spcBef>
                <a:spcPts val="109"/>
              </a:spcBef>
            </a:pPr>
            <a:r>
              <a:rPr lang="en-GB" b="0" dirty="0"/>
              <a:t>The </a:t>
            </a:r>
            <a:r>
              <a:rPr lang="en-GB" b="0" i="1" dirty="0" err="1"/>
              <a:t>todo</a:t>
            </a:r>
            <a:r>
              <a:rPr lang="en-GB" b="0" i="1" dirty="0"/>
              <a:t> item </a:t>
            </a:r>
            <a:r>
              <a:rPr lang="en-GB" b="0" dirty="0"/>
              <a:t>table mostly contains ids that will link to primary  keys in other tables that we will still create. </a:t>
            </a:r>
          </a:p>
          <a:p>
            <a:pPr marR="250416">
              <a:lnSpc>
                <a:spcPct val="150000"/>
              </a:lnSpc>
              <a:spcBef>
                <a:spcPts val="109"/>
              </a:spcBef>
            </a:pPr>
            <a:endParaRPr lang="en-GB" b="0" dirty="0"/>
          </a:p>
          <a:p>
            <a:pPr marR="250416">
              <a:lnSpc>
                <a:spcPct val="150000"/>
              </a:lnSpc>
              <a:spcBef>
                <a:spcPts val="109"/>
              </a:spcBef>
            </a:pPr>
            <a:r>
              <a:rPr lang="en-GB" b="0" dirty="0"/>
              <a:t>This means for the  moment our data will mostly be a bunch of ids but we will look at  ways to link everything together in the upcoming weeks.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58792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93735-C962-ADC3-EA19-19B7F8AD3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Outline (This Week)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96B8A-647B-B47E-F855-6E113E9A3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941705"/>
            <a:ext cx="11089640" cy="4351338"/>
          </a:xfrm>
          <a:noFill/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2D3B45"/>
                </a:solidFill>
              </a:rPr>
              <a:t>PostgreSQL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2D3B45"/>
                </a:solidFill>
              </a:rPr>
              <a:t>Creating a Database and Tables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2D3B45"/>
                </a:solidFill>
              </a:rPr>
              <a:t>Basic SQL commands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B971209-E4DA-8F8A-7F13-24FD77CAF1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1067" y="437430"/>
            <a:ext cx="2556933" cy="2556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4B62AED4-2F36-0F24-22F2-FF1099D697A1}"/>
              </a:ext>
            </a:extLst>
          </p:cNvPr>
          <p:cNvSpPr/>
          <p:nvPr/>
        </p:nvSpPr>
        <p:spPr>
          <a:xfrm>
            <a:off x="381000" y="2852597"/>
            <a:ext cx="609600" cy="52955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6752469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16127" y="1318390"/>
            <a:ext cx="11339577" cy="4221219"/>
          </a:xfrm>
          <a:prstGeom prst="rect">
            <a:avLst/>
          </a:prstGeom>
        </p:spPr>
        <p:txBody>
          <a:bodyPr vert="horz" wrap="square" lIns="0" tIns="13842" rIns="0" bIns="0" rtlCol="0">
            <a:spAutoFit/>
          </a:bodyPr>
          <a:lstStyle/>
          <a:p>
            <a:pPr marL="482368" marR="17617" indent="-457200">
              <a:lnSpc>
                <a:spcPct val="102600"/>
              </a:lnSpc>
              <a:spcBef>
                <a:spcPts val="109"/>
              </a:spcBef>
              <a:buFont typeface="Arial" panose="020B0604020202020204" pitchFamily="34" charset="0"/>
              <a:buChar char="•"/>
            </a:pP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The basic actions we can perform on a table are Creating new  data, Reading existing data, Updating (or Editing) existing  data and, Deleting existing data.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82368" marR="17617" indent="-457200">
              <a:lnSpc>
                <a:spcPct val="102600"/>
              </a:lnSpc>
              <a:spcBef>
                <a:spcPts val="109"/>
              </a:spcBef>
              <a:buFont typeface="Arial" panose="020B0604020202020204" pitchFamily="34" charset="0"/>
              <a:buChar char="•"/>
            </a:pP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82368" marR="610314" indent="-457200">
              <a:lnSpc>
                <a:spcPct val="102600"/>
              </a:lnSpc>
              <a:spcBef>
                <a:spcPts val="595"/>
              </a:spcBef>
              <a:buFont typeface="Arial" panose="020B0604020202020204" pitchFamily="34" charset="0"/>
              <a:buChar char="•"/>
            </a:pP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These actions are known by the acronym </a:t>
            </a:r>
            <a:r>
              <a:rPr sz="28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CRUD (Create,  Read, Update, Delete)</a:t>
            </a:r>
            <a:endParaRPr lang="en-US" sz="28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82368" marR="610314" indent="-457200">
              <a:lnSpc>
                <a:spcPct val="102600"/>
              </a:lnSpc>
              <a:spcBef>
                <a:spcPts val="595"/>
              </a:spcBef>
              <a:buFont typeface="Arial" panose="020B0604020202020204" pitchFamily="34" charset="0"/>
              <a:buChar char="•"/>
            </a:pP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82368" marR="10067" indent="-457200">
              <a:lnSpc>
                <a:spcPct val="102600"/>
              </a:lnSpc>
              <a:spcBef>
                <a:spcPts val="595"/>
              </a:spcBef>
              <a:buFont typeface="Arial" panose="020B0604020202020204" pitchFamily="34" charset="0"/>
              <a:buChar char="•"/>
            </a:pP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In SQL these actions are performed by the INSERT, SELECT,  UPDATE and DELETE commands.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1C9D451-F5AC-4C5E-C46B-AFBBB2753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CRUD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436679" y="926011"/>
            <a:ext cx="11489432" cy="680891"/>
          </a:xfrm>
          <a:prstGeom prst="rect">
            <a:avLst/>
          </a:prstGeom>
        </p:spPr>
        <p:txBody>
          <a:bodyPr vert="horz" wrap="square" lIns="0" tIns="13842" rIns="0" bIns="0" rtlCol="0">
            <a:spAutoFit/>
          </a:bodyPr>
          <a:lstStyle/>
          <a:p>
            <a:pPr marL="25168" marR="10067">
              <a:lnSpc>
                <a:spcPct val="102600"/>
              </a:lnSpc>
              <a:spcBef>
                <a:spcPts val="109"/>
              </a:spcBef>
            </a:pPr>
            <a:r>
              <a:rPr sz="2180" dirty="0">
                <a:latin typeface="Arial" panose="020B0604020202020204" pitchFamily="34" charset="0"/>
                <a:cs typeface="Arial" panose="020B0604020202020204" pitchFamily="34" charset="0"/>
              </a:rPr>
              <a:t>To insert into a Table we need to specify the values that we  want to insert as a comma separated list in the same order  that the columns are organised in the table: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79555" y="3252912"/>
            <a:ext cx="10244290" cy="358348"/>
          </a:xfrm>
          <a:prstGeom prst="rect">
            <a:avLst/>
          </a:prstGeom>
        </p:spPr>
        <p:txBody>
          <a:bodyPr vert="horz" wrap="square" lIns="0" tIns="22650" rIns="0" bIns="0" rtlCol="0">
            <a:spAutoFit/>
          </a:bodyPr>
          <a:lstStyle/>
          <a:p>
            <a:pPr marL="25168">
              <a:spcBef>
                <a:spcPts val="178"/>
              </a:spcBef>
            </a:pPr>
            <a:r>
              <a:rPr sz="2180" dirty="0">
                <a:latin typeface="Arial" panose="020B0604020202020204" pitchFamily="34" charset="0"/>
                <a:cs typeface="Arial" panose="020B0604020202020204" pitchFamily="34" charset="0"/>
              </a:rPr>
              <a:t>We can also explicitly specify the column order to insert into: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F0725C9-B9C0-7D01-AB48-50A3BA4CC2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831" y="1693060"/>
            <a:ext cx="9843128" cy="138753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6198EFF-EEEE-D62D-21BF-F93390B01B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4585" y="3890867"/>
            <a:ext cx="8768480" cy="2139273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CA3F6BEB-C53D-37EA-D831-BAD9B33B4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51" y="311131"/>
            <a:ext cx="11219688" cy="577340"/>
          </a:xfrm>
        </p:spPr>
        <p:txBody>
          <a:bodyPr/>
          <a:lstStyle/>
          <a:p>
            <a:r>
              <a:rPr lang="en-US" dirty="0"/>
              <a:t>INSERT into a table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12816" y="967960"/>
            <a:ext cx="11225720" cy="1027588"/>
          </a:xfrm>
          <a:prstGeom prst="rect">
            <a:avLst/>
          </a:prstGeom>
        </p:spPr>
        <p:txBody>
          <a:bodyPr vert="horz" wrap="square" lIns="0" tIns="13842" rIns="0" bIns="0" rtlCol="0">
            <a:spAutoFit/>
          </a:bodyPr>
          <a:lstStyle/>
          <a:p>
            <a:pPr marL="25168" marR="10067">
              <a:lnSpc>
                <a:spcPct val="102600"/>
              </a:lnSpc>
              <a:spcBef>
                <a:spcPts val="109"/>
              </a:spcBef>
            </a:pPr>
            <a:r>
              <a:rPr sz="2180" dirty="0">
                <a:latin typeface="Arial" panose="020B0604020202020204" pitchFamily="34" charset="0"/>
                <a:cs typeface="Arial" panose="020B0604020202020204" pitchFamily="34" charset="0"/>
              </a:rPr>
              <a:t>To update data in a table, we need to define the table in  which we want to make the update, the column(s) that we  want to update, the new value we want use, and finally, </a:t>
            </a:r>
            <a:r>
              <a:rPr sz="2180" i="1" dirty="0">
                <a:latin typeface="Arial" panose="020B0604020202020204" pitchFamily="34" charset="0"/>
                <a:cs typeface="Arial" panose="020B0604020202020204" pitchFamily="34" charset="0"/>
              </a:rPr>
              <a:t>where  </a:t>
            </a:r>
            <a:r>
              <a:rPr sz="2180" dirty="0">
                <a:latin typeface="Arial" panose="020B0604020202020204" pitchFamily="34" charset="0"/>
                <a:cs typeface="Arial" panose="020B0604020202020204" pitchFamily="34" charset="0"/>
              </a:rPr>
              <a:t>in the table we want to make the update(s).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12816" y="3858865"/>
            <a:ext cx="11879184" cy="680891"/>
          </a:xfrm>
          <a:prstGeom prst="rect">
            <a:avLst/>
          </a:prstGeom>
        </p:spPr>
        <p:txBody>
          <a:bodyPr vert="horz" wrap="square" lIns="0" tIns="13842" rIns="0" bIns="0" rtlCol="0">
            <a:spAutoFit/>
          </a:bodyPr>
          <a:lstStyle/>
          <a:p>
            <a:pPr marL="25168" marR="10067">
              <a:lnSpc>
                <a:spcPct val="102600"/>
              </a:lnSpc>
              <a:spcBef>
                <a:spcPts val="109"/>
              </a:spcBef>
            </a:pPr>
            <a:r>
              <a:rPr sz="2180" dirty="0">
                <a:latin typeface="Arial" panose="020B0604020202020204" pitchFamily="34" charset="0"/>
                <a:cs typeface="Arial" panose="020B0604020202020204" pitchFamily="34" charset="0"/>
              </a:rPr>
              <a:t>In this example we are using a built-in SQL function named  </a:t>
            </a:r>
            <a:r>
              <a:rPr sz="2180" i="1" dirty="0">
                <a:latin typeface="Arial" panose="020B0604020202020204" pitchFamily="34" charset="0"/>
                <a:cs typeface="Arial" panose="020B0604020202020204" pitchFamily="34" charset="0"/>
              </a:rPr>
              <a:t>now </a:t>
            </a:r>
            <a:r>
              <a:rPr sz="2180" dirty="0">
                <a:latin typeface="Arial" panose="020B0604020202020204" pitchFamily="34" charset="0"/>
                <a:cs typeface="Arial" panose="020B0604020202020204" pitchFamily="34" charset="0"/>
              </a:rPr>
              <a:t>that returns the current date, but we could update a  column to any valid value: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88C3B8C-5B1A-E572-2D14-9777F1F21C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1568" y="2254783"/>
            <a:ext cx="6501901" cy="136390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3DAEC63-9637-2A10-96E7-8950CD333C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2545" y="4539756"/>
            <a:ext cx="7061623" cy="1350284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32B8DC3C-6A69-6F40-2A6F-141737A0C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156" y="270532"/>
            <a:ext cx="11219688" cy="577340"/>
          </a:xfrm>
        </p:spPr>
        <p:txBody>
          <a:bodyPr/>
          <a:lstStyle/>
          <a:p>
            <a:r>
              <a:rPr lang="en-US" dirty="0"/>
              <a:t>UPDATE exiting data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636793" y="1258609"/>
            <a:ext cx="10717007" cy="335347"/>
          </a:xfrm>
          <a:prstGeom prst="rect">
            <a:avLst/>
          </a:prstGeom>
        </p:spPr>
        <p:txBody>
          <a:bodyPr vert="horz" wrap="square" lIns="0" tIns="13842" rIns="0" bIns="0" rtlCol="0">
            <a:spAutoFit/>
          </a:bodyPr>
          <a:lstStyle/>
          <a:p>
            <a:pPr marL="25168" marR="10067">
              <a:lnSpc>
                <a:spcPct val="102600"/>
              </a:lnSpc>
              <a:spcBef>
                <a:spcPts val="109"/>
              </a:spcBef>
            </a:pPr>
            <a:r>
              <a:rPr sz="2180" dirty="0">
                <a:latin typeface="Arial" panose="020B0604020202020204" pitchFamily="34" charset="0"/>
                <a:cs typeface="Arial" panose="020B0604020202020204" pitchFamily="34" charset="0"/>
              </a:rPr>
              <a:t>When we want to read data from a Table we use the SELECT  command: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44899" y="2519606"/>
            <a:ext cx="11261756" cy="680891"/>
          </a:xfrm>
          <a:prstGeom prst="rect">
            <a:avLst/>
          </a:prstGeom>
        </p:spPr>
        <p:txBody>
          <a:bodyPr vert="horz" wrap="square" lIns="0" tIns="13842" rIns="0" bIns="0" rtlCol="0">
            <a:spAutoFit/>
          </a:bodyPr>
          <a:lstStyle/>
          <a:p>
            <a:pPr marL="25168" marR="10067">
              <a:lnSpc>
                <a:spcPct val="102600"/>
              </a:lnSpc>
              <a:spcBef>
                <a:spcPts val="109"/>
              </a:spcBef>
            </a:pPr>
            <a:r>
              <a:rPr sz="2180" dirty="0">
                <a:latin typeface="Arial" panose="020B0604020202020204" pitchFamily="34" charset="0"/>
                <a:cs typeface="Arial" panose="020B0604020202020204" pitchFamily="34" charset="0"/>
              </a:rPr>
              <a:t>In this example we are selecting all the columns and rows in a  table. To select a specific column we use: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44899" y="4169703"/>
            <a:ext cx="11047748" cy="335347"/>
          </a:xfrm>
          <a:prstGeom prst="rect">
            <a:avLst/>
          </a:prstGeom>
        </p:spPr>
        <p:txBody>
          <a:bodyPr vert="horz" wrap="square" lIns="0" tIns="13842" rIns="0" bIns="0" rtlCol="0">
            <a:spAutoFit/>
          </a:bodyPr>
          <a:lstStyle/>
          <a:p>
            <a:pPr marL="25168" marR="10067">
              <a:lnSpc>
                <a:spcPct val="102600"/>
              </a:lnSpc>
              <a:spcBef>
                <a:spcPts val="109"/>
              </a:spcBef>
            </a:pPr>
            <a:r>
              <a:rPr sz="2180" dirty="0">
                <a:latin typeface="Arial" panose="020B0604020202020204" pitchFamily="34" charset="0"/>
                <a:cs typeface="Arial" panose="020B0604020202020204" pitchFamily="34" charset="0"/>
              </a:rPr>
              <a:t>Finally to specify a specific row (or rows) we  use a WHERE  clause: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6072B19-35A2-2F10-35D4-36A6298876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878" y="1812812"/>
            <a:ext cx="5226319" cy="4826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1D2BAD3-3035-66DA-C029-FA96E6475D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878" y="3424666"/>
            <a:ext cx="6204269" cy="45722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F709B6F-C078-657B-D13B-DA2D27368A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59878" y="4595811"/>
            <a:ext cx="6826601" cy="71123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1FE078ED-394B-C00E-53F2-D1D3242E2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929" y="250892"/>
            <a:ext cx="11219688" cy="577340"/>
          </a:xfrm>
        </p:spPr>
        <p:txBody>
          <a:bodyPr/>
          <a:lstStyle/>
          <a:p>
            <a:r>
              <a:rPr lang="en-US" dirty="0"/>
              <a:t>SELECT from a table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1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484447" y="1068245"/>
            <a:ext cx="8781501" cy="335347"/>
          </a:xfrm>
          <a:prstGeom prst="rect">
            <a:avLst/>
          </a:prstGeom>
        </p:spPr>
        <p:txBody>
          <a:bodyPr vert="horz" wrap="square" lIns="0" tIns="13842" rIns="0" bIns="0" rtlCol="0">
            <a:spAutoFit/>
          </a:bodyPr>
          <a:lstStyle/>
          <a:p>
            <a:pPr marL="25168" marR="10067">
              <a:lnSpc>
                <a:spcPct val="102600"/>
              </a:lnSpc>
              <a:spcBef>
                <a:spcPts val="109"/>
              </a:spcBef>
            </a:pPr>
            <a:r>
              <a:rPr sz="2180" dirty="0">
                <a:latin typeface="Arial" panose="020B0604020202020204" pitchFamily="34" charset="0"/>
                <a:cs typeface="Arial" panose="020B0604020202020204" pitchFamily="34" charset="0"/>
              </a:rPr>
              <a:t>If we  want to delete data from a table we use the DELETE  command: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84447" y="3825769"/>
            <a:ext cx="10060563" cy="1461746"/>
          </a:xfrm>
          <a:prstGeom prst="rect">
            <a:avLst/>
          </a:prstGeom>
        </p:spPr>
        <p:txBody>
          <a:bodyPr vert="horz" wrap="square" lIns="0" tIns="13842" rIns="0" bIns="0" rtlCol="0">
            <a:spAutoFit/>
          </a:bodyPr>
          <a:lstStyle/>
          <a:p>
            <a:pPr marL="25168" marR="10067">
              <a:lnSpc>
                <a:spcPct val="102600"/>
              </a:lnSpc>
              <a:spcBef>
                <a:spcPts val="109"/>
              </a:spcBef>
            </a:pPr>
            <a:r>
              <a:rPr sz="2180" dirty="0">
                <a:latin typeface="Arial" panose="020B0604020202020204" pitchFamily="34" charset="0"/>
                <a:cs typeface="Arial" panose="020B0604020202020204" pitchFamily="34" charset="0"/>
              </a:rPr>
              <a:t>We don’t need to specify a column as we can only delete an  entire row.</a:t>
            </a:r>
            <a:endParaRPr lang="en-US" sz="218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168" marR="10067">
              <a:lnSpc>
                <a:spcPct val="102600"/>
              </a:lnSpc>
              <a:spcBef>
                <a:spcPts val="109"/>
              </a:spcBef>
            </a:pPr>
            <a:endParaRPr sz="218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168" marR="78020">
              <a:lnSpc>
                <a:spcPct val="102600"/>
              </a:lnSpc>
              <a:spcBef>
                <a:spcPts val="595"/>
              </a:spcBef>
            </a:pPr>
            <a:r>
              <a:rPr sz="2180" dirty="0">
                <a:latin typeface="Arial" panose="020B0604020202020204" pitchFamily="34" charset="0"/>
                <a:cs typeface="Arial" panose="020B0604020202020204" pitchFamily="34" charset="0"/>
              </a:rPr>
              <a:t>We’ve also define a specific WHERE clause that deletes all  items whose complete dates are older than a specified date.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13B1AF1-83BA-717E-1725-E7EA375266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447" y="1950657"/>
            <a:ext cx="10503667" cy="104354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F163F7F-63A9-7F46-7A69-9097A4E4A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156" y="276776"/>
            <a:ext cx="11219688" cy="577340"/>
          </a:xfrm>
        </p:spPr>
        <p:txBody>
          <a:bodyPr/>
          <a:lstStyle/>
          <a:p>
            <a:r>
              <a:rPr lang="en-US" dirty="0"/>
              <a:t>DELETE from a table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5EC15-3FF5-0A60-38B5-4D4EC3BA0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437430"/>
            <a:ext cx="11219688" cy="577340"/>
          </a:xfrm>
        </p:spPr>
        <p:txBody>
          <a:bodyPr anchor="ctr">
            <a:normAutofit/>
          </a:bodyPr>
          <a:lstStyle/>
          <a:p>
            <a:r>
              <a:rPr lang="en-US" sz="3400" dirty="0"/>
              <a:t>DELETING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5B53D1C-AD28-AC16-DB50-1F5BF02ECA4F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576072" y="1234823"/>
          <a:ext cx="11219688" cy="44883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4705576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38804-294A-6683-C62B-45E66740E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clause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49155-843B-9EBC-99FF-FD9882BF783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4000" dirty="0"/>
              <a:t>Note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b="0" dirty="0"/>
              <a:t>We’ve been using the WHERE clause to specify a specific column  (or columns) in various ways.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b="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b="0" dirty="0"/>
              <a:t>There are many more permutations  we can use to have fine-grained control over exactly which rows we  want to specify.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b="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b="0" dirty="0"/>
              <a:t>We will be looking at these in more detail in the  next two weeks, but please feel free to do some research regarding  the WHERE clause so long.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766237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DFA0D-8B90-F1DF-A346-5182D889D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Saving you 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7DC85F-F2D8-3A35-A92F-5B838B115BC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It might be a good idea to save the </a:t>
            </a:r>
            <a:r>
              <a:rPr lang="en-GB" dirty="0" err="1"/>
              <a:t>sql</a:t>
            </a:r>
            <a:r>
              <a:rPr lang="en-GB" dirty="0"/>
              <a:t> scripts you run in a text  file. </a:t>
            </a:r>
          </a:p>
          <a:p>
            <a:endParaRPr lang="en-GB" dirty="0"/>
          </a:p>
          <a:p>
            <a:r>
              <a:rPr lang="en-GB" dirty="0"/>
              <a:t>If a script runs successfully, copy and paste it into a file and  save it so that you can re-use it later. </a:t>
            </a:r>
          </a:p>
          <a:p>
            <a:endParaRPr lang="en-GB" dirty="0"/>
          </a:p>
          <a:p>
            <a:r>
              <a:rPr lang="en-GB" dirty="0"/>
              <a:t>We will look at running </a:t>
            </a:r>
            <a:r>
              <a:rPr lang="en-GB" dirty="0" err="1"/>
              <a:t>sql</a:t>
            </a:r>
            <a:r>
              <a:rPr lang="en-GB" dirty="0"/>
              <a:t>  scripts from a file in a later lecture.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126190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D2CC346-126C-1256-DD6E-7F0DB7D705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565" y="1636291"/>
            <a:ext cx="10462437" cy="48565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4BE0892-207E-7E6D-4E36-435CCAF2C4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8017" y="128588"/>
            <a:ext cx="2734329" cy="1271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24131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93735-C962-ADC3-EA19-19B7F8AD3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Summary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96B8A-647B-B47E-F855-6E113E9A3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72" y="1381918"/>
            <a:ext cx="11089640" cy="4351338"/>
          </a:xfrm>
          <a:noFill/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b="0" dirty="0">
                <a:solidFill>
                  <a:srgbClr val="2D3B45"/>
                </a:solidFill>
              </a:rPr>
              <a:t>PostgreSQL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b="0" dirty="0">
                <a:solidFill>
                  <a:srgbClr val="2D3B45"/>
                </a:solidFill>
              </a:rPr>
              <a:t>Creating a Database and Tables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b="0" dirty="0">
                <a:solidFill>
                  <a:srgbClr val="2D3B45"/>
                </a:solidFill>
              </a:rPr>
              <a:t>Basic SQL commands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B971209-E4DA-8F8A-7F13-24FD77CAF1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5867" y="1753468"/>
            <a:ext cx="2556933" cy="2556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644752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23FE0-9D63-9649-C8CF-873394ED2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022E2-7C4B-1617-3FA8-A2C2E1807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066" y="942064"/>
            <a:ext cx="2412003" cy="577340"/>
          </a:xfrm>
        </p:spPr>
        <p:txBody>
          <a:bodyPr/>
          <a:lstStyle/>
          <a:p>
            <a:r>
              <a:rPr lang="en-US" dirty="0"/>
              <a:t>Next Week</a:t>
            </a:r>
            <a:endParaRPr lang="en-AE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5A125EB-8543-8750-C2DC-819961ADC467}"/>
              </a:ext>
            </a:extLst>
          </p:cNvPr>
          <p:cNvGraphicFramePr>
            <a:graphicFrameLocks noGrp="1"/>
          </p:cNvGraphicFramePr>
          <p:nvPr/>
        </p:nvGraphicFramePr>
        <p:xfrm>
          <a:off x="2602411" y="263671"/>
          <a:ext cx="9399181" cy="62374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2411">
                  <a:extLst>
                    <a:ext uri="{9D8B030D-6E8A-4147-A177-3AD203B41FA5}">
                      <a16:colId xmlns:a16="http://schemas.microsoft.com/office/drawing/2014/main" val="3694587546"/>
                    </a:ext>
                  </a:extLst>
                </a:gridCol>
                <a:gridCol w="2320423">
                  <a:extLst>
                    <a:ext uri="{9D8B030D-6E8A-4147-A177-3AD203B41FA5}">
                      <a16:colId xmlns:a16="http://schemas.microsoft.com/office/drawing/2014/main" val="1946343675"/>
                    </a:ext>
                  </a:extLst>
                </a:gridCol>
                <a:gridCol w="1424821">
                  <a:extLst>
                    <a:ext uri="{9D8B030D-6E8A-4147-A177-3AD203B41FA5}">
                      <a16:colId xmlns:a16="http://schemas.microsoft.com/office/drawing/2014/main" val="2219019823"/>
                    </a:ext>
                  </a:extLst>
                </a:gridCol>
                <a:gridCol w="4941526">
                  <a:extLst>
                    <a:ext uri="{9D8B030D-6E8A-4147-A177-3AD203B41FA5}">
                      <a16:colId xmlns:a16="http://schemas.microsoft.com/office/drawing/2014/main" val="3697729728"/>
                    </a:ext>
                  </a:extLst>
                </a:gridCol>
              </a:tblGrid>
              <a:tr h="59283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Week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Lecture Dates (Edgbaston)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Lab Dates (Edgbaston)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Topic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2920893"/>
                  </a:ext>
                </a:extLst>
              </a:tr>
              <a:tr h="3687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1</a:t>
                      </a:r>
                    </a:p>
                  </a:txBody>
                  <a:tcPr anchor="ctr"/>
                </a:tc>
                <a:tc rowSpan="12"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Group 1 - Wednesdays (10:00-12:00) </a:t>
                      </a:r>
                    </a:p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Group 2 - Fridays</a:t>
                      </a:r>
                    </a:p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 (12:00-14:00)</a:t>
                      </a:r>
                    </a:p>
                  </a:txBody>
                  <a:tcPr anchor="ctr"/>
                </a:tc>
                <a:tc rowSpan="12"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Fridays </a:t>
                      </a:r>
                    </a:p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(14:00-17:00)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+mn-lt"/>
                        </a:rPr>
                        <a:t>Introduction to databases;  Database design guidelines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773942"/>
                  </a:ext>
                </a:extLst>
              </a:tr>
              <a:tr h="58355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2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+mn-lt"/>
                        </a:rPr>
                        <a:t>Database design, Entity relation (ER) modelling; Keys; </a:t>
                      </a:r>
                      <a:r>
                        <a:rPr lang="en-US" sz="1600" dirty="0" err="1">
                          <a:latin typeface="+mn-lt"/>
                        </a:rPr>
                        <a:t>Normalisation</a:t>
                      </a:r>
                      <a:r>
                        <a:rPr lang="en-US" sz="1600" dirty="0">
                          <a:latin typeface="+mn-lt"/>
                        </a:rPr>
                        <a:t>​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1455715"/>
                  </a:ext>
                </a:extLst>
              </a:tr>
              <a:tr h="116979">
                <a:tc rowSpan="2"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3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6289384"/>
                  </a:ext>
                </a:extLst>
              </a:tr>
              <a:tr h="581550">
                <a:tc vMerge="1"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3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Creating and populating databases; </a:t>
                      </a:r>
                      <a:r>
                        <a:rPr lang="en-US" sz="1600" b="0" i="0" u="none" strike="noStrike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PostgreSQL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2287852"/>
                  </a:ext>
                </a:extLst>
              </a:tr>
              <a:tr h="59283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4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+mn-lt"/>
                        </a:rPr>
                        <a:t>SQL Querying – Operators, Ordering, Aggregation; NoSQL and Graph Databases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6254541"/>
                  </a:ext>
                </a:extLst>
              </a:tr>
              <a:tr h="34322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5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7030A0"/>
                          </a:solidFill>
                          <a:highlight>
                            <a:srgbClr val="FFFF00"/>
                          </a:highlight>
                          <a:latin typeface="+mn-lt"/>
                        </a:rPr>
                        <a:t>Class 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0486376"/>
                  </a:ext>
                </a:extLst>
              </a:tr>
              <a:tr h="34322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6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+mn-lt"/>
                        </a:rPr>
                        <a:t>NoSQL and Graph Databases; Assessment support week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0216521"/>
                  </a:ext>
                </a:extLst>
              </a:tr>
              <a:tr h="59283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7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Web programming introduction; Tech stack, Template application</a:t>
                      </a:r>
                      <a:endParaRPr lang="en-US" sz="160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8008016"/>
                  </a:ext>
                </a:extLst>
              </a:tr>
              <a:tr h="59283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8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Web applications vs Static pages; Tech stack concepts; REST APIs; RESTFUL style</a:t>
                      </a:r>
                      <a:endParaRPr lang="en-US" sz="160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0997059"/>
                  </a:ext>
                </a:extLst>
              </a:tr>
              <a:tr h="59283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9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SpringBoot</a:t>
                      </a:r>
                      <a:r>
                        <a:rPr lang="en-GB" sz="16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application structure,; </a:t>
                      </a:r>
                      <a:r>
                        <a:rPr lang="en-GB" sz="16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SpringBoot</a:t>
                      </a:r>
                      <a:r>
                        <a:rPr lang="en-GB" sz="16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annotations, case study</a:t>
                      </a:r>
                      <a:endParaRPr lang="en-US" sz="160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8342401"/>
                  </a:ext>
                </a:extLst>
              </a:tr>
              <a:tr h="59283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10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+mn-lt"/>
                        </a:rPr>
                        <a:t>Front end concepts, TypeScript fundamentals, Angular front end development,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4303297"/>
                  </a:ext>
                </a:extLst>
              </a:tr>
              <a:tr h="34322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</a:rPr>
                        <a:t>11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7030A0"/>
                          </a:solidFill>
                          <a:highlight>
                            <a:srgbClr val="FFFF00"/>
                          </a:highlight>
                          <a:latin typeface="+mn-lt"/>
                        </a:rPr>
                        <a:t>Class Test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8074625"/>
                  </a:ext>
                </a:extLst>
              </a:tr>
            </a:tbl>
          </a:graphicData>
        </a:graphic>
      </p:graphicFrame>
      <p:sp>
        <p:nvSpPr>
          <p:cNvPr id="8" name="Right Arrow 7">
            <a:extLst>
              <a:ext uri="{FF2B5EF4-FFF2-40B4-BE49-F238E27FC236}">
                <a16:creationId xmlns:a16="http://schemas.microsoft.com/office/drawing/2014/main" id="{7BCB29E1-0514-0D26-98E9-2BAA53D3EA04}"/>
              </a:ext>
            </a:extLst>
          </p:cNvPr>
          <p:cNvSpPr/>
          <p:nvPr/>
        </p:nvSpPr>
        <p:spPr>
          <a:xfrm>
            <a:off x="532249" y="2546328"/>
            <a:ext cx="2185639" cy="46835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85758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24DE1-C512-AA34-D321-16CA00355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64572"/>
            <a:ext cx="10515600" cy="1325563"/>
          </a:xfrm>
        </p:spPr>
        <p:txBody>
          <a:bodyPr/>
          <a:lstStyle/>
          <a:p>
            <a:r>
              <a:rPr lang="en-GB" noProof="0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6053362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7C854-D9D1-0689-6EE3-FD721F67B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</a:t>
            </a:r>
            <a:r>
              <a:rPr lang="en-GB" noProof="0" dirty="0" err="1"/>
              <a:t>eferences</a:t>
            </a:r>
            <a:endParaRPr lang="en-GB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9E008-A9E8-A93E-FC25-AF3631029D3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GB" b="0" noProof="0" dirty="0"/>
          </a:p>
          <a:p>
            <a:r>
              <a:rPr lang="en-GB" b="0" dirty="0"/>
              <a:t>Ramakrishnan, R., Gehrke, J. and Gehrke, J., 2003. Database management systems (Vol. 3). New York: McGraw-Hill.</a:t>
            </a:r>
            <a:r>
              <a:rPr lang="en-GB" b="0" noProof="0" dirty="0"/>
              <a:t>Rochester</a:t>
            </a:r>
          </a:p>
          <a:p>
            <a:endParaRPr lang="en-GB" b="0" noProof="0" dirty="0"/>
          </a:p>
          <a:p>
            <a:r>
              <a:rPr lang="en-GB" b="0" dirty="0"/>
              <a:t>PostgreSQL Tutorial – https://</a:t>
            </a:r>
            <a:r>
              <a:rPr lang="en-GB" b="0" dirty="0" err="1"/>
              <a:t>www.postgresqltutorial.com</a:t>
            </a:r>
            <a:br>
              <a:rPr lang="en-GB" b="0" dirty="0"/>
            </a:br>
            <a:r>
              <a:rPr lang="en-GB" b="0" dirty="0"/>
              <a:t>Clear and structured introduction covering installation, SQL basics, and advanced features.</a:t>
            </a:r>
          </a:p>
          <a:p>
            <a:endParaRPr lang="en-GB" b="0" noProof="0" dirty="0"/>
          </a:p>
          <a:p>
            <a:r>
              <a:rPr lang="en-GB" b="0" dirty="0"/>
              <a:t>Postgres Professional Blog – https://</a:t>
            </a:r>
            <a:r>
              <a:rPr lang="en-GB" b="0" dirty="0" err="1"/>
              <a:t>postgrespro.com</a:t>
            </a:r>
            <a:r>
              <a:rPr lang="en-GB" b="0" dirty="0"/>
              <a:t>/blog</a:t>
            </a:r>
            <a:br>
              <a:rPr lang="en-GB" b="0" dirty="0"/>
            </a:br>
            <a:r>
              <a:rPr lang="en-GB" b="0" dirty="0"/>
              <a:t>Articles on advanced PostgreSQL features, performance, and administration.</a:t>
            </a:r>
            <a:endParaRPr lang="en-GB" b="0" noProof="0" dirty="0"/>
          </a:p>
        </p:txBody>
      </p:sp>
    </p:spTree>
    <p:extLst>
      <p:ext uri="{BB962C8B-B14F-4D97-AF65-F5344CB8AC3E}">
        <p14:creationId xmlns:p14="http://schemas.microsoft.com/office/powerpoint/2010/main" val="4052658596"/>
      </p:ext>
    </p:extLst>
  </p:cSld>
  <p:clrMapOvr>
    <a:masterClrMapping/>
  </p:clrMapOvr>
</p:sld>
</file>

<file path=ppt/theme/theme1.xml><?xml version="1.0" encoding="utf-8"?>
<a:theme xmlns:a="http://schemas.openxmlformats.org/drawingml/2006/main" name="Light Theme">
  <a:themeElements>
    <a:clrScheme name="Brand Hyperlink">
      <a:dk1>
        <a:srgbClr val="1B1B1B"/>
      </a:dk1>
      <a:lt1>
        <a:srgbClr val="FAFAFA"/>
      </a:lt1>
      <a:dk2>
        <a:srgbClr val="C59A00"/>
      </a:dk2>
      <a:lt2>
        <a:srgbClr val="C20019"/>
      </a:lt2>
      <a:accent1>
        <a:srgbClr val="007838"/>
      </a:accent1>
      <a:accent2>
        <a:srgbClr val="00788E"/>
      </a:accent2>
      <a:accent3>
        <a:srgbClr val="0057BF"/>
      </a:accent3>
      <a:accent4>
        <a:srgbClr val="501D83"/>
      </a:accent4>
      <a:accent5>
        <a:srgbClr val="DB0061"/>
      </a:accent5>
      <a:accent6>
        <a:srgbClr val="CF4527"/>
      </a:accent6>
      <a:hlink>
        <a:srgbClr val="0057BF"/>
      </a:hlink>
      <a:folHlink>
        <a:srgbClr val="0057B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25 Anniversary Dubai Template" id="{964714C7-CC62-D040-86DE-4299F6E427FB}" vid="{F65AB86A-DBF4-DC42-ADC7-D89A95D7163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</Template>
  <TotalTime>19</TotalTime>
  <Words>2918</Words>
  <Application>Microsoft Macintosh PowerPoint</Application>
  <PresentationFormat>Widescreen</PresentationFormat>
  <Paragraphs>505</Paragraphs>
  <Slides>46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2" baseType="lpstr">
      <vt:lpstr>Aptos</vt:lpstr>
      <vt:lpstr>Arial</vt:lpstr>
      <vt:lpstr>Calibri</vt:lpstr>
      <vt:lpstr>Tahoma</vt:lpstr>
      <vt:lpstr>Times New Roman</vt:lpstr>
      <vt:lpstr>Light Theme</vt:lpstr>
      <vt:lpstr>Week 3: Creating and populating databases; PostgreSQL</vt:lpstr>
      <vt:lpstr>This Week</vt:lpstr>
      <vt:lpstr>Last Week</vt:lpstr>
      <vt:lpstr>Today’s Topic: PostgreSQL</vt:lpstr>
      <vt:lpstr>PowerPoint Presentation</vt:lpstr>
      <vt:lpstr>Introduction </vt:lpstr>
      <vt:lpstr>Core Features </vt:lpstr>
      <vt:lpstr>Installing PostgreSQL</vt:lpstr>
      <vt:lpstr>Installing PostgreSQL</vt:lpstr>
      <vt:lpstr>PowerPoint Presentation</vt:lpstr>
      <vt:lpstr>Superusers</vt:lpstr>
      <vt:lpstr>PowerPoint Presentation</vt:lpstr>
      <vt:lpstr>SQL injection attack</vt:lpstr>
      <vt:lpstr>Using psql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Setting up users for PostgreSQL</vt:lpstr>
      <vt:lpstr>psql vs SQL</vt:lpstr>
      <vt:lpstr>Outline (This Week)</vt:lpstr>
      <vt:lpstr>Creating a Database (Example 1)</vt:lpstr>
      <vt:lpstr>Creating a Database (Example 2)</vt:lpstr>
      <vt:lpstr>Creating a Table (Example 1)</vt:lpstr>
      <vt:lpstr>Creating a Table (Example 2)</vt:lpstr>
      <vt:lpstr>Schemas</vt:lpstr>
      <vt:lpstr>Table Columns</vt:lpstr>
      <vt:lpstr>Setting up user permissions</vt:lpstr>
      <vt:lpstr>Data Types</vt:lpstr>
      <vt:lpstr>Defining Constraints</vt:lpstr>
      <vt:lpstr>Foreign Keys</vt:lpstr>
      <vt:lpstr>Outline (This Week)</vt:lpstr>
      <vt:lpstr>CRUD</vt:lpstr>
      <vt:lpstr>INSERT into a table</vt:lpstr>
      <vt:lpstr>UPDATE exiting data</vt:lpstr>
      <vt:lpstr>SELECT from a table</vt:lpstr>
      <vt:lpstr>DELETE from a table</vt:lpstr>
      <vt:lpstr>DELETING</vt:lpstr>
      <vt:lpstr>WHERE clause</vt:lpstr>
      <vt:lpstr>Saving you SQL</vt:lpstr>
      <vt:lpstr>PowerPoint Presentation</vt:lpstr>
      <vt:lpstr>Summary</vt:lpstr>
      <vt:lpstr>Next Week</vt:lpstr>
      <vt:lpstr>Questions?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Anelia Kurteva (Computer Science)</dc:creator>
  <cp:lastModifiedBy>Anelia Kurteva (Computer Science)</cp:lastModifiedBy>
  <cp:revision>20</cp:revision>
  <dcterms:created xsi:type="dcterms:W3CDTF">2025-10-13T09:06:07Z</dcterms:created>
  <dcterms:modified xsi:type="dcterms:W3CDTF">2025-10-13T09:25:48Z</dcterms:modified>
</cp:coreProperties>
</file>