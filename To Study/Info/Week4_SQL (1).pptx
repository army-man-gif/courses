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3" r:id="rId4"/>
  </p:sldMasterIdLst>
  <p:notesMasterIdLst>
    <p:notesMasterId r:id="rId50"/>
  </p:notesMasterIdLst>
  <p:handoutMasterIdLst>
    <p:handoutMasterId r:id="rId51"/>
  </p:handoutMasterIdLst>
  <p:sldIdLst>
    <p:sldId id="1374" r:id="rId5"/>
    <p:sldId id="1360" r:id="rId6"/>
    <p:sldId id="1375" r:id="rId7"/>
    <p:sldId id="1326" r:id="rId8"/>
    <p:sldId id="1324" r:id="rId9"/>
    <p:sldId id="1343" r:id="rId10"/>
    <p:sldId id="1336" r:id="rId11"/>
    <p:sldId id="1356" r:id="rId12"/>
    <p:sldId id="262" r:id="rId13"/>
    <p:sldId id="263" r:id="rId14"/>
    <p:sldId id="264" r:id="rId15"/>
    <p:sldId id="1345" r:id="rId16"/>
    <p:sldId id="267" r:id="rId17"/>
    <p:sldId id="268" r:id="rId18"/>
    <p:sldId id="270" r:id="rId19"/>
    <p:sldId id="1361" r:id="rId20"/>
    <p:sldId id="272" r:id="rId21"/>
    <p:sldId id="1346" r:id="rId22"/>
    <p:sldId id="274" r:id="rId23"/>
    <p:sldId id="275" r:id="rId24"/>
    <p:sldId id="276" r:id="rId25"/>
    <p:sldId id="277" r:id="rId26"/>
    <p:sldId id="1362" r:id="rId27"/>
    <p:sldId id="1363" r:id="rId28"/>
    <p:sldId id="1344" r:id="rId29"/>
    <p:sldId id="1364" r:id="rId30"/>
    <p:sldId id="1365" r:id="rId31"/>
    <p:sldId id="1366" r:id="rId32"/>
    <p:sldId id="1367" r:id="rId33"/>
    <p:sldId id="1368" r:id="rId34"/>
    <p:sldId id="1369" r:id="rId35"/>
    <p:sldId id="1347" r:id="rId36"/>
    <p:sldId id="1350" r:id="rId37"/>
    <p:sldId id="1351" r:id="rId38"/>
    <p:sldId id="1348" r:id="rId39"/>
    <p:sldId id="1354" r:id="rId40"/>
    <p:sldId id="1357" r:id="rId41"/>
    <p:sldId id="1355" r:id="rId42"/>
    <p:sldId id="260" r:id="rId43"/>
    <p:sldId id="1370" r:id="rId44"/>
    <p:sldId id="1371" r:id="rId45"/>
    <p:sldId id="1353" r:id="rId46"/>
    <p:sldId id="1358" r:id="rId47"/>
    <p:sldId id="279" r:id="rId48"/>
    <p:sldId id="1376" r:id="rId49"/>
  </p:sldIdLst>
  <p:sldSz cx="12192000" cy="6858000"/>
  <p:notesSz cx="6858000" cy="9144000"/>
  <p:embeddedFontLst>
    <p:embeddedFont>
      <p:font typeface="Consolas" panose="020B0609020204030204" pitchFamily="49" charset="0"/>
      <p:regular r:id="rId52"/>
      <p:bold r:id="rId53"/>
      <p:italic r:id="rId54"/>
      <p:boldItalic r:id="rId55"/>
    </p:embeddedFont>
    <p:embeddedFont>
      <p:font typeface="Open Sans" panose="020B0606030504020204" pitchFamily="34" charset="0"/>
      <p:regular r:id="rId56"/>
      <p:bold r:id="rId57"/>
      <p:italic r:id="rId58"/>
      <p:boldItalic r:id="rId59"/>
    </p:embeddedFont>
    <p:embeddedFont>
      <p:font typeface="Tahoma" panose="020B0604030504040204" pitchFamily="34" charset="0"/>
      <p:regular r:id="rId60"/>
      <p:bold r:id="rId61"/>
    </p:embeddedFont>
    <p:embeddedFont>
      <p:font typeface="Trebuchet MS" panose="020B0703020202090204" pitchFamily="34" charset="0"/>
      <p:regular r:id="rId62"/>
      <p:bold r:id="rId63"/>
      <p:italic r:id="rId64"/>
    </p:embeddedFont>
    <p:embeddedFont>
      <p:font typeface="Verdana" panose="020B0604030504040204" pitchFamily="34" charset="0"/>
      <p:regular r:id="rId65"/>
      <p:bold r:id="rId66"/>
      <p:italic r:id="rId67"/>
      <p:boldItalic r:id="rId6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06B7B3-04E7-14C7-F006-E8D6FD9317EA}" name="Michelle Sewell" initials="MS" userId="S::michelle@mammoth.tv::e8d9b915-60eb-4c10-8538-61abdf84f72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717D"/>
    <a:srgbClr val="81CED4"/>
    <a:srgbClr val="49899F"/>
    <a:srgbClr val="00638D"/>
    <a:srgbClr val="0055BC"/>
    <a:srgbClr val="F8F8F8"/>
    <a:srgbClr val="272626"/>
    <a:srgbClr val="1B1B1B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80331" autoAdjust="0"/>
  </p:normalViewPr>
  <p:slideViewPr>
    <p:cSldViewPr snapToGrid="0">
      <p:cViewPr varScale="1">
        <p:scale>
          <a:sx n="95" d="100"/>
          <a:sy n="95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2.fntdata"/><Relationship Id="rId68" Type="http://schemas.openxmlformats.org/officeDocument/2006/relationships/font" Target="fonts/font1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font" Target="fonts/font15.fntdata"/><Relationship Id="rId5" Type="http://schemas.openxmlformats.org/officeDocument/2006/relationships/slide" Target="slides/slide1.xml"/><Relationship Id="rId61" Type="http://schemas.openxmlformats.org/officeDocument/2006/relationships/font" Target="fonts/font10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8.fntdata"/><Relationship Id="rId67" Type="http://schemas.openxmlformats.org/officeDocument/2006/relationships/font" Target="fonts/font1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6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73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4.fntdata"/><Relationship Id="rId7" Type="http://schemas.openxmlformats.org/officeDocument/2006/relationships/slide" Target="slides/slide3.xml"/><Relationship Id="rId7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CBE9E0-E2AD-4EB7-83FC-474BEA78D5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AE"/>
        </a:p>
      </dgm:t>
    </dgm:pt>
    <dgm:pt modelId="{6DB4747E-BAFD-405B-A518-95CDB1254ED4}">
      <dgm:prSet/>
      <dgm:spPr/>
      <dgm:t>
        <a:bodyPr/>
        <a:lstStyle/>
        <a:p>
          <a:r>
            <a:rPr lang="en-AE"/>
            <a:t>Most of the time it makes more sense to design as much of your database, in as much detail as possible before you implement it. </a:t>
          </a:r>
        </a:p>
      </dgm:t>
    </dgm:pt>
    <dgm:pt modelId="{59893E85-6989-492B-B655-DB43EF9CFDBD}" type="parTrans" cxnId="{088AC1AB-8E64-4686-B023-5C02D57E0305}">
      <dgm:prSet/>
      <dgm:spPr/>
      <dgm:t>
        <a:bodyPr/>
        <a:lstStyle/>
        <a:p>
          <a:endParaRPr lang="en-AE"/>
        </a:p>
      </dgm:t>
    </dgm:pt>
    <dgm:pt modelId="{F0AA9110-A153-4FFD-B0A3-0585127B125B}" type="sibTrans" cxnId="{088AC1AB-8E64-4686-B023-5C02D57E0305}">
      <dgm:prSet/>
      <dgm:spPr/>
      <dgm:t>
        <a:bodyPr/>
        <a:lstStyle/>
        <a:p>
          <a:endParaRPr lang="en-AE"/>
        </a:p>
      </dgm:t>
    </dgm:pt>
    <dgm:pt modelId="{FB5BBC92-327A-4A5F-85AF-4B921E2FF885}">
      <dgm:prSet/>
      <dgm:spPr/>
      <dgm:t>
        <a:bodyPr/>
        <a:lstStyle/>
        <a:p>
          <a:r>
            <a:rPr lang="en-AE"/>
            <a:t>In this way you can define the Relationships when you create the Table, and not have to alter the table afterwards. </a:t>
          </a:r>
        </a:p>
      </dgm:t>
    </dgm:pt>
    <dgm:pt modelId="{21DB6F06-14BE-4282-AAA5-3B2F1CAB64F5}" type="parTrans" cxnId="{E68ADB94-5F5F-4F1D-A260-853265234490}">
      <dgm:prSet/>
      <dgm:spPr/>
      <dgm:t>
        <a:bodyPr/>
        <a:lstStyle/>
        <a:p>
          <a:endParaRPr lang="en-AE"/>
        </a:p>
      </dgm:t>
    </dgm:pt>
    <dgm:pt modelId="{5F461BC2-F2EE-4A5F-89A6-89E41D1757DC}" type="sibTrans" cxnId="{E68ADB94-5F5F-4F1D-A260-853265234490}">
      <dgm:prSet/>
      <dgm:spPr/>
      <dgm:t>
        <a:bodyPr/>
        <a:lstStyle/>
        <a:p>
          <a:endParaRPr lang="en-AE"/>
        </a:p>
      </dgm:t>
    </dgm:pt>
    <dgm:pt modelId="{7385333A-1EAB-4897-A0F0-8679F0601295}">
      <dgm:prSet/>
      <dgm:spPr/>
      <dgm:t>
        <a:bodyPr/>
        <a:lstStyle/>
        <a:p>
          <a:r>
            <a:rPr lang="en-AE"/>
            <a:t>In our example we have already created our primary table (todo item), so we will just be altering this table going forward.</a:t>
          </a:r>
        </a:p>
      </dgm:t>
    </dgm:pt>
    <dgm:pt modelId="{B179E1B9-5AA2-4AC6-AC71-E1A80EC0E611}" type="parTrans" cxnId="{093C9FC6-E9B3-4257-94FC-66F21C42828D}">
      <dgm:prSet/>
      <dgm:spPr/>
      <dgm:t>
        <a:bodyPr/>
        <a:lstStyle/>
        <a:p>
          <a:endParaRPr lang="en-AE"/>
        </a:p>
      </dgm:t>
    </dgm:pt>
    <dgm:pt modelId="{F32B56FD-F186-426E-A53C-CA55C9FE105E}" type="sibTrans" cxnId="{093C9FC6-E9B3-4257-94FC-66F21C42828D}">
      <dgm:prSet/>
      <dgm:spPr/>
      <dgm:t>
        <a:bodyPr/>
        <a:lstStyle/>
        <a:p>
          <a:endParaRPr lang="en-AE"/>
        </a:p>
      </dgm:t>
    </dgm:pt>
    <dgm:pt modelId="{4FEC802C-F683-4A75-856C-45D38AD86849}" type="pres">
      <dgm:prSet presAssocID="{07CBE9E0-E2AD-4EB7-83FC-474BEA78D55E}" presName="linear" presStyleCnt="0">
        <dgm:presLayoutVars>
          <dgm:animLvl val="lvl"/>
          <dgm:resizeHandles val="exact"/>
        </dgm:presLayoutVars>
      </dgm:prSet>
      <dgm:spPr/>
    </dgm:pt>
    <dgm:pt modelId="{EC5D0575-7E87-4FB0-B2BE-4B1AB6E60FE3}" type="pres">
      <dgm:prSet presAssocID="{6DB4747E-BAFD-405B-A518-95CDB1254ED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51F0E73-4F3B-455C-BDDE-AD415B20A15E}" type="pres">
      <dgm:prSet presAssocID="{F0AA9110-A153-4FFD-B0A3-0585127B125B}" presName="spacer" presStyleCnt="0"/>
      <dgm:spPr/>
    </dgm:pt>
    <dgm:pt modelId="{57A6BBB1-5E59-4C06-A964-E4D06C044834}" type="pres">
      <dgm:prSet presAssocID="{FB5BBC92-327A-4A5F-85AF-4B921E2FF88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6E6B813-B801-443C-8D2B-E9967411CEE6}" type="pres">
      <dgm:prSet presAssocID="{5F461BC2-F2EE-4A5F-89A6-89E41D1757DC}" presName="spacer" presStyleCnt="0"/>
      <dgm:spPr/>
    </dgm:pt>
    <dgm:pt modelId="{46A72B73-9F28-4A5E-8C48-88F967BA5029}" type="pres">
      <dgm:prSet presAssocID="{7385333A-1EAB-4897-A0F0-8679F060129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17E5064-0A1E-448D-BE95-6470450C8C04}" type="presOf" srcId="{FB5BBC92-327A-4A5F-85AF-4B921E2FF885}" destId="{57A6BBB1-5E59-4C06-A964-E4D06C044834}" srcOrd="0" destOrd="0" presId="urn:microsoft.com/office/officeart/2005/8/layout/vList2"/>
    <dgm:cxn modelId="{70300378-6623-48F0-9B67-751FC1F88010}" type="presOf" srcId="{6DB4747E-BAFD-405B-A518-95CDB1254ED4}" destId="{EC5D0575-7E87-4FB0-B2BE-4B1AB6E60FE3}" srcOrd="0" destOrd="0" presId="urn:microsoft.com/office/officeart/2005/8/layout/vList2"/>
    <dgm:cxn modelId="{E68ADB94-5F5F-4F1D-A260-853265234490}" srcId="{07CBE9E0-E2AD-4EB7-83FC-474BEA78D55E}" destId="{FB5BBC92-327A-4A5F-85AF-4B921E2FF885}" srcOrd="1" destOrd="0" parTransId="{21DB6F06-14BE-4282-AAA5-3B2F1CAB64F5}" sibTransId="{5F461BC2-F2EE-4A5F-89A6-89E41D1757DC}"/>
    <dgm:cxn modelId="{088AC1AB-8E64-4686-B023-5C02D57E0305}" srcId="{07CBE9E0-E2AD-4EB7-83FC-474BEA78D55E}" destId="{6DB4747E-BAFD-405B-A518-95CDB1254ED4}" srcOrd="0" destOrd="0" parTransId="{59893E85-6989-492B-B655-DB43EF9CFDBD}" sibTransId="{F0AA9110-A153-4FFD-B0A3-0585127B125B}"/>
    <dgm:cxn modelId="{72B0C3AC-7746-49AD-8E91-097ACFA16CE0}" type="presOf" srcId="{7385333A-1EAB-4897-A0F0-8679F0601295}" destId="{46A72B73-9F28-4A5E-8C48-88F967BA5029}" srcOrd="0" destOrd="0" presId="urn:microsoft.com/office/officeart/2005/8/layout/vList2"/>
    <dgm:cxn modelId="{093C9FC6-E9B3-4257-94FC-66F21C42828D}" srcId="{07CBE9E0-E2AD-4EB7-83FC-474BEA78D55E}" destId="{7385333A-1EAB-4897-A0F0-8679F0601295}" srcOrd="2" destOrd="0" parTransId="{B179E1B9-5AA2-4AC6-AC71-E1A80EC0E611}" sibTransId="{F32B56FD-F186-426E-A53C-CA55C9FE105E}"/>
    <dgm:cxn modelId="{C1633EE0-F0C6-4AEA-808C-F227C82C7BCF}" type="presOf" srcId="{07CBE9E0-E2AD-4EB7-83FC-474BEA78D55E}" destId="{4FEC802C-F683-4A75-856C-45D38AD86849}" srcOrd="0" destOrd="0" presId="urn:microsoft.com/office/officeart/2005/8/layout/vList2"/>
    <dgm:cxn modelId="{9E129E39-58EC-4C5B-9229-9C243A35FEEF}" type="presParOf" srcId="{4FEC802C-F683-4A75-856C-45D38AD86849}" destId="{EC5D0575-7E87-4FB0-B2BE-4B1AB6E60FE3}" srcOrd="0" destOrd="0" presId="urn:microsoft.com/office/officeart/2005/8/layout/vList2"/>
    <dgm:cxn modelId="{A34FD77F-4549-4B8B-BB7F-38E5F929744F}" type="presParOf" srcId="{4FEC802C-F683-4A75-856C-45D38AD86849}" destId="{951F0E73-4F3B-455C-BDDE-AD415B20A15E}" srcOrd="1" destOrd="0" presId="urn:microsoft.com/office/officeart/2005/8/layout/vList2"/>
    <dgm:cxn modelId="{08390A53-689C-4197-BEB2-EA70A6261A71}" type="presParOf" srcId="{4FEC802C-F683-4A75-856C-45D38AD86849}" destId="{57A6BBB1-5E59-4C06-A964-E4D06C044834}" srcOrd="2" destOrd="0" presId="urn:microsoft.com/office/officeart/2005/8/layout/vList2"/>
    <dgm:cxn modelId="{A90BBA28-7AA2-4768-97C8-83C2FC2337F7}" type="presParOf" srcId="{4FEC802C-F683-4A75-856C-45D38AD86849}" destId="{F6E6B813-B801-443C-8D2B-E9967411CEE6}" srcOrd="3" destOrd="0" presId="urn:microsoft.com/office/officeart/2005/8/layout/vList2"/>
    <dgm:cxn modelId="{67858926-3953-484F-AAB9-005580E22446}" type="presParOf" srcId="{4FEC802C-F683-4A75-856C-45D38AD86849}" destId="{46A72B73-9F28-4A5E-8C48-88F967BA502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A36D84-5BAB-45D1-A2B8-F176BEF916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AE"/>
        </a:p>
      </dgm:t>
    </dgm:pt>
    <dgm:pt modelId="{A351FB44-770B-4A12-A325-1FAAD4EB8EC8}">
      <dgm:prSet/>
      <dgm:spPr/>
      <dgm:t>
        <a:bodyPr/>
        <a:lstStyle/>
        <a:p>
          <a:r>
            <a:rPr lang="en-US"/>
            <a:t>1. Returning from a Function</a:t>
          </a:r>
          <a:endParaRPr lang="en-AE"/>
        </a:p>
      </dgm:t>
    </dgm:pt>
    <dgm:pt modelId="{5E7BF412-4992-46F5-98DE-CDC014D774A2}" type="parTrans" cxnId="{4A4D73E8-9ECF-4F54-8AF2-2C083C64CCB7}">
      <dgm:prSet/>
      <dgm:spPr/>
      <dgm:t>
        <a:bodyPr/>
        <a:lstStyle/>
        <a:p>
          <a:endParaRPr lang="en-AE"/>
        </a:p>
      </dgm:t>
    </dgm:pt>
    <dgm:pt modelId="{1DE68768-D2D1-4873-8BA5-A363106FE765}" type="sibTrans" cxnId="{4A4D73E8-9ECF-4F54-8AF2-2C083C64CCB7}">
      <dgm:prSet/>
      <dgm:spPr/>
      <dgm:t>
        <a:bodyPr/>
        <a:lstStyle/>
        <a:p>
          <a:endParaRPr lang="en-AE"/>
        </a:p>
      </dgm:t>
    </dgm:pt>
    <dgm:pt modelId="{930D5019-4EC3-455C-8C80-CFC4DD7DC5DF}">
      <dgm:prSet/>
      <dgm:spPr/>
      <dgm:t>
        <a:bodyPr/>
        <a:lstStyle/>
        <a:p>
          <a:r>
            <a:rPr lang="en-US"/>
            <a:t>2. Returning from a Procedure</a:t>
          </a:r>
          <a:endParaRPr lang="en-AE"/>
        </a:p>
      </dgm:t>
    </dgm:pt>
    <dgm:pt modelId="{C7702BB1-2644-475D-B4D0-439A1731DCB9}" type="parTrans" cxnId="{76EA3F1D-5BFF-4A86-98F1-3FABB0ABF2E1}">
      <dgm:prSet/>
      <dgm:spPr/>
      <dgm:t>
        <a:bodyPr/>
        <a:lstStyle/>
        <a:p>
          <a:endParaRPr lang="en-AE"/>
        </a:p>
      </dgm:t>
    </dgm:pt>
    <dgm:pt modelId="{BD5EC88F-8703-4E7A-9166-2DA4CB3120AA}" type="sibTrans" cxnId="{76EA3F1D-5BFF-4A86-98F1-3FABB0ABF2E1}">
      <dgm:prSet/>
      <dgm:spPr/>
      <dgm:t>
        <a:bodyPr/>
        <a:lstStyle/>
        <a:p>
          <a:endParaRPr lang="en-AE"/>
        </a:p>
      </dgm:t>
    </dgm:pt>
    <dgm:pt modelId="{E3701DBA-767A-458C-ACAF-939C79D60188}">
      <dgm:prSet/>
      <dgm:spPr/>
      <dgm:t>
        <a:bodyPr/>
        <a:lstStyle/>
        <a:p>
          <a:r>
            <a:rPr lang="en-US"/>
            <a:t>3. Calling a Procedure</a:t>
          </a:r>
          <a:endParaRPr lang="en-AE"/>
        </a:p>
      </dgm:t>
    </dgm:pt>
    <dgm:pt modelId="{3248D084-47C0-4504-9FCA-94E923DEFE5B}" type="parTrans" cxnId="{C5F20C35-1816-471E-AEED-677E7503AC4A}">
      <dgm:prSet/>
      <dgm:spPr/>
      <dgm:t>
        <a:bodyPr/>
        <a:lstStyle/>
        <a:p>
          <a:endParaRPr lang="en-AE"/>
        </a:p>
      </dgm:t>
    </dgm:pt>
    <dgm:pt modelId="{14181256-7D37-4176-ACBF-6719F5F131ED}" type="sibTrans" cxnId="{C5F20C35-1816-471E-AEED-677E7503AC4A}">
      <dgm:prSet/>
      <dgm:spPr/>
      <dgm:t>
        <a:bodyPr/>
        <a:lstStyle/>
        <a:p>
          <a:endParaRPr lang="en-AE"/>
        </a:p>
      </dgm:t>
    </dgm:pt>
    <dgm:pt modelId="{6C9AF0B4-5885-4FD3-B94D-63EFB9589697}">
      <dgm:prSet/>
      <dgm:spPr/>
      <dgm:t>
        <a:bodyPr/>
        <a:lstStyle/>
        <a:p>
          <a:r>
            <a:rPr lang="en-US"/>
            <a:t>4. Conditionals</a:t>
          </a:r>
          <a:endParaRPr lang="en-AE"/>
        </a:p>
      </dgm:t>
    </dgm:pt>
    <dgm:pt modelId="{17F703CF-A0E3-4969-8510-D84F31A3C2C1}" type="parTrans" cxnId="{D63814F3-6DE2-4F3E-BDA7-15D70B8CC3E2}">
      <dgm:prSet/>
      <dgm:spPr/>
      <dgm:t>
        <a:bodyPr/>
        <a:lstStyle/>
        <a:p>
          <a:endParaRPr lang="en-AE"/>
        </a:p>
      </dgm:t>
    </dgm:pt>
    <dgm:pt modelId="{8D87B2FC-AC3A-4481-A843-7F84469506EF}" type="sibTrans" cxnId="{D63814F3-6DE2-4F3E-BDA7-15D70B8CC3E2}">
      <dgm:prSet/>
      <dgm:spPr/>
      <dgm:t>
        <a:bodyPr/>
        <a:lstStyle/>
        <a:p>
          <a:endParaRPr lang="en-AE"/>
        </a:p>
      </dgm:t>
    </dgm:pt>
    <dgm:pt modelId="{D8C73807-C676-40BD-961E-8DC5D818ACE0}">
      <dgm:prSet/>
      <dgm:spPr/>
      <dgm:t>
        <a:bodyPr/>
        <a:lstStyle/>
        <a:p>
          <a:r>
            <a:rPr lang="en-US"/>
            <a:t>5. Simple Loops</a:t>
          </a:r>
          <a:endParaRPr lang="en-AE"/>
        </a:p>
      </dgm:t>
    </dgm:pt>
    <dgm:pt modelId="{C817E581-C2F0-48AF-B8D8-EE6E7E826000}" type="parTrans" cxnId="{5300FCE5-B917-4AE4-9150-9411330037D4}">
      <dgm:prSet/>
      <dgm:spPr/>
      <dgm:t>
        <a:bodyPr/>
        <a:lstStyle/>
        <a:p>
          <a:endParaRPr lang="en-AE"/>
        </a:p>
      </dgm:t>
    </dgm:pt>
    <dgm:pt modelId="{C980CA5F-5DDA-4D4E-A67F-7374867BC9E6}" type="sibTrans" cxnId="{5300FCE5-B917-4AE4-9150-9411330037D4}">
      <dgm:prSet/>
      <dgm:spPr/>
      <dgm:t>
        <a:bodyPr/>
        <a:lstStyle/>
        <a:p>
          <a:endParaRPr lang="en-AE"/>
        </a:p>
      </dgm:t>
    </dgm:pt>
    <dgm:pt modelId="{32666EBD-E39E-4458-8B0B-91BA8B3C631A}">
      <dgm:prSet/>
      <dgm:spPr/>
      <dgm:t>
        <a:bodyPr/>
        <a:lstStyle/>
        <a:p>
          <a:r>
            <a:rPr lang="en-US"/>
            <a:t>6. Looping through Query Results</a:t>
          </a:r>
          <a:endParaRPr lang="en-AE"/>
        </a:p>
      </dgm:t>
    </dgm:pt>
    <dgm:pt modelId="{38D16934-7A9E-4B9C-89C4-E0EFBAD90081}" type="parTrans" cxnId="{263F1CF3-C351-4A54-9049-FBA6D9AD0CD5}">
      <dgm:prSet/>
      <dgm:spPr/>
      <dgm:t>
        <a:bodyPr/>
        <a:lstStyle/>
        <a:p>
          <a:endParaRPr lang="en-AE"/>
        </a:p>
      </dgm:t>
    </dgm:pt>
    <dgm:pt modelId="{C547C993-B0C2-4BCA-A833-1B492EE75CD2}" type="sibTrans" cxnId="{263F1CF3-C351-4A54-9049-FBA6D9AD0CD5}">
      <dgm:prSet/>
      <dgm:spPr/>
      <dgm:t>
        <a:bodyPr/>
        <a:lstStyle/>
        <a:p>
          <a:endParaRPr lang="en-AE"/>
        </a:p>
      </dgm:t>
    </dgm:pt>
    <dgm:pt modelId="{0A6289AE-23FA-4A73-A566-7000AB31C850}">
      <dgm:prSet/>
      <dgm:spPr/>
      <dgm:t>
        <a:bodyPr/>
        <a:lstStyle/>
        <a:p>
          <a:r>
            <a:rPr lang="en-US"/>
            <a:t>7. Looping through Arrays</a:t>
          </a:r>
          <a:endParaRPr lang="en-AE"/>
        </a:p>
      </dgm:t>
    </dgm:pt>
    <dgm:pt modelId="{0B43D16D-4512-4B6B-A91D-145D25BD6E4D}" type="parTrans" cxnId="{DE40408E-ACFD-4559-A792-2342FF819ECC}">
      <dgm:prSet/>
      <dgm:spPr/>
      <dgm:t>
        <a:bodyPr/>
        <a:lstStyle/>
        <a:p>
          <a:endParaRPr lang="en-AE"/>
        </a:p>
      </dgm:t>
    </dgm:pt>
    <dgm:pt modelId="{1B53EA60-ED06-4D4D-8136-06A8BDFFB4F3}" type="sibTrans" cxnId="{DE40408E-ACFD-4559-A792-2342FF819ECC}">
      <dgm:prSet/>
      <dgm:spPr/>
      <dgm:t>
        <a:bodyPr/>
        <a:lstStyle/>
        <a:p>
          <a:endParaRPr lang="en-AE"/>
        </a:p>
      </dgm:t>
    </dgm:pt>
    <dgm:pt modelId="{EAB6C58C-23C1-433F-9F8A-9F139D754B1F}">
      <dgm:prSet/>
      <dgm:spPr/>
      <dgm:t>
        <a:bodyPr/>
        <a:lstStyle/>
        <a:p>
          <a:r>
            <a:rPr lang="en-US"/>
            <a:t>…</a:t>
          </a:r>
          <a:endParaRPr lang="en-AE"/>
        </a:p>
      </dgm:t>
    </dgm:pt>
    <dgm:pt modelId="{F59DA0A7-51E3-4C74-BEE4-213FACB99972}" type="parTrans" cxnId="{6977E63A-03FF-428D-92AE-B44504BF7A6F}">
      <dgm:prSet/>
      <dgm:spPr/>
      <dgm:t>
        <a:bodyPr/>
        <a:lstStyle/>
        <a:p>
          <a:endParaRPr lang="en-AE"/>
        </a:p>
      </dgm:t>
    </dgm:pt>
    <dgm:pt modelId="{11801AE2-EFB8-402C-B609-73F30F1A6AFB}" type="sibTrans" cxnId="{6977E63A-03FF-428D-92AE-B44504BF7A6F}">
      <dgm:prSet/>
      <dgm:spPr/>
      <dgm:t>
        <a:bodyPr/>
        <a:lstStyle/>
        <a:p>
          <a:endParaRPr lang="en-AE"/>
        </a:p>
      </dgm:t>
    </dgm:pt>
    <dgm:pt modelId="{0E6D231F-4E4F-41AA-8E80-E28674DDCB45}" type="pres">
      <dgm:prSet presAssocID="{DBA36D84-5BAB-45D1-A2B8-F176BEF9162E}" presName="linear" presStyleCnt="0">
        <dgm:presLayoutVars>
          <dgm:animLvl val="lvl"/>
          <dgm:resizeHandles val="exact"/>
        </dgm:presLayoutVars>
      </dgm:prSet>
      <dgm:spPr/>
    </dgm:pt>
    <dgm:pt modelId="{DA397F1A-DE59-4591-BD93-804EC3EF7AAF}" type="pres">
      <dgm:prSet presAssocID="{A351FB44-770B-4A12-A325-1FAAD4EB8EC8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114F4615-356A-4320-83E7-58AD3EEA5676}" type="pres">
      <dgm:prSet presAssocID="{1DE68768-D2D1-4873-8BA5-A363106FE765}" presName="spacer" presStyleCnt="0"/>
      <dgm:spPr/>
    </dgm:pt>
    <dgm:pt modelId="{1A525BCA-1A4F-4819-BB75-6F4CA8925823}" type="pres">
      <dgm:prSet presAssocID="{930D5019-4EC3-455C-8C80-CFC4DD7DC5DF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5D5A17C8-7106-4C90-AAB4-2C7DEED7FDE4}" type="pres">
      <dgm:prSet presAssocID="{BD5EC88F-8703-4E7A-9166-2DA4CB3120AA}" presName="spacer" presStyleCnt="0"/>
      <dgm:spPr/>
    </dgm:pt>
    <dgm:pt modelId="{C083D385-5DD0-4558-AD28-963D67A076F6}" type="pres">
      <dgm:prSet presAssocID="{E3701DBA-767A-458C-ACAF-939C79D60188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6380FE24-7A40-44EA-BB4C-9A913331EF6C}" type="pres">
      <dgm:prSet presAssocID="{14181256-7D37-4176-ACBF-6719F5F131ED}" presName="spacer" presStyleCnt="0"/>
      <dgm:spPr/>
    </dgm:pt>
    <dgm:pt modelId="{7A6E5095-D252-4F3E-A6EB-F0AF27C7A5CB}" type="pres">
      <dgm:prSet presAssocID="{6C9AF0B4-5885-4FD3-B94D-63EFB9589697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F89FC013-662C-4543-B4DC-5BAD21560FDE}" type="pres">
      <dgm:prSet presAssocID="{8D87B2FC-AC3A-4481-A843-7F84469506EF}" presName="spacer" presStyleCnt="0"/>
      <dgm:spPr/>
    </dgm:pt>
    <dgm:pt modelId="{B9B72A30-DDCF-408D-AD82-FC6B3C0AE7E0}" type="pres">
      <dgm:prSet presAssocID="{D8C73807-C676-40BD-961E-8DC5D818ACE0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C8EC8133-5255-4EBB-BAE6-7559384ED65A}" type="pres">
      <dgm:prSet presAssocID="{C980CA5F-5DDA-4D4E-A67F-7374867BC9E6}" presName="spacer" presStyleCnt="0"/>
      <dgm:spPr/>
    </dgm:pt>
    <dgm:pt modelId="{79902131-BF49-42FE-B2E4-0C55531A31EE}" type="pres">
      <dgm:prSet presAssocID="{32666EBD-E39E-4458-8B0B-91BA8B3C631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AE9AE73-3E89-49B8-AB2B-26F0747F7D24}" type="pres">
      <dgm:prSet presAssocID="{C547C993-B0C2-4BCA-A833-1B492EE75CD2}" presName="spacer" presStyleCnt="0"/>
      <dgm:spPr/>
    </dgm:pt>
    <dgm:pt modelId="{321B5107-D207-4021-9FA6-F461F07913E1}" type="pres">
      <dgm:prSet presAssocID="{0A6289AE-23FA-4A73-A566-7000AB31C850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46CE78D1-6DEE-4C04-A733-C926753C8CBB}" type="pres">
      <dgm:prSet presAssocID="{1B53EA60-ED06-4D4D-8136-06A8BDFFB4F3}" presName="spacer" presStyleCnt="0"/>
      <dgm:spPr/>
    </dgm:pt>
    <dgm:pt modelId="{56C16E4C-0D5F-4697-80F6-0E2789B520D7}" type="pres">
      <dgm:prSet presAssocID="{EAB6C58C-23C1-433F-9F8A-9F139D754B1F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D593D00A-BF06-46DE-8559-A6977A708CB0}" type="presOf" srcId="{DBA36D84-5BAB-45D1-A2B8-F176BEF9162E}" destId="{0E6D231F-4E4F-41AA-8E80-E28674DDCB45}" srcOrd="0" destOrd="0" presId="urn:microsoft.com/office/officeart/2005/8/layout/vList2"/>
    <dgm:cxn modelId="{167F3D14-9CA5-4179-87E7-25910B28876C}" type="presOf" srcId="{32666EBD-E39E-4458-8B0B-91BA8B3C631A}" destId="{79902131-BF49-42FE-B2E4-0C55531A31EE}" srcOrd="0" destOrd="0" presId="urn:microsoft.com/office/officeart/2005/8/layout/vList2"/>
    <dgm:cxn modelId="{76EA3F1D-5BFF-4A86-98F1-3FABB0ABF2E1}" srcId="{DBA36D84-5BAB-45D1-A2B8-F176BEF9162E}" destId="{930D5019-4EC3-455C-8C80-CFC4DD7DC5DF}" srcOrd="1" destOrd="0" parTransId="{C7702BB1-2644-475D-B4D0-439A1731DCB9}" sibTransId="{BD5EC88F-8703-4E7A-9166-2DA4CB3120AA}"/>
    <dgm:cxn modelId="{C5F20C35-1816-471E-AEED-677E7503AC4A}" srcId="{DBA36D84-5BAB-45D1-A2B8-F176BEF9162E}" destId="{E3701DBA-767A-458C-ACAF-939C79D60188}" srcOrd="2" destOrd="0" parTransId="{3248D084-47C0-4504-9FCA-94E923DEFE5B}" sibTransId="{14181256-7D37-4176-ACBF-6719F5F131ED}"/>
    <dgm:cxn modelId="{EF655539-829C-4AD9-853B-10532D14CBAA}" type="presOf" srcId="{E3701DBA-767A-458C-ACAF-939C79D60188}" destId="{C083D385-5DD0-4558-AD28-963D67A076F6}" srcOrd="0" destOrd="0" presId="urn:microsoft.com/office/officeart/2005/8/layout/vList2"/>
    <dgm:cxn modelId="{6977E63A-03FF-428D-92AE-B44504BF7A6F}" srcId="{DBA36D84-5BAB-45D1-A2B8-F176BEF9162E}" destId="{EAB6C58C-23C1-433F-9F8A-9F139D754B1F}" srcOrd="7" destOrd="0" parTransId="{F59DA0A7-51E3-4C74-BEE4-213FACB99972}" sibTransId="{11801AE2-EFB8-402C-B609-73F30F1A6AFB}"/>
    <dgm:cxn modelId="{A9B4AF61-8150-4D28-B1EE-AD454261BF25}" type="presOf" srcId="{930D5019-4EC3-455C-8C80-CFC4DD7DC5DF}" destId="{1A525BCA-1A4F-4819-BB75-6F4CA8925823}" srcOrd="0" destOrd="0" presId="urn:microsoft.com/office/officeart/2005/8/layout/vList2"/>
    <dgm:cxn modelId="{DE40408E-ACFD-4559-A792-2342FF819ECC}" srcId="{DBA36D84-5BAB-45D1-A2B8-F176BEF9162E}" destId="{0A6289AE-23FA-4A73-A566-7000AB31C850}" srcOrd="6" destOrd="0" parTransId="{0B43D16D-4512-4B6B-A91D-145D25BD6E4D}" sibTransId="{1B53EA60-ED06-4D4D-8136-06A8BDFFB4F3}"/>
    <dgm:cxn modelId="{A2A20491-99FE-45ED-954F-BB6B7F52C578}" type="presOf" srcId="{6C9AF0B4-5885-4FD3-B94D-63EFB9589697}" destId="{7A6E5095-D252-4F3E-A6EB-F0AF27C7A5CB}" srcOrd="0" destOrd="0" presId="urn:microsoft.com/office/officeart/2005/8/layout/vList2"/>
    <dgm:cxn modelId="{A0AE3795-344F-4E02-9F01-3141B788D5CA}" type="presOf" srcId="{D8C73807-C676-40BD-961E-8DC5D818ACE0}" destId="{B9B72A30-DDCF-408D-AD82-FC6B3C0AE7E0}" srcOrd="0" destOrd="0" presId="urn:microsoft.com/office/officeart/2005/8/layout/vList2"/>
    <dgm:cxn modelId="{8311A1DD-39B8-484C-9F56-75E10DD97407}" type="presOf" srcId="{EAB6C58C-23C1-433F-9F8A-9F139D754B1F}" destId="{56C16E4C-0D5F-4697-80F6-0E2789B520D7}" srcOrd="0" destOrd="0" presId="urn:microsoft.com/office/officeart/2005/8/layout/vList2"/>
    <dgm:cxn modelId="{5300FCE5-B917-4AE4-9150-9411330037D4}" srcId="{DBA36D84-5BAB-45D1-A2B8-F176BEF9162E}" destId="{D8C73807-C676-40BD-961E-8DC5D818ACE0}" srcOrd="4" destOrd="0" parTransId="{C817E581-C2F0-48AF-B8D8-EE6E7E826000}" sibTransId="{C980CA5F-5DDA-4D4E-A67F-7374867BC9E6}"/>
    <dgm:cxn modelId="{937203E7-1BB2-4D47-B1CD-65B1A2C55158}" type="presOf" srcId="{A351FB44-770B-4A12-A325-1FAAD4EB8EC8}" destId="{DA397F1A-DE59-4591-BD93-804EC3EF7AAF}" srcOrd="0" destOrd="0" presId="urn:microsoft.com/office/officeart/2005/8/layout/vList2"/>
    <dgm:cxn modelId="{4A4D73E8-9ECF-4F54-8AF2-2C083C64CCB7}" srcId="{DBA36D84-5BAB-45D1-A2B8-F176BEF9162E}" destId="{A351FB44-770B-4A12-A325-1FAAD4EB8EC8}" srcOrd="0" destOrd="0" parTransId="{5E7BF412-4992-46F5-98DE-CDC014D774A2}" sibTransId="{1DE68768-D2D1-4873-8BA5-A363106FE765}"/>
    <dgm:cxn modelId="{D63814F3-6DE2-4F3E-BDA7-15D70B8CC3E2}" srcId="{DBA36D84-5BAB-45D1-A2B8-F176BEF9162E}" destId="{6C9AF0B4-5885-4FD3-B94D-63EFB9589697}" srcOrd="3" destOrd="0" parTransId="{17F703CF-A0E3-4969-8510-D84F31A3C2C1}" sibTransId="{8D87B2FC-AC3A-4481-A843-7F84469506EF}"/>
    <dgm:cxn modelId="{263F1CF3-C351-4A54-9049-FBA6D9AD0CD5}" srcId="{DBA36D84-5BAB-45D1-A2B8-F176BEF9162E}" destId="{32666EBD-E39E-4458-8B0B-91BA8B3C631A}" srcOrd="5" destOrd="0" parTransId="{38D16934-7A9E-4B9C-89C4-E0EFBAD90081}" sibTransId="{C547C993-B0C2-4BCA-A833-1B492EE75CD2}"/>
    <dgm:cxn modelId="{DFD9BBFC-59A9-4B84-A23A-F3DB2B20CC85}" type="presOf" srcId="{0A6289AE-23FA-4A73-A566-7000AB31C850}" destId="{321B5107-D207-4021-9FA6-F461F07913E1}" srcOrd="0" destOrd="0" presId="urn:microsoft.com/office/officeart/2005/8/layout/vList2"/>
    <dgm:cxn modelId="{7D7E47D5-BA2D-4A49-8CD2-F46CE9C3BDE6}" type="presParOf" srcId="{0E6D231F-4E4F-41AA-8E80-E28674DDCB45}" destId="{DA397F1A-DE59-4591-BD93-804EC3EF7AAF}" srcOrd="0" destOrd="0" presId="urn:microsoft.com/office/officeart/2005/8/layout/vList2"/>
    <dgm:cxn modelId="{5ABE4CA3-337F-4B81-A2F4-94FA3714D16A}" type="presParOf" srcId="{0E6D231F-4E4F-41AA-8E80-E28674DDCB45}" destId="{114F4615-356A-4320-83E7-58AD3EEA5676}" srcOrd="1" destOrd="0" presId="urn:microsoft.com/office/officeart/2005/8/layout/vList2"/>
    <dgm:cxn modelId="{D0C8B886-F15B-4278-8831-C743359AC569}" type="presParOf" srcId="{0E6D231F-4E4F-41AA-8E80-E28674DDCB45}" destId="{1A525BCA-1A4F-4819-BB75-6F4CA8925823}" srcOrd="2" destOrd="0" presId="urn:microsoft.com/office/officeart/2005/8/layout/vList2"/>
    <dgm:cxn modelId="{8931E037-0659-4226-B413-BDA666E7747A}" type="presParOf" srcId="{0E6D231F-4E4F-41AA-8E80-E28674DDCB45}" destId="{5D5A17C8-7106-4C90-AAB4-2C7DEED7FDE4}" srcOrd="3" destOrd="0" presId="urn:microsoft.com/office/officeart/2005/8/layout/vList2"/>
    <dgm:cxn modelId="{DC49987D-4529-4A55-8108-C2CC665886CA}" type="presParOf" srcId="{0E6D231F-4E4F-41AA-8E80-E28674DDCB45}" destId="{C083D385-5DD0-4558-AD28-963D67A076F6}" srcOrd="4" destOrd="0" presId="urn:microsoft.com/office/officeart/2005/8/layout/vList2"/>
    <dgm:cxn modelId="{8B73C3BA-1C2A-4686-9C16-700DD9ECEFAB}" type="presParOf" srcId="{0E6D231F-4E4F-41AA-8E80-E28674DDCB45}" destId="{6380FE24-7A40-44EA-BB4C-9A913331EF6C}" srcOrd="5" destOrd="0" presId="urn:microsoft.com/office/officeart/2005/8/layout/vList2"/>
    <dgm:cxn modelId="{0B0DF193-C549-4D4B-AF7B-6DB935BB3AF5}" type="presParOf" srcId="{0E6D231F-4E4F-41AA-8E80-E28674DDCB45}" destId="{7A6E5095-D252-4F3E-A6EB-F0AF27C7A5CB}" srcOrd="6" destOrd="0" presId="urn:microsoft.com/office/officeart/2005/8/layout/vList2"/>
    <dgm:cxn modelId="{9B65B38F-E7D4-402F-96B5-38345A4FDDF5}" type="presParOf" srcId="{0E6D231F-4E4F-41AA-8E80-E28674DDCB45}" destId="{F89FC013-662C-4543-B4DC-5BAD21560FDE}" srcOrd="7" destOrd="0" presId="urn:microsoft.com/office/officeart/2005/8/layout/vList2"/>
    <dgm:cxn modelId="{BBE57727-AA40-4158-BD39-84CEA5834218}" type="presParOf" srcId="{0E6D231F-4E4F-41AA-8E80-E28674DDCB45}" destId="{B9B72A30-DDCF-408D-AD82-FC6B3C0AE7E0}" srcOrd="8" destOrd="0" presId="urn:microsoft.com/office/officeart/2005/8/layout/vList2"/>
    <dgm:cxn modelId="{1EA981BA-9866-4836-9E04-4FD07F254DCC}" type="presParOf" srcId="{0E6D231F-4E4F-41AA-8E80-E28674DDCB45}" destId="{C8EC8133-5255-4EBB-BAE6-7559384ED65A}" srcOrd="9" destOrd="0" presId="urn:microsoft.com/office/officeart/2005/8/layout/vList2"/>
    <dgm:cxn modelId="{C690EE42-CAE9-468A-8C0B-5C709AB007C5}" type="presParOf" srcId="{0E6D231F-4E4F-41AA-8E80-E28674DDCB45}" destId="{79902131-BF49-42FE-B2E4-0C55531A31EE}" srcOrd="10" destOrd="0" presId="urn:microsoft.com/office/officeart/2005/8/layout/vList2"/>
    <dgm:cxn modelId="{F99502A4-1203-40A0-B36F-2DF076CAC7AF}" type="presParOf" srcId="{0E6D231F-4E4F-41AA-8E80-E28674DDCB45}" destId="{FAE9AE73-3E89-49B8-AB2B-26F0747F7D24}" srcOrd="11" destOrd="0" presId="urn:microsoft.com/office/officeart/2005/8/layout/vList2"/>
    <dgm:cxn modelId="{5991DD59-AADB-4E6F-99D9-774CB2C31C08}" type="presParOf" srcId="{0E6D231F-4E4F-41AA-8E80-E28674DDCB45}" destId="{321B5107-D207-4021-9FA6-F461F07913E1}" srcOrd="12" destOrd="0" presId="urn:microsoft.com/office/officeart/2005/8/layout/vList2"/>
    <dgm:cxn modelId="{C1A6AECD-347D-4EC7-96B6-8BCA77C5B5E1}" type="presParOf" srcId="{0E6D231F-4E4F-41AA-8E80-E28674DDCB45}" destId="{46CE78D1-6DEE-4C04-A733-C926753C8CBB}" srcOrd="13" destOrd="0" presId="urn:microsoft.com/office/officeart/2005/8/layout/vList2"/>
    <dgm:cxn modelId="{C01609E2-B4F3-4824-9650-6D31952EA1E8}" type="presParOf" srcId="{0E6D231F-4E4F-41AA-8E80-E28674DDCB45}" destId="{56C16E4C-0D5F-4697-80F6-0E2789B520D7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5D0575-7E87-4FB0-B2BE-4B1AB6E60FE3}">
      <dsp:nvSpPr>
        <dsp:cNvPr id="0" name=""/>
        <dsp:cNvSpPr/>
      </dsp:nvSpPr>
      <dsp:spPr>
        <a:xfrm>
          <a:off x="0" y="16713"/>
          <a:ext cx="10614218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600" kern="1200"/>
            <a:t>Most of the time it makes more sense to design as much of your database, in as much detail as possible before you implement it. </a:t>
          </a:r>
        </a:p>
      </dsp:txBody>
      <dsp:txXfrm>
        <a:off x="50489" y="67202"/>
        <a:ext cx="10513240" cy="933302"/>
      </dsp:txXfrm>
    </dsp:sp>
    <dsp:sp modelId="{57A6BBB1-5E59-4C06-A964-E4D06C044834}">
      <dsp:nvSpPr>
        <dsp:cNvPr id="0" name=""/>
        <dsp:cNvSpPr/>
      </dsp:nvSpPr>
      <dsp:spPr>
        <a:xfrm>
          <a:off x="0" y="1125873"/>
          <a:ext cx="10614218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600" kern="1200"/>
            <a:t>In this way you can define the Relationships when you create the Table, and not have to alter the table afterwards. </a:t>
          </a:r>
        </a:p>
      </dsp:txBody>
      <dsp:txXfrm>
        <a:off x="50489" y="1176362"/>
        <a:ext cx="10513240" cy="933302"/>
      </dsp:txXfrm>
    </dsp:sp>
    <dsp:sp modelId="{46A72B73-9F28-4A5E-8C48-88F967BA5029}">
      <dsp:nvSpPr>
        <dsp:cNvPr id="0" name=""/>
        <dsp:cNvSpPr/>
      </dsp:nvSpPr>
      <dsp:spPr>
        <a:xfrm>
          <a:off x="0" y="2235033"/>
          <a:ext cx="10614218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600" kern="1200"/>
            <a:t>In our example we have already created our primary table (todo item), so we will just be altering this table going forward.</a:t>
          </a:r>
        </a:p>
      </dsp:txBody>
      <dsp:txXfrm>
        <a:off x="50489" y="2285522"/>
        <a:ext cx="10513240" cy="933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97F1A-DE59-4591-BD93-804EC3EF7AAF}">
      <dsp:nvSpPr>
        <dsp:cNvPr id="0" name=""/>
        <dsp:cNvSpPr/>
      </dsp:nvSpPr>
      <dsp:spPr>
        <a:xfrm>
          <a:off x="0" y="446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1. Returning from a Function</a:t>
          </a:r>
          <a:endParaRPr lang="en-AE" sz="1400" kern="1200"/>
        </a:p>
      </dsp:txBody>
      <dsp:txXfrm>
        <a:off x="16392" y="20859"/>
        <a:ext cx="3828843" cy="303006"/>
      </dsp:txXfrm>
    </dsp:sp>
    <dsp:sp modelId="{1A525BCA-1A4F-4819-BB75-6F4CA8925823}">
      <dsp:nvSpPr>
        <dsp:cNvPr id="0" name=""/>
        <dsp:cNvSpPr/>
      </dsp:nvSpPr>
      <dsp:spPr>
        <a:xfrm>
          <a:off x="0" y="38057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2. Returning from a Procedure</a:t>
          </a:r>
          <a:endParaRPr lang="en-AE" sz="1400" kern="1200"/>
        </a:p>
      </dsp:txBody>
      <dsp:txXfrm>
        <a:off x="16392" y="396969"/>
        <a:ext cx="3828843" cy="303006"/>
      </dsp:txXfrm>
    </dsp:sp>
    <dsp:sp modelId="{C083D385-5DD0-4558-AD28-963D67A076F6}">
      <dsp:nvSpPr>
        <dsp:cNvPr id="0" name=""/>
        <dsp:cNvSpPr/>
      </dsp:nvSpPr>
      <dsp:spPr>
        <a:xfrm>
          <a:off x="0" y="75668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3. Calling a Procedure</a:t>
          </a:r>
          <a:endParaRPr lang="en-AE" sz="1400" kern="1200"/>
        </a:p>
      </dsp:txBody>
      <dsp:txXfrm>
        <a:off x="16392" y="773079"/>
        <a:ext cx="3828843" cy="303006"/>
      </dsp:txXfrm>
    </dsp:sp>
    <dsp:sp modelId="{7A6E5095-D252-4F3E-A6EB-F0AF27C7A5CB}">
      <dsp:nvSpPr>
        <dsp:cNvPr id="0" name=""/>
        <dsp:cNvSpPr/>
      </dsp:nvSpPr>
      <dsp:spPr>
        <a:xfrm>
          <a:off x="0" y="113279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4. Conditionals</a:t>
          </a:r>
          <a:endParaRPr lang="en-AE" sz="1400" kern="1200"/>
        </a:p>
      </dsp:txBody>
      <dsp:txXfrm>
        <a:off x="16392" y="1149189"/>
        <a:ext cx="3828843" cy="303006"/>
      </dsp:txXfrm>
    </dsp:sp>
    <dsp:sp modelId="{B9B72A30-DDCF-408D-AD82-FC6B3C0AE7E0}">
      <dsp:nvSpPr>
        <dsp:cNvPr id="0" name=""/>
        <dsp:cNvSpPr/>
      </dsp:nvSpPr>
      <dsp:spPr>
        <a:xfrm>
          <a:off x="0" y="150890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5. Simple Loops</a:t>
          </a:r>
          <a:endParaRPr lang="en-AE" sz="1400" kern="1200"/>
        </a:p>
      </dsp:txBody>
      <dsp:txXfrm>
        <a:off x="16392" y="1525299"/>
        <a:ext cx="3828843" cy="303006"/>
      </dsp:txXfrm>
    </dsp:sp>
    <dsp:sp modelId="{79902131-BF49-42FE-B2E4-0C55531A31EE}">
      <dsp:nvSpPr>
        <dsp:cNvPr id="0" name=""/>
        <dsp:cNvSpPr/>
      </dsp:nvSpPr>
      <dsp:spPr>
        <a:xfrm>
          <a:off x="0" y="188501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6. Looping through Query Results</a:t>
          </a:r>
          <a:endParaRPr lang="en-AE" sz="1400" kern="1200"/>
        </a:p>
      </dsp:txBody>
      <dsp:txXfrm>
        <a:off x="16392" y="1901409"/>
        <a:ext cx="3828843" cy="303006"/>
      </dsp:txXfrm>
    </dsp:sp>
    <dsp:sp modelId="{321B5107-D207-4021-9FA6-F461F07913E1}">
      <dsp:nvSpPr>
        <dsp:cNvPr id="0" name=""/>
        <dsp:cNvSpPr/>
      </dsp:nvSpPr>
      <dsp:spPr>
        <a:xfrm>
          <a:off x="0" y="226112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7. Looping through Arrays</a:t>
          </a:r>
          <a:endParaRPr lang="en-AE" sz="1400" kern="1200"/>
        </a:p>
      </dsp:txBody>
      <dsp:txXfrm>
        <a:off x="16392" y="2277519"/>
        <a:ext cx="3828843" cy="303006"/>
      </dsp:txXfrm>
    </dsp:sp>
    <dsp:sp modelId="{56C16E4C-0D5F-4697-80F6-0E2789B520D7}">
      <dsp:nvSpPr>
        <dsp:cNvPr id="0" name=""/>
        <dsp:cNvSpPr/>
      </dsp:nvSpPr>
      <dsp:spPr>
        <a:xfrm>
          <a:off x="0" y="263723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…</a:t>
          </a:r>
          <a:endParaRPr lang="en-AE" sz="1400" kern="1200"/>
        </a:p>
      </dsp:txBody>
      <dsp:txXfrm>
        <a:off x="16392" y="2653629"/>
        <a:ext cx="3828843" cy="3030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346B67-71C4-6A20-5B1F-CF02011E03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DA43-4E6A-F57C-F129-8621F4C48E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B6302-81D9-3341-8BEE-558FFE2510A3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356D5-F218-1A4F-F824-0004C2F048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BB1A6-FD46-F964-76CD-4727A6A780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4192F-5B50-BB49-817A-7CA11482C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423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BDFEF-057C-A843-8C81-03384ABB4BFC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D149E-358D-2440-BDD5-072440F2B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5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9025F-7B86-8A38-E832-E18254636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CDC3D-158E-0E39-1F5E-35F36611D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1D0BB-94F9-B55C-948E-EB4DD2209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728F9-234E-2020-BBA1-0DAAB96E4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4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82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GROUP BY clause lets you group rows with the same value into summary rows, often combined with aggregate functions like COUNT, SUM, AVG, etc..​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 Find out how many tasks are assigned to each owner in a to-do list.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1EDD5-97F0-BA47-9D99-8FAC7C74E71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94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1EDD5-97F0-BA47-9D99-8FAC7C74E71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84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77841" y="1286677"/>
            <a:ext cx="9144000" cy="2387600"/>
          </a:xfrm>
          <a:prstGeom prst="rect">
            <a:avLst/>
          </a:prstGeom>
          <a:solidFill>
            <a:schemeClr val="bg1"/>
          </a:solidFill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77841" y="3674277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F70169D-EE12-91DD-C274-7DD153D21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2240" y="6195497"/>
            <a:ext cx="2635601" cy="4792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560F2C9-9372-B4EA-FD55-10766EB0EA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21141" y="5417276"/>
            <a:ext cx="5600700" cy="12892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4CE6E0-1991-7CC2-3228-E4A9872CC9E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0841" y="1270000"/>
            <a:ext cx="2667000" cy="41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27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9760" y="1274763"/>
            <a:ext cx="836168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59758" y="3707702"/>
            <a:ext cx="836168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004D5CD-1028-023E-1A5D-3C1E0FD4DE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6400" y="6075022"/>
            <a:ext cx="2635601" cy="4792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9E5D75-EA66-17C6-8119-0F3593CC53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62320" y="5448555"/>
            <a:ext cx="6224270" cy="1344358"/>
          </a:xfrm>
          <a:prstGeom prst="rect">
            <a:avLst/>
          </a:prstGeom>
        </p:spPr>
      </p:pic>
      <p:pic>
        <p:nvPicPr>
          <p:cNvPr id="27" name="Picture 26" descr="A computer screen with code and cloud&#10;&#10;AI-generated content may be incorrect.">
            <a:extLst>
              <a:ext uri="{FF2B5EF4-FFF2-40B4-BE49-F238E27FC236}">
                <a16:creationId xmlns:a16="http://schemas.microsoft.com/office/drawing/2014/main" id="{74AD1BCB-FF0C-133F-7A37-56116C0DB0D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1653" y="1274763"/>
            <a:ext cx="2780348" cy="1853565"/>
          </a:xfrm>
          <a:prstGeom prst="rect">
            <a:avLst/>
          </a:prstGeom>
          <a:effectLst>
            <a:reflection stA="41000" endPos="65000" dist="114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8965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437430"/>
            <a:ext cx="10861040" cy="577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353695"/>
            <a:ext cx="10861040" cy="448830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831E387-C2E6-8183-4FD6-1B0A812582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3359" y="6180925"/>
            <a:ext cx="2635601" cy="4792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28549A-B9A2-E0C2-9A0C-BC543965E1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95677" y="6101715"/>
            <a:ext cx="35147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1B1B1B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4. Content Placeholder (2)">
            <a:extLst>
              <a:ext uri="{FF2B5EF4-FFF2-40B4-BE49-F238E27FC236}">
                <a16:creationId xmlns:a16="http://schemas.microsoft.com/office/drawing/2014/main" id="{53C047A4-2E76-022B-2525-898053FDCC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036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1B1B1B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CECC89-37C6-DD92-BD75-F5B6FD637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199" y="6180925"/>
            <a:ext cx="2635601" cy="4792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09038A-B821-C355-53EC-71D38F1B09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55037" y="6072907"/>
            <a:ext cx="35147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40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3" name="3. Content Placeholder (1)">
            <a:extLst>
              <a:ext uri="{FF2B5EF4-FFF2-40B4-BE49-F238E27FC236}">
                <a16:creationId xmlns:a16="http://schemas.microsoft.com/office/drawing/2014/main" id="{A162B99D-4A4D-B778-5FD2-9F4A22B0B3A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4. Text Box Placeholder (1)">
            <a:extLst>
              <a:ext uri="{FF2B5EF4-FFF2-40B4-BE49-F238E27FC236}">
                <a16:creationId xmlns:a16="http://schemas.microsoft.com/office/drawing/2014/main" id="{6D6CB8B4-9C8E-A2FA-558C-30A5D08270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069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4" name="5. Content Placeholder (2)">
            <a:extLst>
              <a:ext uri="{FF2B5EF4-FFF2-40B4-BE49-F238E27FC236}">
                <a16:creationId xmlns:a16="http://schemas.microsoft.com/office/drawing/2014/main" id="{A2B13861-080E-609A-01A7-5EDC25A0B0F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6. Text Box Placeholder (2)">
            <a:extLst>
              <a:ext uri="{FF2B5EF4-FFF2-40B4-BE49-F238E27FC236}">
                <a16:creationId xmlns:a16="http://schemas.microsoft.com/office/drawing/2014/main" id="{005774E2-5CA0-1157-5F43-7B5C9996EF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5525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9" name="7. Content Placeholder (3)">
            <a:extLst>
              <a:ext uri="{FF2B5EF4-FFF2-40B4-BE49-F238E27FC236}">
                <a16:creationId xmlns:a16="http://schemas.microsoft.com/office/drawing/2014/main" id="{5565E762-8883-AB43-D811-12B759024A9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8. Text Box Placeholder (3)">
            <a:extLst>
              <a:ext uri="{FF2B5EF4-FFF2-40B4-BE49-F238E27FC236}">
                <a16:creationId xmlns:a16="http://schemas.microsoft.com/office/drawing/2014/main" id="{D584B818-73B8-22FE-5635-36F576CEAB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3782" y="4400389"/>
            <a:ext cx="2520475" cy="981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393837B-1B16-F25B-143D-A10BAF58B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6399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54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Title Placeholder">
            <a:extLst>
              <a:ext uri="{FF2B5EF4-FFF2-40B4-BE49-F238E27FC236}">
                <a16:creationId xmlns:a16="http://schemas.microsoft.com/office/drawing/2014/main" id="{4D8642A1-7E6D-B42F-7749-8DC80C6DED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754224"/>
            <a:ext cx="6520180" cy="9760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798414E1-64D1-96D6-D06F-F94F3202C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0595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6B7F87-1CCB-931C-DAFC-042D7E6879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53478" y="62278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27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. Title Placeholder">
            <a:extLst>
              <a:ext uri="{FF2B5EF4-FFF2-40B4-BE49-F238E27FC236}">
                <a16:creationId xmlns:a16="http://schemas.microsoft.com/office/drawing/2014/main" id="{DC759DBE-3BA0-9E84-5596-2AD69AA128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  <p:sp>
        <p:nvSpPr>
          <p:cNvPr id="7" name="2. Subtitle Placeholder">
            <a:extLst>
              <a:ext uri="{FF2B5EF4-FFF2-40B4-BE49-F238E27FC236}">
                <a16:creationId xmlns:a16="http://schemas.microsoft.com/office/drawing/2014/main" id="{02A192BC-C9DB-F0AB-B1DE-03D15E5A8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6F1A4B-7C20-D3E8-BAAB-933BDC2603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6399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43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title here.</a:t>
            </a:r>
            <a:endParaRPr lang="en-US"/>
          </a:p>
        </p:txBody>
      </p:sp>
      <p:sp>
        <p:nvSpPr>
          <p:cNvPr id="8" name="2. Subtitle Placeholder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526FB-1163-BD4A-7E80-3940E63F40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07653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9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F0E6-21D2-4C9C-BD46-98268A1075BF}" type="datetime1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71167"/>
            <a:ext cx="2743200" cy="365125"/>
          </a:xfrm>
        </p:spPr>
        <p:txBody>
          <a:bodyPr/>
          <a:lstStyle>
            <a:lvl1pPr>
              <a:defRPr sz="2000">
                <a:solidFill>
                  <a:srgbClr val="00B0F0"/>
                </a:solidFill>
              </a:defRPr>
            </a:lvl1pPr>
          </a:lstStyle>
          <a:p>
            <a:fld id="{DFBCB640-E2E4-46AC-8607-2102058E59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222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BD39-3891-DC2A-64A8-C77B2D9D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EC3B9-E9F3-932E-46CC-7DD8DE081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3B7C-E31C-4E4B-B7B1-1C0EFCDC61BA}" type="datetime1">
              <a:rPr lang="en-GB" smtClean="0"/>
              <a:t>19/10/2025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9FFC5-7DEF-F17F-6457-118C93B71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D9146-469D-606B-A7FB-C6043E50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E1C1-71D4-4A45-AA15-7F84C65D80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037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C08AA-2148-527A-BB20-1D271A40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97B6-4643-3710-FBDF-B4E98217F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4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0" r:id="rId4"/>
    <p:sldLayoutId id="2147483705" r:id="rId5"/>
    <p:sldLayoutId id="2147483686" r:id="rId6"/>
    <p:sldLayoutId id="2147483708" r:id="rId7"/>
    <p:sldLayoutId id="2147483709" r:id="rId8"/>
    <p:sldLayoutId id="2147483710" r:id="rId9"/>
    <p:sldLayoutId id="214748371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1B1B1B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diagramLayout" Target="../diagrams/layout2.xml"/><Relationship Id="rId7" Type="http://schemas.openxmlformats.org/officeDocument/2006/relationships/hyperlink" Target="https://www.postgresql.org/docs/current/plpgsql-control-structures.html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768C86-624D-8C07-4D86-1033946C807A}"/>
              </a:ext>
            </a:extLst>
          </p:cNvPr>
          <p:cNvSpPr txBox="1"/>
          <p:nvPr/>
        </p:nvSpPr>
        <p:spPr>
          <a:xfrm>
            <a:off x="1395131" y="2755920"/>
            <a:ext cx="998107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Week 4: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Basic SQL Querying – Operators, Ordering, and Aggregation</a:t>
            </a:r>
            <a:b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58DED-46BC-B5E7-81F4-C785D48D68AA}"/>
              </a:ext>
            </a:extLst>
          </p:cNvPr>
          <p:cNvSpPr txBox="1"/>
          <p:nvPr/>
        </p:nvSpPr>
        <p:spPr>
          <a:xfrm>
            <a:off x="1395131" y="1644134"/>
            <a:ext cx="90263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LI Databases &amp; Web Programming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00B5AC-F645-8030-6E9F-3F3E1D3FD6C7}"/>
              </a:ext>
            </a:extLst>
          </p:cNvPr>
          <p:cNvSpPr txBox="1"/>
          <p:nvPr/>
        </p:nvSpPr>
        <p:spPr>
          <a:xfrm>
            <a:off x="4559555" y="4694912"/>
            <a:ext cx="30728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Anelia Kurteva</a:t>
            </a:r>
          </a:p>
          <a:p>
            <a:pPr algn="ctr"/>
            <a:r>
              <a:rPr lang="en-US" sz="2400" dirty="0" err="1"/>
              <a:t>a.kurteva@bham.ac.uk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7800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4F3FF-2A85-76E8-757B-ED7ADF83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28EC-47F3-5545-C2D2-A49D82D5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C9E98-72D8-6700-37E2-E66CCFB8C2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505230"/>
            <a:ext cx="11219688" cy="3847540"/>
          </a:xfrm>
        </p:spPr>
        <p:txBody>
          <a:bodyPr>
            <a:normAutofit/>
          </a:bodyPr>
          <a:lstStyle/>
          <a:p>
            <a:r>
              <a:rPr lang="en-US" sz="2800" dirty="0"/>
              <a:t>Week 5 class test - Canvas quiz (worth 25 %)</a:t>
            </a:r>
          </a:p>
          <a:p>
            <a:endParaRPr lang="en-US" sz="2800" dirty="0"/>
          </a:p>
          <a:p>
            <a:r>
              <a:rPr lang="en-US" sz="2800" dirty="0"/>
              <a:t>Format: Multiple-choice questions</a:t>
            </a:r>
          </a:p>
          <a:p>
            <a:endParaRPr lang="en-US" sz="2800" dirty="0"/>
          </a:p>
          <a:p>
            <a:r>
              <a:rPr lang="en-US" sz="2800" dirty="0"/>
              <a:t>Coverage: Weeks 1 to 4</a:t>
            </a:r>
          </a:p>
          <a:p>
            <a:endParaRPr lang="en-US" sz="2800" dirty="0"/>
          </a:p>
          <a:p>
            <a:r>
              <a:rPr lang="en-US" sz="2800" dirty="0"/>
              <a:t>Takes place during the lecture!</a:t>
            </a:r>
          </a:p>
          <a:p>
            <a:endParaRPr lang="en-US" sz="2800" dirty="0"/>
          </a:p>
          <a:p>
            <a:endParaRPr lang="en-AE" sz="2800" dirty="0"/>
          </a:p>
        </p:txBody>
      </p:sp>
    </p:spTree>
    <p:extLst>
      <p:ext uri="{BB962C8B-B14F-4D97-AF65-F5344CB8AC3E}">
        <p14:creationId xmlns:p14="http://schemas.microsoft.com/office/powerpoint/2010/main" val="2690893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87D23D-3798-8BAD-52D7-2DFDA890B580}"/>
              </a:ext>
            </a:extLst>
          </p:cNvPr>
          <p:cNvSpPr txBox="1">
            <a:spLocks/>
          </p:cNvSpPr>
          <p:nvPr/>
        </p:nvSpPr>
        <p:spPr>
          <a:xfrm>
            <a:off x="96279" y="1142626"/>
            <a:ext cx="2412003" cy="577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This Week</a:t>
            </a:r>
            <a:endParaRPr lang="en-A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2872EA-FAC6-0C3E-1252-34E9A0466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535197"/>
              </p:ext>
            </p:extLst>
          </p:nvPr>
        </p:nvGraphicFramePr>
        <p:xfrm>
          <a:off x="2602411" y="263671"/>
          <a:ext cx="9399181" cy="6237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411">
                  <a:extLst>
                    <a:ext uri="{9D8B030D-6E8A-4147-A177-3AD203B41FA5}">
                      <a16:colId xmlns:a16="http://schemas.microsoft.com/office/drawing/2014/main" val="3694587546"/>
                    </a:ext>
                  </a:extLst>
                </a:gridCol>
                <a:gridCol w="2320423">
                  <a:extLst>
                    <a:ext uri="{9D8B030D-6E8A-4147-A177-3AD203B41FA5}">
                      <a16:colId xmlns:a16="http://schemas.microsoft.com/office/drawing/2014/main" val="1946343675"/>
                    </a:ext>
                  </a:extLst>
                </a:gridCol>
                <a:gridCol w="1424821">
                  <a:extLst>
                    <a:ext uri="{9D8B030D-6E8A-4147-A177-3AD203B41FA5}">
                      <a16:colId xmlns:a16="http://schemas.microsoft.com/office/drawing/2014/main" val="2219019823"/>
                    </a:ext>
                  </a:extLst>
                </a:gridCol>
                <a:gridCol w="4941526">
                  <a:extLst>
                    <a:ext uri="{9D8B030D-6E8A-4147-A177-3AD203B41FA5}">
                      <a16:colId xmlns:a16="http://schemas.microsoft.com/office/drawing/2014/main" val="3697729728"/>
                    </a:ext>
                  </a:extLst>
                </a:gridCol>
              </a:tblGrid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Lecture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Lab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Topic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920893"/>
                  </a:ext>
                </a:extLst>
              </a:tr>
              <a:tr h="3687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1 - Wednesdays (10:00-12:00)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2 - Fridays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 (12:00-14:00)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Fridays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(14:00-17:00)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Introduction to databases;  Database design guidelines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773942"/>
                  </a:ext>
                </a:extLst>
              </a:tr>
              <a:tr h="583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Database design, Entity relation (ER) modelling; Keys; </a:t>
                      </a:r>
                      <a:r>
                        <a:rPr lang="en-US" sz="1600" dirty="0" err="1">
                          <a:latin typeface="+mn-lt"/>
                        </a:rPr>
                        <a:t>Normalisation</a:t>
                      </a:r>
                      <a:r>
                        <a:rPr lang="en-US" sz="1600" dirty="0">
                          <a:latin typeface="+mn-lt"/>
                        </a:rPr>
                        <a:t>​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455715"/>
                  </a:ext>
                </a:extLst>
              </a:tr>
              <a:tr h="116979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289384"/>
                  </a:ext>
                </a:extLst>
              </a:tr>
              <a:tr h="581550">
                <a:tc vMerge="1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Creating and populating databases; </a:t>
                      </a:r>
                      <a:r>
                        <a:rPr lang="en-US" sz="16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PostgreSQL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87852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SQL Querying – Operators, Ordering, Aggregation; NoSQL and Graph Databases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54541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86376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NoSQL and Graph Databases; Assessment support week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216521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programming introduction; Tech stack, Template application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008016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applications vs Static pages; Tech stack concepts; REST APIs; RESTFUL style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997059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application structure,; </a:t>
                      </a: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annotations, case study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342401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Front end concepts, TypeScript fundamentals, Angular front end development,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03297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074625"/>
                  </a:ext>
                </a:extLst>
              </a:tr>
            </a:tbl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29BBA260-3262-3149-637B-351392C45E84}"/>
              </a:ext>
            </a:extLst>
          </p:cNvPr>
          <p:cNvSpPr/>
          <p:nvPr/>
        </p:nvSpPr>
        <p:spPr>
          <a:xfrm>
            <a:off x="416772" y="2598921"/>
            <a:ext cx="2185639" cy="468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4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4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9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(Last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97" y="1690688"/>
            <a:ext cx="11089640" cy="4351338"/>
          </a:xfrm>
          <a:noFill/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a Database and Tables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SQL commands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5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111" y="2363789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0556AE-A349-E1D0-9695-6939A176053A}"/>
              </a:ext>
            </a:extLst>
          </p:cNvPr>
          <p:cNvSpPr txBox="1"/>
          <p:nvPr/>
        </p:nvSpPr>
        <p:spPr>
          <a:xfrm>
            <a:off x="10112319" y="246218"/>
            <a:ext cx="172895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152667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41278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6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85812E3-0D6D-8654-3334-0C7AD6CDD9B4}"/>
              </a:ext>
            </a:extLst>
          </p:cNvPr>
          <p:cNvSpPr/>
          <p:nvPr/>
        </p:nvSpPr>
        <p:spPr>
          <a:xfrm>
            <a:off x="63807" y="941278"/>
            <a:ext cx="713433" cy="79146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5650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97370-2163-9BA0-1BEF-A7C8218F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CB640-E2E4-46AC-8607-2102058E596E}" type="slidenum">
              <a:rPr lang="en-GB" smtClean="0"/>
              <a:t>7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E4578-E4D1-9ABF-225B-E936EA4C8ECA}"/>
              </a:ext>
            </a:extLst>
          </p:cNvPr>
          <p:cNvSpPr txBox="1"/>
          <p:nvPr/>
        </p:nvSpPr>
        <p:spPr>
          <a:xfrm>
            <a:off x="0" y="34872"/>
            <a:ext cx="5006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to do list App</a:t>
            </a:r>
            <a:endParaRPr lang="en-A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7CCBBF-4DD0-2CB6-A224-F8468588F5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49572" y="2356522"/>
            <a:ext cx="1343107" cy="15998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A3CA26-C22D-BCAF-D43C-37639341DB19}"/>
              </a:ext>
            </a:extLst>
          </p:cNvPr>
          <p:cNvSpPr txBox="1"/>
          <p:nvPr/>
        </p:nvSpPr>
        <p:spPr>
          <a:xfrm>
            <a:off x="9215612" y="1984765"/>
            <a:ext cx="1343107" cy="369332"/>
          </a:xfrm>
          <a:prstGeom prst="rect">
            <a:avLst/>
          </a:prstGeom>
          <a:solidFill>
            <a:srgbClr val="EBF1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2A69A2"/>
                </a:solidFill>
              </a:rPr>
              <a:t>testuser</a:t>
            </a:r>
            <a:endParaRPr lang="en-AE" dirty="0">
              <a:solidFill>
                <a:srgbClr val="2A69A2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007C666-B86D-0B5A-1559-8CDCA9644E5E}"/>
              </a:ext>
            </a:extLst>
          </p:cNvPr>
          <p:cNvCxnSpPr>
            <a:cxnSpLocks/>
          </p:cNvCxnSpPr>
          <p:nvPr/>
        </p:nvCxnSpPr>
        <p:spPr>
          <a:xfrm flipV="1">
            <a:off x="893135" y="6176797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F9192E-2D19-1474-AD5F-C7FD3262D44A}"/>
              </a:ext>
            </a:extLst>
          </p:cNvPr>
          <p:cNvCxnSpPr/>
          <p:nvPr/>
        </p:nvCxnSpPr>
        <p:spPr>
          <a:xfrm flipV="1">
            <a:off x="2143085" y="616599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59C4C5-BDAB-C399-47BD-D2A84D1EE6E0}"/>
              </a:ext>
            </a:extLst>
          </p:cNvPr>
          <p:cNvSpPr txBox="1"/>
          <p:nvPr/>
        </p:nvSpPr>
        <p:spPr>
          <a:xfrm>
            <a:off x="1855268" y="6440522"/>
            <a:ext cx="548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</a:t>
            </a:r>
            <a:endParaRPr lang="en-AE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EB0564-6DC8-63EC-0E1D-30B0A33D2E28}"/>
              </a:ext>
            </a:extLst>
          </p:cNvPr>
          <p:cNvCxnSpPr/>
          <p:nvPr/>
        </p:nvCxnSpPr>
        <p:spPr>
          <a:xfrm flipV="1">
            <a:off x="5932969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258393-DAF2-2A80-68A9-34887498358E}"/>
              </a:ext>
            </a:extLst>
          </p:cNvPr>
          <p:cNvCxnSpPr/>
          <p:nvPr/>
        </p:nvCxnSpPr>
        <p:spPr>
          <a:xfrm flipV="1">
            <a:off x="3405636" y="6189412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EE31D5C-6415-68DD-F65B-16B79C8D1544}"/>
              </a:ext>
            </a:extLst>
          </p:cNvPr>
          <p:cNvSpPr txBox="1"/>
          <p:nvPr/>
        </p:nvSpPr>
        <p:spPr>
          <a:xfrm>
            <a:off x="491495" y="6381799"/>
            <a:ext cx="84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</a:t>
            </a:r>
            <a:endParaRPr lang="en-AE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DA0A4F2-5C74-EAE0-167D-7946DA438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26" y="705276"/>
            <a:ext cx="5979927" cy="448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C39F71E-1BF4-512F-ECE8-4F4CBC789CC2}"/>
              </a:ext>
            </a:extLst>
          </p:cNvPr>
          <p:cNvGraphicFramePr>
            <a:graphicFrameLocks noGrp="1"/>
          </p:cNvGraphicFramePr>
          <p:nvPr/>
        </p:nvGraphicFramePr>
        <p:xfrm>
          <a:off x="271441" y="5347659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1FEFCD8-8991-C9D2-D5FA-FB03AE77687F}"/>
              </a:ext>
            </a:extLst>
          </p:cNvPr>
          <p:cNvSpPr txBox="1"/>
          <p:nvPr/>
        </p:nvSpPr>
        <p:spPr>
          <a:xfrm>
            <a:off x="2980744" y="6453796"/>
            <a:ext cx="84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</a:t>
            </a:r>
            <a:endParaRPr lang="en-A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30791-D561-174A-86D1-8F82ED3D509C}"/>
              </a:ext>
            </a:extLst>
          </p:cNvPr>
          <p:cNvSpPr txBox="1"/>
          <p:nvPr/>
        </p:nvSpPr>
        <p:spPr>
          <a:xfrm>
            <a:off x="4176744" y="6444595"/>
            <a:ext cx="84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</a:t>
            </a:r>
            <a:endParaRPr lang="en-AE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71EFDB-575E-1130-AB61-41F77E112974}"/>
              </a:ext>
            </a:extLst>
          </p:cNvPr>
          <p:cNvCxnSpPr/>
          <p:nvPr/>
        </p:nvCxnSpPr>
        <p:spPr>
          <a:xfrm flipV="1">
            <a:off x="4601636" y="6205853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16E363C-C14F-BC99-D3E1-1AB64C48DD45}"/>
              </a:ext>
            </a:extLst>
          </p:cNvPr>
          <p:cNvSpPr txBox="1"/>
          <p:nvPr/>
        </p:nvSpPr>
        <p:spPr>
          <a:xfrm>
            <a:off x="5459381" y="6372121"/>
            <a:ext cx="84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</a:t>
            </a:r>
            <a:endParaRPr lang="en-A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449879-9B9A-6C1C-9E00-8C6761203C60}"/>
              </a:ext>
            </a:extLst>
          </p:cNvPr>
          <p:cNvSpPr txBox="1"/>
          <p:nvPr/>
        </p:nvSpPr>
        <p:spPr>
          <a:xfrm>
            <a:off x="6287850" y="6357692"/>
            <a:ext cx="84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</a:t>
            </a:r>
            <a:endParaRPr lang="en-A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89AF6C-12AF-16A8-803D-9A3779A403D0}"/>
              </a:ext>
            </a:extLst>
          </p:cNvPr>
          <p:cNvSpPr txBox="1"/>
          <p:nvPr/>
        </p:nvSpPr>
        <p:spPr>
          <a:xfrm>
            <a:off x="7165474" y="6343263"/>
            <a:ext cx="84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</a:t>
            </a:r>
            <a:endParaRPr lang="en-A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0E760E-6DB7-E5DF-39D7-346C3736FB82}"/>
              </a:ext>
            </a:extLst>
          </p:cNvPr>
          <p:cNvSpPr txBox="1"/>
          <p:nvPr/>
        </p:nvSpPr>
        <p:spPr>
          <a:xfrm>
            <a:off x="8166163" y="6349752"/>
            <a:ext cx="60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date</a:t>
            </a:r>
            <a:endParaRPr lang="en-A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7242D4-BB9E-A06C-C747-026F0F442B8C}"/>
              </a:ext>
            </a:extLst>
          </p:cNvPr>
          <p:cNvSpPr txBox="1"/>
          <p:nvPr/>
        </p:nvSpPr>
        <p:spPr>
          <a:xfrm>
            <a:off x="9679487" y="6343263"/>
            <a:ext cx="60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date</a:t>
            </a:r>
            <a:endParaRPr lang="en-AE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6C4B46-A07A-08F8-2FEC-AA080E2F3B75}"/>
              </a:ext>
            </a:extLst>
          </p:cNvPr>
          <p:cNvCxnSpPr/>
          <p:nvPr/>
        </p:nvCxnSpPr>
        <p:spPr>
          <a:xfrm flipV="1">
            <a:off x="6712742" y="616599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D34A93-41B5-DC30-3902-FEB7EA1D9FC7}"/>
              </a:ext>
            </a:extLst>
          </p:cNvPr>
          <p:cNvCxnSpPr/>
          <p:nvPr/>
        </p:nvCxnSpPr>
        <p:spPr>
          <a:xfrm flipV="1">
            <a:off x="7586875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1E968B-364F-5935-2A86-38F214DB45EF}"/>
              </a:ext>
            </a:extLst>
          </p:cNvPr>
          <p:cNvCxnSpPr/>
          <p:nvPr/>
        </p:nvCxnSpPr>
        <p:spPr>
          <a:xfrm flipV="1">
            <a:off x="8557982" y="616599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E8E0C3-AB2A-0520-CCD9-272145118025}"/>
              </a:ext>
            </a:extLst>
          </p:cNvPr>
          <p:cNvCxnSpPr/>
          <p:nvPr/>
        </p:nvCxnSpPr>
        <p:spPr>
          <a:xfrm flipV="1">
            <a:off x="9981910" y="6182290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F8804BF-913C-B75C-9738-96B6EF02E384}"/>
              </a:ext>
            </a:extLst>
          </p:cNvPr>
          <p:cNvSpPr txBox="1"/>
          <p:nvPr/>
        </p:nvSpPr>
        <p:spPr>
          <a:xfrm>
            <a:off x="271441" y="4981028"/>
            <a:ext cx="1043554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/>
              <a:t>todo_item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40663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7" grpId="0"/>
      <p:bldP spid="19" grpId="0"/>
      <p:bldP spid="20" grpId="0"/>
      <p:bldP spid="22" grpId="0"/>
      <p:bldP spid="23" grpId="0"/>
      <p:bldP spid="24" grpId="0"/>
      <p:bldP spid="25" grpId="0"/>
      <p:bldP spid="26" grpId="0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C75BF9-74F3-9995-152C-B2E6FD53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CB640-E2E4-46AC-8607-2102058E596E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A552B26D-F331-1083-6836-2E064E4D8EC0}"/>
              </a:ext>
            </a:extLst>
          </p:cNvPr>
          <p:cNvSpPr txBox="1"/>
          <p:nvPr/>
        </p:nvSpPr>
        <p:spPr>
          <a:xfrm>
            <a:off x="4655255" y="51240"/>
            <a:ext cx="7156229" cy="71811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632965" indent="-356121">
              <a:buAutoNum type="arabicPeriod"/>
              <a:tabLst>
                <a:tab pos="634223" algn="l"/>
                <a:tab pos="1023063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solidFill>
                  <a:srgbClr val="C41F43"/>
                </a:solidFill>
                <a:latin typeface="Calibri"/>
                <a:cs typeface="Calibri"/>
              </a:rPr>
              <a:t>CREATE  ROLE  </a:t>
            </a:r>
            <a:r>
              <a:rPr sz="1784" dirty="0">
                <a:latin typeface="Calibri"/>
                <a:cs typeface="Calibri"/>
              </a:rPr>
              <a:t>testuser</a:t>
            </a:r>
          </a:p>
          <a:p>
            <a:pPr marL="632965" indent="-356121">
              <a:buAutoNum type="arabicPeriod"/>
              <a:tabLst>
                <a:tab pos="634223" algn="l"/>
                <a:tab pos="1591850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latin typeface="Calibri"/>
                <a:cs typeface="Calibri"/>
              </a:rPr>
              <a:t>NOINHERIT    LOGIN    PASSWORD   </a:t>
            </a:r>
            <a:r>
              <a:rPr sz="1784" dirty="0">
                <a:solidFill>
                  <a:srgbClr val="009900"/>
                </a:solidFill>
                <a:latin typeface="Verdana"/>
                <a:cs typeface="Verdana"/>
              </a:rPr>
              <a:t>'</a:t>
            </a:r>
            <a:r>
              <a:rPr sz="1784" dirty="0">
                <a:solidFill>
                  <a:srgbClr val="009900"/>
                </a:solidFill>
                <a:latin typeface="Calibri"/>
                <a:cs typeface="Calibri"/>
              </a:rPr>
              <a:t>password</a:t>
            </a:r>
            <a:r>
              <a:rPr sz="1784" dirty="0">
                <a:solidFill>
                  <a:srgbClr val="009900"/>
                </a:solidFill>
                <a:latin typeface="Verdana"/>
                <a:cs typeface="Verdana"/>
              </a:rPr>
              <a:t>'</a:t>
            </a:r>
            <a:r>
              <a:rPr sz="1784" dirty="0">
                <a:latin typeface="Calibri"/>
                <a:cs typeface="Calibri"/>
              </a:rPr>
              <a:t>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64E0F4-AC4B-107B-598C-44E912D11F3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848893" y="371757"/>
            <a:ext cx="1343107" cy="1599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C6AF92-38C4-2CAE-0283-6AD0C12D69E8}"/>
              </a:ext>
            </a:extLst>
          </p:cNvPr>
          <p:cNvSpPr txBox="1"/>
          <p:nvPr/>
        </p:nvSpPr>
        <p:spPr>
          <a:xfrm>
            <a:off x="10814933" y="0"/>
            <a:ext cx="1343107" cy="369332"/>
          </a:xfrm>
          <a:prstGeom prst="rect">
            <a:avLst/>
          </a:prstGeom>
          <a:solidFill>
            <a:srgbClr val="EBF1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2A69A2"/>
                </a:solidFill>
              </a:rPr>
              <a:t>testuser</a:t>
            </a:r>
            <a:endParaRPr lang="en-AE" dirty="0">
              <a:solidFill>
                <a:srgbClr val="2A69A2"/>
              </a:solidFill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975DE27-DF42-981F-57C3-F30C25528CA7}"/>
              </a:ext>
            </a:extLst>
          </p:cNvPr>
          <p:cNvSpPr txBox="1"/>
          <p:nvPr/>
        </p:nvSpPr>
        <p:spPr>
          <a:xfrm>
            <a:off x="303309" y="840790"/>
            <a:ext cx="6518405" cy="15367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62327" rIns="0" bIns="0" rtlCol="0">
            <a:spAutoFit/>
          </a:bodyPr>
          <a:lstStyle/>
          <a:p>
            <a:pPr marL="278102" marR="2603587">
              <a:tabLst>
                <a:tab pos="1023063" algn="l"/>
                <a:tab pos="1589333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01  |	</a:t>
            </a:r>
            <a:r>
              <a:rPr sz="1784" dirty="0">
                <a:solidFill>
                  <a:srgbClr val="C41F43"/>
                </a:solidFill>
                <a:latin typeface="Calibri"/>
                <a:cs typeface="Calibri"/>
              </a:rPr>
              <a:t>CREATE </a:t>
            </a:r>
            <a:r>
              <a:rPr sz="1784" dirty="0">
                <a:latin typeface="Calibri"/>
                <a:cs typeface="Calibri"/>
              </a:rPr>
              <a:t>DATABASE </a:t>
            </a:r>
            <a:r>
              <a:rPr sz="1784" dirty="0" err="1">
                <a:latin typeface="Calibri"/>
                <a:cs typeface="Calibri"/>
              </a:rPr>
              <a:t>todo_list</a:t>
            </a:r>
            <a:r>
              <a:rPr sz="1784" dirty="0">
                <a:latin typeface="Calibri"/>
                <a:cs typeface="Calibri"/>
              </a:rPr>
              <a:t>  </a:t>
            </a:r>
            <a:endParaRPr lang="en-US" sz="1784" dirty="0">
              <a:latin typeface="Calibri"/>
              <a:cs typeface="Calibri"/>
            </a:endParaRPr>
          </a:p>
          <a:p>
            <a:pPr marL="278102" marR="2603587">
              <a:tabLst>
                <a:tab pos="1023063" algn="l"/>
                <a:tab pos="1589333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02  |		</a:t>
            </a:r>
            <a:r>
              <a:rPr sz="1784" dirty="0">
                <a:latin typeface="Calibri"/>
                <a:cs typeface="Calibri"/>
              </a:rPr>
              <a:t>WITH</a:t>
            </a:r>
          </a:p>
          <a:p>
            <a:pPr marL="276844">
              <a:tabLst>
                <a:tab pos="634223" algn="l"/>
                <a:tab pos="1590592" algn="l"/>
              </a:tabLst>
            </a:pPr>
            <a:r>
              <a:rPr lang="en-US" sz="1784" dirty="0">
                <a:solidFill>
                  <a:srgbClr val="7F7F7F"/>
                </a:solidFill>
                <a:latin typeface="Calibri"/>
                <a:cs typeface="Calibri"/>
              </a:rPr>
              <a:t>03 </a:t>
            </a: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latin typeface="Calibri"/>
                <a:cs typeface="Calibri"/>
              </a:rPr>
              <a:t>OWNER =  testuser</a:t>
            </a:r>
          </a:p>
          <a:p>
            <a:pPr marL="276844">
              <a:tabLst>
                <a:tab pos="634223" algn="l"/>
                <a:tab pos="1591850" algn="l"/>
              </a:tabLst>
            </a:pPr>
            <a:r>
              <a:rPr lang="en-US" sz="1784" dirty="0">
                <a:solidFill>
                  <a:srgbClr val="7F7F7F"/>
                </a:solidFill>
                <a:latin typeface="Calibri"/>
                <a:cs typeface="Calibri"/>
              </a:rPr>
              <a:t>04 </a:t>
            </a: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latin typeface="Calibri"/>
                <a:cs typeface="Calibri"/>
              </a:rPr>
              <a:t>ENCODING   =   </a:t>
            </a:r>
            <a:r>
              <a:rPr sz="1784" dirty="0">
                <a:solidFill>
                  <a:srgbClr val="009900"/>
                </a:solidFill>
                <a:latin typeface="Verdana"/>
                <a:cs typeface="Verdana"/>
              </a:rPr>
              <a:t>'</a:t>
            </a:r>
            <a:r>
              <a:rPr sz="1784" dirty="0">
                <a:solidFill>
                  <a:srgbClr val="009900"/>
                </a:solidFill>
                <a:latin typeface="Calibri"/>
                <a:cs typeface="Calibri"/>
              </a:rPr>
              <a:t>UTF8</a:t>
            </a:r>
            <a:r>
              <a:rPr lang="en-US" sz="1784" dirty="0">
                <a:solidFill>
                  <a:srgbClr val="009900"/>
                </a:solidFill>
                <a:latin typeface="Verdana"/>
                <a:cs typeface="Verdana"/>
              </a:rPr>
              <a:t>'</a:t>
            </a:r>
            <a:endParaRPr sz="1784" dirty="0">
              <a:latin typeface="Verdana"/>
              <a:cs typeface="Verdana"/>
            </a:endParaRPr>
          </a:p>
          <a:p>
            <a:pPr marL="276844">
              <a:tabLst>
                <a:tab pos="634223" algn="l"/>
                <a:tab pos="1593108" algn="l"/>
              </a:tabLst>
            </a:pPr>
            <a:r>
              <a:rPr lang="en-US" sz="1784" dirty="0">
                <a:solidFill>
                  <a:srgbClr val="7F7F7F"/>
                </a:solidFill>
                <a:latin typeface="Calibri"/>
                <a:cs typeface="Calibri"/>
              </a:rPr>
              <a:t>05 </a:t>
            </a: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solidFill>
                  <a:srgbClr val="C41F43"/>
                </a:solidFill>
                <a:latin typeface="Calibri"/>
                <a:cs typeface="Calibri"/>
              </a:rPr>
              <a:t>CONNECTION  LIMIT  </a:t>
            </a:r>
            <a:r>
              <a:rPr sz="1784" dirty="0">
                <a:latin typeface="Calibri"/>
                <a:cs typeface="Calibri"/>
              </a:rPr>
              <a:t>=   -1;</a:t>
            </a: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BE3A9DA2-522A-947F-66FD-5F98E7C8CF9E}"/>
              </a:ext>
            </a:extLst>
          </p:cNvPr>
          <p:cNvSpPr txBox="1"/>
          <p:nvPr/>
        </p:nvSpPr>
        <p:spPr>
          <a:xfrm>
            <a:off x="4609676" y="2422419"/>
            <a:ext cx="7156229" cy="443557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>
              <a:tabLst>
                <a:tab pos="1014252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01  |	</a:t>
            </a:r>
            <a:r>
              <a:rPr sz="1784" dirty="0">
                <a:latin typeface="Calibri"/>
                <a:cs typeface="Calibri"/>
              </a:rPr>
              <a:t>\ c   todo_list    testuser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096E8-8B9D-70EF-AB05-AA63A7ECFF38}"/>
              </a:ext>
            </a:extLst>
          </p:cNvPr>
          <p:cNvSpPr txBox="1"/>
          <p:nvPr/>
        </p:nvSpPr>
        <p:spPr>
          <a:xfrm>
            <a:off x="303309" y="3106502"/>
            <a:ext cx="5633034" cy="36933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CREATE TABLE </a:t>
            </a:r>
            <a:r>
              <a:rPr lang="en-GB" dirty="0" err="1">
                <a:latin typeface="Consolas" panose="020B0609020204030204" pitchFamily="49" charset="0"/>
              </a:rPr>
              <a:t>public.todo_item</a:t>
            </a:r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(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todo_item_id</a:t>
            </a:r>
            <a:r>
              <a:rPr lang="en-GB" dirty="0">
                <a:latin typeface="Consolas" panose="020B0609020204030204" pitchFamily="49" charset="0"/>
              </a:rPr>
              <a:t> integer NOT NULL,    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description text,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owner_id</a:t>
            </a:r>
            <a:r>
              <a:rPr lang="en-GB" dirty="0">
                <a:latin typeface="Consolas" panose="020B0609020204030204" pitchFamily="49" charset="0"/>
              </a:rPr>
              <a:t> integer,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priority_id</a:t>
            </a:r>
            <a:r>
              <a:rPr lang="en-GB" dirty="0">
                <a:latin typeface="Consolas" panose="020B0609020204030204" pitchFamily="49" charset="0"/>
              </a:rPr>
              <a:t> integer,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context_id</a:t>
            </a:r>
            <a:r>
              <a:rPr lang="en-GB" dirty="0">
                <a:latin typeface="Consolas" panose="020B0609020204030204" pitchFamily="49" charset="0"/>
              </a:rPr>
              <a:t> integer,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status_id</a:t>
            </a:r>
            <a:r>
              <a:rPr lang="en-GB" dirty="0">
                <a:latin typeface="Consolas" panose="020B0609020204030204" pitchFamily="49" charset="0"/>
              </a:rPr>
              <a:t> integer,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project_id</a:t>
            </a:r>
            <a:r>
              <a:rPr lang="en-GB" dirty="0">
                <a:latin typeface="Consolas" panose="020B0609020204030204" pitchFamily="49" charset="0"/>
              </a:rPr>
              <a:t> integer,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due_date</a:t>
            </a:r>
            <a:r>
              <a:rPr lang="en-GB" dirty="0">
                <a:latin typeface="Consolas" panose="020B0609020204030204" pitchFamily="49" charset="0"/>
              </a:rPr>
              <a:t> date,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completion_date</a:t>
            </a:r>
            <a:r>
              <a:rPr lang="en-GB" dirty="0">
                <a:latin typeface="Consolas" panose="020B0609020204030204" pitchFamily="49" charset="0"/>
              </a:rPr>
              <a:t> date,    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PRIMARY KEY (</a:t>
            </a:r>
            <a:r>
              <a:rPr lang="en-GB" dirty="0" err="1">
                <a:latin typeface="Consolas" panose="020B0609020204030204" pitchFamily="49" charset="0"/>
              </a:rPr>
              <a:t>todo_item_id</a:t>
            </a:r>
            <a:r>
              <a:rPr lang="en-GB" dirty="0">
                <a:latin typeface="Consolas" panose="020B0609020204030204" pitchFamily="49" charset="0"/>
              </a:rPr>
              <a:t>)</a:t>
            </a:r>
          </a:p>
          <a:p>
            <a:r>
              <a:rPr lang="en-GB" dirty="0">
                <a:latin typeface="Consolas" panose="020B0609020204030204" pitchFamily="49" charset="0"/>
              </a:rPr>
              <a:t>);</a:t>
            </a:r>
            <a:endParaRPr lang="en-AE" dirty="0"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0219D7-ADB8-DE20-EE43-A4D517F3C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722" y="3741946"/>
            <a:ext cx="5920579" cy="8363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3639C5-B142-6E39-FED2-B78F54B97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722" y="4648835"/>
            <a:ext cx="4024139" cy="8441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14E32B-B3AF-4A74-48D4-76C981BC0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722" y="3083116"/>
            <a:ext cx="5226319" cy="482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73717E-0CE1-3E4D-4C58-5D57C605D4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8380" y="5634030"/>
            <a:ext cx="6009660" cy="59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11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859" y="258990"/>
            <a:ext cx="7323711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59" dirty="0"/>
              <a:t>Comma</a:t>
            </a:r>
            <a:r>
              <a:rPr spc="-109" dirty="0"/>
              <a:t> </a:t>
            </a:r>
            <a:r>
              <a:rPr spc="-119" dirty="0"/>
              <a:t>separated</a:t>
            </a:r>
            <a:r>
              <a:rPr spc="-99" dirty="0"/>
              <a:t> </a:t>
            </a:r>
            <a:r>
              <a:rPr spc="-40" dirty="0"/>
              <a:t>file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677" y="2144019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5129" y="1978668"/>
            <a:ext cx="10896207" cy="117557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60402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a number of different formats we can use to store data in a raw file.</a:t>
            </a:r>
          </a:p>
          <a:p>
            <a:pPr marL="25168" marR="10067">
              <a:lnSpc>
                <a:spcPct val="102600"/>
              </a:lnSpc>
              <a:spcBef>
                <a:spcPts val="595"/>
              </a:spcBef>
            </a:pPr>
            <a:endParaRPr lang="en-US" sz="218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5168" marR="10067">
              <a:lnSpc>
                <a:spcPct val="102600"/>
              </a:lnSpc>
              <a:spcBef>
                <a:spcPts val="595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Another very common format is a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comma-separated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file: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677" y="2901218"/>
            <a:ext cx="129332" cy="1293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1D0070-462A-B4E2-F429-63B8E9792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766" y="3762755"/>
            <a:ext cx="6181870" cy="134627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143" y="30248"/>
            <a:ext cx="9231086" cy="71141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79" dirty="0"/>
              <a:t>Import</a:t>
            </a:r>
            <a:r>
              <a:rPr spc="-119" dirty="0"/>
              <a:t> </a:t>
            </a:r>
            <a:r>
              <a:rPr spc="-40" dirty="0"/>
              <a:t>from</a:t>
            </a:r>
            <a:r>
              <a:rPr spc="-119" dirty="0"/>
              <a:t> </a:t>
            </a:r>
            <a:r>
              <a:rPr spc="-40" dirty="0"/>
              <a:t>csv</a:t>
            </a:r>
            <a:r>
              <a:rPr spc="-109" dirty="0"/>
              <a:t> </a:t>
            </a:r>
            <a:r>
              <a:rPr dirty="0"/>
              <a:t>-</a:t>
            </a:r>
            <a:r>
              <a:rPr spc="-119" dirty="0"/>
              <a:t> </a:t>
            </a:r>
            <a:r>
              <a:rPr spc="-69" dirty="0"/>
              <a:t>create</a:t>
            </a:r>
            <a:r>
              <a:rPr spc="-119" dirty="0"/>
              <a:t> </a:t>
            </a:r>
            <a:r>
              <a:rPr spc="-40" dirty="0"/>
              <a:t>table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792" y="1453240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1242" y="1287864"/>
            <a:ext cx="10925909" cy="1034513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 algn="just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be able to import from a csv file we first need an empty table to import into. </a:t>
            </a:r>
            <a:endParaRPr lang="en-US" sz="218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5168" marR="10067" algn="just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Let’s create a new </a:t>
            </a:r>
            <a:r>
              <a:rPr sz="2180" i="1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owner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table. This will store data about the users of the program who will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own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various todo items.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7219AE-DD4D-B35F-BF92-1883EE02A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24" y="2833862"/>
            <a:ext cx="5810549" cy="2032104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036D8247-88A6-0282-4C6C-7FF1660C5F05}"/>
              </a:ext>
            </a:extLst>
          </p:cNvPr>
          <p:cNvGraphicFramePr>
            <a:graphicFrameLocks noGrp="1"/>
          </p:cNvGraphicFramePr>
          <p:nvPr/>
        </p:nvGraphicFramePr>
        <p:xfrm>
          <a:off x="7591195" y="2833862"/>
          <a:ext cx="335279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8228">
                  <a:extLst>
                    <a:ext uri="{9D8B030D-6E8A-4147-A177-3AD203B41FA5}">
                      <a16:colId xmlns:a16="http://schemas.microsoft.com/office/drawing/2014/main" val="4226452187"/>
                    </a:ext>
                  </a:extLst>
                </a:gridCol>
                <a:gridCol w="1059543">
                  <a:extLst>
                    <a:ext uri="{9D8B030D-6E8A-4147-A177-3AD203B41FA5}">
                      <a16:colId xmlns:a16="http://schemas.microsoft.com/office/drawing/2014/main" val="135945434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331494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owner_id</a:t>
                      </a:r>
                      <a:endParaRPr lang="en-AE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AE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surname</a:t>
                      </a:r>
                      <a:endParaRPr lang="en-AE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211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548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4315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29927F0-0080-4E8A-1825-E5B107A53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195" y="4447342"/>
            <a:ext cx="3844501" cy="837247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591" y="286869"/>
            <a:ext cx="10212991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79" dirty="0"/>
              <a:t>Import </a:t>
            </a:r>
            <a:r>
              <a:rPr spc="-40" dirty="0"/>
              <a:t>from</a:t>
            </a:r>
            <a:r>
              <a:rPr spc="-69" dirty="0"/>
              <a:t> </a:t>
            </a:r>
            <a:r>
              <a:rPr spc="-40" dirty="0"/>
              <a:t>csv</a:t>
            </a:r>
            <a:r>
              <a:rPr spc="-69" dirty="0"/>
              <a:t> </a:t>
            </a:r>
            <a:r>
              <a:rPr dirty="0"/>
              <a:t>-</a:t>
            </a:r>
            <a:r>
              <a:rPr spc="-69" dirty="0"/>
              <a:t> </a:t>
            </a:r>
            <a:r>
              <a:rPr spc="149" dirty="0"/>
              <a:t>COPY</a:t>
            </a:r>
            <a:r>
              <a:rPr spc="-69" dirty="0"/>
              <a:t> </a:t>
            </a:r>
            <a:r>
              <a:rPr spc="-89" dirty="0"/>
              <a:t>command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591" y="1570742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8043" y="1405365"/>
            <a:ext cx="10630002" cy="676146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Once we have a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.csv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with data and an empty table to import the data into, we can</a:t>
            </a:r>
            <a:r>
              <a:rPr lang="en-US"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COPY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 to import the data: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3695" y="4726501"/>
            <a:ext cx="129332" cy="1293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7169" y="4574718"/>
            <a:ext cx="11346976" cy="67614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need to define the table we want to copy into, the exact file location where the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.csv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is stored, and what character is used to separate values in the file (in this case a comma).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1139F5-3507-8DB8-5610-1BFCC3EAD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23" y="2645246"/>
            <a:ext cx="6686894" cy="9843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FAFCE9-4803-DEEB-8A38-387265A81A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6017" y="2732518"/>
            <a:ext cx="3198128" cy="69648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41278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12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85812E3-0D6D-8654-3334-0C7AD6CDD9B4}"/>
              </a:ext>
            </a:extLst>
          </p:cNvPr>
          <p:cNvSpPr/>
          <p:nvPr/>
        </p:nvSpPr>
        <p:spPr>
          <a:xfrm>
            <a:off x="63807" y="1635229"/>
            <a:ext cx="713433" cy="79146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99217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029" y="233977"/>
            <a:ext cx="9492342" cy="651394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59" dirty="0"/>
              <a:t>Constraints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7029" y="1534842"/>
            <a:ext cx="10964988" cy="2645339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67952">
              <a:lnSpc>
                <a:spcPct val="200000"/>
              </a:lnSpc>
              <a:spcBef>
                <a:spcPts val="109"/>
              </a:spcBef>
            </a:pPr>
            <a:r>
              <a:rPr sz="2800" dirty="0"/>
              <a:t>We’ve only created a single type of constraint, the PRIMARY KEY constraint.</a:t>
            </a:r>
          </a:p>
          <a:p>
            <a:pPr marL="25168">
              <a:lnSpc>
                <a:spcPct val="200000"/>
              </a:lnSpc>
              <a:spcBef>
                <a:spcPts val="664"/>
              </a:spcBef>
            </a:pPr>
            <a:r>
              <a:rPr sz="2800" dirty="0"/>
              <a:t>We’ve also only created a constraint when we create the table.</a:t>
            </a:r>
          </a:p>
          <a:p>
            <a:pPr marL="25168" marR="10067">
              <a:lnSpc>
                <a:spcPct val="200000"/>
              </a:lnSpc>
              <a:spcBef>
                <a:spcPts val="595"/>
              </a:spcBef>
            </a:pPr>
            <a:r>
              <a:rPr sz="2800" dirty="0"/>
              <a:t>We’re now going to look at altering an exist table to include a constraint.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654" y="161199"/>
            <a:ext cx="10813199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dirty="0"/>
              <a:t>ALTER</a:t>
            </a:r>
            <a:r>
              <a:rPr spc="218" dirty="0"/>
              <a:t> </a:t>
            </a:r>
            <a:r>
              <a:rPr spc="-69" dirty="0"/>
              <a:t>existing</a:t>
            </a:r>
            <a:r>
              <a:rPr spc="226" dirty="0"/>
              <a:t> </a:t>
            </a:r>
            <a:r>
              <a:rPr spc="-59" dirty="0"/>
              <a:t>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236" y="1153959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79854" y="1038472"/>
            <a:ext cx="10813198" cy="1239743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dirty="0"/>
              <a:t>We can alter the existing structure of a table using the</a:t>
            </a:r>
            <a:r>
              <a:rPr lang="en-US" dirty="0"/>
              <a:t> </a:t>
            </a:r>
            <a:r>
              <a:rPr dirty="0"/>
              <a:t>ALTER command.</a:t>
            </a:r>
            <a:endParaRPr lang="en-US" dirty="0"/>
          </a:p>
          <a:p>
            <a:pPr marL="25168">
              <a:spcBef>
                <a:spcPts val="178"/>
              </a:spcBef>
            </a:pPr>
            <a:endParaRPr dirty="0"/>
          </a:p>
          <a:p>
            <a:pPr marL="25168" marR="10067">
              <a:lnSpc>
                <a:spcPct val="102600"/>
              </a:lnSpc>
              <a:spcBef>
                <a:spcPts val="595"/>
              </a:spcBef>
            </a:pPr>
            <a:r>
              <a:rPr dirty="0"/>
              <a:t>We are only adding a foreign key in this example but the ALTER command can be used to change almost any part of the structure of a table: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282" y="1819829"/>
            <a:ext cx="129332" cy="12933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25446" y="5697354"/>
            <a:ext cx="5170554" cy="884646"/>
          </a:xfrm>
          <a:prstGeom prst="wedgeRectCallout">
            <a:avLst>
              <a:gd name="adj1" fmla="val -14403"/>
              <a:gd name="adj2" fmla="val -97843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lang="en-US" sz="1400" dirty="0"/>
              <a:t>Will cause a scan of the table to verify that all existing rows in the table satisfy the new constraint. But if the NOT VALID option is used, this potentially-lengthy scan is skipped. The constraint will still be enforced against subsequent inserts or updates</a:t>
            </a:r>
            <a:endParaRPr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A62D40-2116-842A-0B86-2CE0BF79F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54" y="3303299"/>
            <a:ext cx="6401129" cy="2051155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5D8BB7F-F9BF-A57D-1EDD-01703F22BE50}"/>
              </a:ext>
            </a:extLst>
          </p:cNvPr>
          <p:cNvGraphicFramePr>
            <a:graphicFrameLocks noGrp="1"/>
          </p:cNvGraphicFramePr>
          <p:nvPr/>
        </p:nvGraphicFramePr>
        <p:xfrm>
          <a:off x="779854" y="2389437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owner_id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  <p:graphicFrame>
        <p:nvGraphicFramePr>
          <p:cNvPr id="13" name="Table 8">
            <a:extLst>
              <a:ext uri="{FF2B5EF4-FFF2-40B4-BE49-F238E27FC236}">
                <a16:creationId xmlns:a16="http://schemas.microsoft.com/office/drawing/2014/main" id="{98A085DA-82AE-1092-EB9A-38044F9ADD89}"/>
              </a:ext>
            </a:extLst>
          </p:cNvPr>
          <p:cNvGraphicFramePr>
            <a:graphicFrameLocks noGrp="1"/>
          </p:cNvGraphicFramePr>
          <p:nvPr/>
        </p:nvGraphicFramePr>
        <p:xfrm>
          <a:off x="7862600" y="3429000"/>
          <a:ext cx="335279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8228">
                  <a:extLst>
                    <a:ext uri="{9D8B030D-6E8A-4147-A177-3AD203B41FA5}">
                      <a16:colId xmlns:a16="http://schemas.microsoft.com/office/drawing/2014/main" val="4226452187"/>
                    </a:ext>
                  </a:extLst>
                </a:gridCol>
                <a:gridCol w="1059543">
                  <a:extLst>
                    <a:ext uri="{9D8B030D-6E8A-4147-A177-3AD203B41FA5}">
                      <a16:colId xmlns:a16="http://schemas.microsoft.com/office/drawing/2014/main" val="135945434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331494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highlight>
                            <a:srgbClr val="FFFF00"/>
                          </a:highlight>
                        </a:rPr>
                        <a:t>owner_id</a:t>
                      </a:r>
                      <a:endParaRPr lang="en-AE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AE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surname</a:t>
                      </a:r>
                      <a:endParaRPr lang="en-AE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211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548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4315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9A7FE73-B5BE-BF1E-3F93-BD690A43C83D}"/>
              </a:ext>
            </a:extLst>
          </p:cNvPr>
          <p:cNvSpPr txBox="1"/>
          <p:nvPr/>
        </p:nvSpPr>
        <p:spPr>
          <a:xfrm>
            <a:off x="5212918" y="4652742"/>
            <a:ext cx="4159683" cy="646331"/>
          </a:xfrm>
          <a:prstGeom prst="wedgeRectCallout">
            <a:avLst>
              <a:gd name="adj1" fmla="val -63014"/>
              <a:gd name="adj2" fmla="val -21903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any changes we make in the foreign table will also change in the primary table</a:t>
            </a:r>
            <a:endParaRPr lang="en-AE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853" y="670534"/>
            <a:ext cx="9949218" cy="375747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>
              <a:lnSpc>
                <a:spcPts val="2269"/>
              </a:lnSpc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When to create Foreign Key Relationships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32E82D6-B397-EAE9-9C63-D5CA7E51466A}"/>
              </a:ext>
            </a:extLst>
          </p:cNvPr>
          <p:cNvGraphicFramePr/>
          <p:nvPr/>
        </p:nvGraphicFramePr>
        <p:xfrm>
          <a:off x="721439" y="2082442"/>
          <a:ext cx="10614218" cy="3286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5093" y="224181"/>
            <a:ext cx="11336955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20" dirty="0"/>
              <a:t>Default</a:t>
            </a:r>
            <a:r>
              <a:rPr spc="-159" dirty="0"/>
              <a:t> </a:t>
            </a:r>
            <a:r>
              <a:rPr spc="-40" dirty="0"/>
              <a:t>Constraint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420" y="1734826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81870" y="1634916"/>
            <a:ext cx="7854311" cy="288924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99"/>
              </a:lnSpc>
              <a:spcBef>
                <a:spcPts val="109"/>
              </a:spcBef>
            </a:pPr>
            <a:r>
              <a:rPr dirty="0"/>
              <a:t>We can also alter (or add when creating the database) a default constraint: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420" y="3563951"/>
            <a:ext cx="129332" cy="12933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848042" y="3840299"/>
            <a:ext cx="83051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1871" y="3545592"/>
            <a:ext cx="6812699" cy="572463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dirty="0"/>
              <a:t>This constraint will make the default due date 7 days from the current date, if no due date is specified.</a:t>
            </a:r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EF4AF8-B24B-A9E3-3679-E4B7F900F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377" y="2382273"/>
            <a:ext cx="6705945" cy="70488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239" y="193972"/>
            <a:ext cx="11263086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59" dirty="0"/>
              <a:t>Checking</a:t>
            </a:r>
            <a:r>
              <a:rPr spc="-109" dirty="0"/>
              <a:t> </a:t>
            </a:r>
            <a:r>
              <a:rPr spc="-69" dirty="0"/>
              <a:t>existing</a:t>
            </a:r>
            <a:r>
              <a:rPr spc="-99" dirty="0"/>
              <a:t> </a:t>
            </a:r>
            <a:r>
              <a:rPr spc="-59" dirty="0"/>
              <a:t>constraints</a:t>
            </a:r>
            <a:r>
              <a:rPr spc="-99" dirty="0"/>
              <a:t> </a:t>
            </a:r>
            <a:r>
              <a:rPr spc="-59" dirty="0"/>
              <a:t>and</a:t>
            </a:r>
            <a:r>
              <a:rPr spc="-99" dirty="0"/>
              <a:t> </a:t>
            </a:r>
            <a:r>
              <a:rPr spc="-69" dirty="0"/>
              <a:t>relationships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648" y="1800295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6100" y="1634920"/>
            <a:ext cx="10908225" cy="76097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99"/>
              </a:lnSpc>
              <a:spcBef>
                <a:spcPts val="109"/>
              </a:spcBef>
            </a:pPr>
            <a:r>
              <a:rPr sz="2400" b="1" dirty="0"/>
              <a:t>We can check the relationships and constraints on a specific table using the </a:t>
            </a:r>
            <a:r>
              <a:rPr sz="2400" b="1" dirty="0">
                <a:highlight>
                  <a:srgbClr val="FFFF00"/>
                </a:highlight>
              </a:rPr>
              <a:t>\d </a:t>
            </a:r>
            <a:r>
              <a:rPr sz="2400" b="1" dirty="0"/>
              <a:t>command in psql.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0302A0-5F03-0BC0-75DB-1D5C065DE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444" y="3432258"/>
            <a:ext cx="3105310" cy="52707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41278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18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85812E3-0D6D-8654-3334-0C7AD6CDD9B4}"/>
              </a:ext>
            </a:extLst>
          </p:cNvPr>
          <p:cNvSpPr/>
          <p:nvPr/>
        </p:nvSpPr>
        <p:spPr>
          <a:xfrm>
            <a:off x="63807" y="2468518"/>
            <a:ext cx="713433" cy="79146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43845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165" y="234745"/>
            <a:ext cx="10010950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59" dirty="0"/>
              <a:t>Functions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6421" y="1609944"/>
            <a:ext cx="10645672" cy="363811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There are a number of SQL functions that we can use to perform additional analysis on the data that we query using the select statement.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10067">
              <a:lnSpc>
                <a:spcPct val="102600"/>
              </a:lnSpc>
              <a:spcBef>
                <a:spcPts val="109"/>
              </a:spcBef>
            </a:pPr>
            <a:endParaRPr lang="en-AE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10067">
              <a:lnSpc>
                <a:spcPct val="102600"/>
              </a:lnSpc>
              <a:spcBef>
                <a:spcPts val="109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145972" algn="just">
              <a:lnSpc>
                <a:spcPct val="102600"/>
              </a:lnSpc>
              <a:spcBef>
                <a:spcPts val="595"/>
              </a:spcBef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All of these functions return either additional information, (e.g. the Sum() function), or they format the result of the query in some way (e.g. the SORT command)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337" y="176091"/>
            <a:ext cx="10591167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20" dirty="0"/>
              <a:t>Count()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0149" y="2844908"/>
            <a:ext cx="10363200" cy="287129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dirty="0"/>
              <a:t>We can use the Count() function to return the number of rows a specific query returns: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0149" y="2216722"/>
            <a:ext cx="9426472" cy="287129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lang="en-US" dirty="0">
                <a:highlight>
                  <a:srgbClr val="FFFF00"/>
                </a:highlight>
              </a:rPr>
              <a:t>How many </a:t>
            </a:r>
            <a:r>
              <a:rPr dirty="0" err="1">
                <a:highlight>
                  <a:srgbClr val="FFFF00"/>
                </a:highlight>
              </a:rPr>
              <a:t>todo</a:t>
            </a:r>
            <a:r>
              <a:rPr dirty="0">
                <a:highlight>
                  <a:srgbClr val="FFFF00"/>
                </a:highlight>
              </a:rPr>
              <a:t> item</a:t>
            </a:r>
            <a:r>
              <a:rPr lang="en-US" dirty="0">
                <a:highlight>
                  <a:srgbClr val="FFFF00"/>
                </a:highlight>
              </a:rPr>
              <a:t>s </a:t>
            </a:r>
            <a:r>
              <a:rPr dirty="0">
                <a:highlight>
                  <a:srgbClr val="FFFF00"/>
                </a:highlight>
              </a:rPr>
              <a:t>belong to </a:t>
            </a:r>
            <a:r>
              <a:rPr lang="en-US" dirty="0">
                <a:highlight>
                  <a:srgbClr val="FFFF00"/>
                </a:highlight>
              </a:rPr>
              <a:t>a particular </a:t>
            </a:r>
            <a:r>
              <a:rPr dirty="0">
                <a:highlight>
                  <a:srgbClr val="FFFF00"/>
                </a:highlight>
              </a:rPr>
              <a:t>owner</a:t>
            </a:r>
            <a:r>
              <a:rPr lang="en-US" dirty="0">
                <a:highlight>
                  <a:srgbClr val="FFFF00"/>
                </a:highlight>
              </a:rPr>
              <a:t>?</a:t>
            </a:r>
            <a:endParaRPr dirty="0">
              <a:highlight>
                <a:srgbClr val="FFFF00"/>
              </a:highligh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9F6AD7-205F-5173-8301-AC1FFA574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49" y="3432964"/>
            <a:ext cx="4915153" cy="103510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F72A1A-280C-4DF5-0BB6-E0DBD146B690}"/>
              </a:ext>
            </a:extLst>
          </p:cNvPr>
          <p:cNvGraphicFramePr>
            <a:graphicFrameLocks noGrp="1"/>
          </p:cNvGraphicFramePr>
          <p:nvPr/>
        </p:nvGraphicFramePr>
        <p:xfrm>
          <a:off x="660149" y="1134531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885" y="5677"/>
            <a:ext cx="2620370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20" dirty="0"/>
              <a:t>Sum()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0709" y="2448367"/>
            <a:ext cx="10850280" cy="319445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000" dirty="0"/>
              <a:t>The Sum() function returns the SUM of all the numeric values in the selected columns: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1585" y="4249910"/>
            <a:ext cx="11008529" cy="1360243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99"/>
              </a:lnSpc>
              <a:spcBef>
                <a:spcPts val="109"/>
              </a:spcBef>
            </a:pPr>
            <a:r>
              <a:rPr sz="2000" dirty="0"/>
              <a:t>This query returns the total number of days all tasks currently in the todo item table took to complete.</a:t>
            </a:r>
            <a:endParaRPr lang="en-US" sz="2000" dirty="0"/>
          </a:p>
          <a:p>
            <a:pPr marL="25168" marR="10067">
              <a:lnSpc>
                <a:spcPct val="102699"/>
              </a:lnSpc>
              <a:spcBef>
                <a:spcPts val="109"/>
              </a:spcBef>
            </a:pPr>
            <a:endParaRPr sz="2000" dirty="0"/>
          </a:p>
          <a:p>
            <a:pPr marL="25168" marR="254193">
              <a:lnSpc>
                <a:spcPct val="102600"/>
              </a:lnSpc>
              <a:spcBef>
                <a:spcPts val="595"/>
              </a:spcBef>
            </a:pPr>
            <a:r>
              <a:rPr sz="2000" dirty="0"/>
              <a:t>We actual perform a subtraction on each row (to get the number of days a single task took), and then use the Sum() function to add all those individual durations together.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38644D-37BD-1934-BD9C-14E81578B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85" y="2888773"/>
            <a:ext cx="8416127" cy="1048918"/>
          </a:xfrm>
          <a:prstGeom prst="rect">
            <a:avLst/>
          </a:prstGeom>
        </p:spPr>
      </p:pic>
      <p:sp>
        <p:nvSpPr>
          <p:cNvPr id="5" name="object 9">
            <a:extLst>
              <a:ext uri="{FF2B5EF4-FFF2-40B4-BE49-F238E27FC236}">
                <a16:creationId xmlns:a16="http://schemas.microsoft.com/office/drawing/2014/main" id="{418CD2B1-590A-31FD-C47D-445B1A8A1DA8}"/>
              </a:ext>
            </a:extLst>
          </p:cNvPr>
          <p:cNvSpPr txBox="1"/>
          <p:nvPr/>
        </p:nvSpPr>
        <p:spPr>
          <a:xfrm>
            <a:off x="1582613" y="1954501"/>
            <a:ext cx="9426472" cy="288924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lang="en-US" dirty="0">
                <a:highlight>
                  <a:srgbClr val="FFFF00"/>
                </a:highlight>
              </a:rPr>
              <a:t>Total number of days all tasks currently in the </a:t>
            </a:r>
            <a:r>
              <a:rPr lang="en-US" dirty="0" err="1">
                <a:highlight>
                  <a:srgbClr val="FFFF00"/>
                </a:highlight>
              </a:rPr>
              <a:t>todo</a:t>
            </a:r>
            <a:r>
              <a:rPr lang="en-US" dirty="0">
                <a:highlight>
                  <a:srgbClr val="FFFF00"/>
                </a:highlight>
              </a:rPr>
              <a:t> item table took to complete?</a:t>
            </a:r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ECB819-8941-B3D4-DE73-10896BF2EEAF}"/>
              </a:ext>
            </a:extLst>
          </p:cNvPr>
          <p:cNvGraphicFramePr>
            <a:graphicFrameLocks noGrp="1"/>
          </p:cNvGraphicFramePr>
          <p:nvPr/>
        </p:nvGraphicFramePr>
        <p:xfrm>
          <a:off x="791585" y="1088298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5218" y="382516"/>
            <a:ext cx="11088914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dirty="0"/>
              <a:t>Min()</a:t>
            </a:r>
            <a:r>
              <a:rPr spc="59" dirty="0"/>
              <a:t> </a:t>
            </a:r>
            <a:r>
              <a:rPr spc="-59" dirty="0"/>
              <a:t>and</a:t>
            </a:r>
            <a:r>
              <a:rPr spc="59" dirty="0"/>
              <a:t> </a:t>
            </a:r>
            <a:r>
              <a:rPr spc="-20" dirty="0"/>
              <a:t>Max()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8778" y="2529972"/>
            <a:ext cx="10718243" cy="75264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>
              <a:spcBef>
                <a:spcPts val="662"/>
              </a:spcBef>
            </a:pPr>
            <a:r>
              <a:rPr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would be more interesting to see what the minimum and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maximum number of days a task took would be: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0898" y="5105139"/>
            <a:ext cx="10050586" cy="36247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that we can include multiple different functions in a single SELECT.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E50F11-6114-45D5-A515-4E0074ABD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78" y="3631788"/>
            <a:ext cx="6166167" cy="128911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895F80-D001-1621-86CC-636D66EC94F7}"/>
              </a:ext>
            </a:extLst>
          </p:cNvPr>
          <p:cNvGraphicFramePr>
            <a:graphicFrameLocks noGrp="1"/>
          </p:cNvGraphicFramePr>
          <p:nvPr/>
        </p:nvGraphicFramePr>
        <p:xfrm>
          <a:off x="509799" y="1516565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1AA1CC9-3445-D4DC-AC08-687CC3C01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519" y="3533211"/>
            <a:ext cx="2864703" cy="1289116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176" y="188483"/>
            <a:ext cx="6547239" cy="71141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dirty="0"/>
              <a:t>The</a:t>
            </a:r>
            <a:r>
              <a:rPr spc="79" dirty="0"/>
              <a:t> </a:t>
            </a:r>
            <a:r>
              <a:rPr dirty="0"/>
              <a:t>AS</a:t>
            </a:r>
            <a:r>
              <a:rPr spc="89" dirty="0"/>
              <a:t> </a:t>
            </a:r>
            <a:r>
              <a:rPr spc="-79" dirty="0"/>
              <a:t>Command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777" y="1041631"/>
            <a:ext cx="11814629" cy="117961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09474" rIns="0" bIns="0" rtlCol="0">
            <a:spAutoFit/>
          </a:bodyPr>
          <a:lstStyle/>
          <a:p>
            <a:pPr marL="25168" algn="just">
              <a:spcBef>
                <a:spcPts val="860"/>
              </a:spcBef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sz="2000" dirty="0">
                <a:solidFill>
                  <a:srgbClr val="00A1B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command renames the column in a result.</a:t>
            </a:r>
          </a:p>
          <a:p>
            <a:pPr marL="25168" marR="10067" algn="just">
              <a:lnSpc>
                <a:spcPct val="102600"/>
              </a:lnSpc>
              <a:spcBef>
                <a:spcPts val="595"/>
              </a:spcBef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useful if we need to make our results more clear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5168" marR="10067" algn="just">
              <a:lnSpc>
                <a:spcPct val="102600"/>
              </a:lnSpc>
              <a:spcBef>
                <a:spcPts val="595"/>
              </a:spcBef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Updating our previous query to include the AS command looks as follows: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3200" y="4745678"/>
            <a:ext cx="11684000" cy="6213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the use of the double quotes when defining the column name, instead of the single quote when defining a string literal.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BE9735-F79D-987C-16F2-4D48CC83A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76" y="2504714"/>
            <a:ext cx="6890104" cy="18034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A6FB37-D770-1803-6085-E2B4C40F3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164" y="423389"/>
            <a:ext cx="2429059" cy="1093076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991" y="329628"/>
            <a:ext cx="2749353" cy="71141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dirty="0"/>
              <a:t>AS</a:t>
            </a:r>
            <a:r>
              <a:rPr spc="208" dirty="0"/>
              <a:t> </a:t>
            </a:r>
            <a:r>
              <a:rPr spc="-50" dirty="0"/>
              <a:t>Result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991" y="1565138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6442" y="1399763"/>
            <a:ext cx="6471685" cy="299870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result from the previous would now look as follows: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991" y="3686412"/>
            <a:ext cx="129332" cy="12933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46442" y="3521036"/>
            <a:ext cx="7089536" cy="857798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Remember also that the renamed column will also be sent to any programming code that is running this querying, which can make presenting the result in an application much easier.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C599B1-C09D-7C08-4AD6-FEF83A896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25" y="1979139"/>
            <a:ext cx="6871053" cy="13208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A05425-7ACA-001D-303C-BF618240D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802" y="1979138"/>
            <a:ext cx="2933715" cy="13208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789" y="126946"/>
            <a:ext cx="10093277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20" dirty="0"/>
              <a:t>Avg()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049" y="1515505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356262" y="1644837"/>
            <a:ext cx="83051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 txBox="1"/>
          <p:nvPr/>
        </p:nvSpPr>
        <p:spPr>
          <a:xfrm>
            <a:off x="592381" y="2101154"/>
            <a:ext cx="9426471" cy="574259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Another useful way to examine the todo item table might be in the context of the </a:t>
            </a:r>
            <a:r>
              <a:rPr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number of days a tasks takes: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3049" y="4696237"/>
            <a:ext cx="129332" cy="12933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92381" y="5213163"/>
            <a:ext cx="8982893" cy="574259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HINT: You can use the Round() function to round off the number of days to a more readable format.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81D432-2A97-FFAB-BE04-77A124E57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59" y="3210301"/>
            <a:ext cx="8748805" cy="164977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BF1E87-F219-F903-E6DE-3C4E8436A976}"/>
              </a:ext>
            </a:extLst>
          </p:cNvPr>
          <p:cNvGraphicFramePr>
            <a:graphicFrameLocks noGrp="1"/>
          </p:cNvGraphicFramePr>
          <p:nvPr/>
        </p:nvGraphicFramePr>
        <p:xfrm>
          <a:off x="878227" y="1004964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475" y="344863"/>
            <a:ext cx="10630280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dirty="0"/>
              <a:t>ORDER</a:t>
            </a:r>
            <a:r>
              <a:rPr spc="178" dirty="0"/>
              <a:t> </a:t>
            </a:r>
            <a:r>
              <a:rPr spc="218" dirty="0"/>
              <a:t>BY</a:t>
            </a:r>
            <a:r>
              <a:rPr spc="188" dirty="0"/>
              <a:t> </a:t>
            </a:r>
            <a:r>
              <a:rPr dirty="0"/>
              <a:t>ASC</a:t>
            </a:r>
            <a:r>
              <a:rPr spc="178" dirty="0"/>
              <a:t> </a:t>
            </a:r>
            <a:r>
              <a:rPr spc="-59" dirty="0"/>
              <a:t>and</a:t>
            </a:r>
            <a:r>
              <a:rPr spc="188" dirty="0"/>
              <a:t> </a:t>
            </a:r>
            <a:r>
              <a:rPr spc="-40" dirty="0"/>
              <a:t>DESC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02472" y="1599174"/>
            <a:ext cx="11354099" cy="1200264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483218">
              <a:lnSpc>
                <a:spcPct val="102600"/>
              </a:lnSpc>
              <a:spcBef>
                <a:spcPts val="109"/>
              </a:spcBef>
            </a:pPr>
            <a:r>
              <a:rPr sz="24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critical part of presenting queried data is </a:t>
            </a:r>
            <a:r>
              <a:rPr sz="2400" b="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Sorting </a:t>
            </a:r>
            <a:r>
              <a:rPr sz="24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in a useful manner.</a:t>
            </a:r>
          </a:p>
          <a:p>
            <a:pPr marL="25168" marR="10067">
              <a:lnSpc>
                <a:spcPct val="102600"/>
              </a:lnSpc>
              <a:spcBef>
                <a:spcPts val="595"/>
              </a:spcBef>
            </a:pPr>
            <a:r>
              <a:rPr sz="24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sort (or order) our results by a specific column, either in </a:t>
            </a:r>
            <a:r>
              <a:rPr sz="2400" b="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ascending </a:t>
            </a:r>
            <a:r>
              <a:rPr sz="24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</a:t>
            </a:r>
            <a:r>
              <a:rPr sz="2400" b="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descending </a:t>
            </a:r>
            <a:r>
              <a:rPr sz="24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75669" y="4958956"/>
            <a:ext cx="11007704" cy="29987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change whether to order in ascending or descending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by using the ASC or DESC command.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B3EEF2-D829-9675-A640-17391C748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662" y="3429000"/>
            <a:ext cx="6947058" cy="974587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F8FD-8385-7964-79A2-E3D39662B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45755-6469-7FFC-58A8-590D9516D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8" y="1234821"/>
            <a:ext cx="11219688" cy="4488305"/>
          </a:xfrm>
        </p:spPr>
        <p:txBody>
          <a:bodyPr/>
          <a:lstStyle/>
          <a:p>
            <a:pPr marL="25168">
              <a:lnSpc>
                <a:spcPct val="102600"/>
              </a:lnSpc>
            </a:pPr>
            <a:r>
              <a:rPr lang="en-US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 GROUP BY clause lets you group rows with the same value into summary rows, often combined with aggregate functions like COUNT, SUM, AVG, etc..​</a:t>
            </a:r>
          </a:p>
          <a:p>
            <a:pPr marL="25168">
              <a:lnSpc>
                <a:spcPct val="102600"/>
              </a:lnSpc>
            </a:pPr>
            <a:r>
              <a:rPr lang="en-US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Example: Find out how many tasks are assigned to each owner in a to-do list.</a:t>
            </a:r>
          </a:p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655D-51A5-493E-0AB8-B687144B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3E46F7-6B21-D88B-86A6-9741B1DAF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876" y="2978842"/>
            <a:ext cx="5506218" cy="100026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C586F9-A73F-14F9-CCA7-58E9CC480256}"/>
              </a:ext>
            </a:extLst>
          </p:cNvPr>
          <p:cNvGraphicFramePr>
            <a:graphicFrameLocks noGrp="1"/>
          </p:cNvGraphicFramePr>
          <p:nvPr/>
        </p:nvGraphicFramePr>
        <p:xfrm>
          <a:off x="576072" y="4439501"/>
          <a:ext cx="10515600" cy="15036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137489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2680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effectLst/>
                        </a:rPr>
                        <a:t>owner_id</a:t>
                      </a:r>
                      <a:endParaRPr lang="en-US" b="1" dirty="0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total_tasks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846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603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191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dirty="0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9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17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2B2EE-174F-D515-0F6E-39FD9D8A6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Having query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E3C4C-DE61-29BB-950E-E353E9982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54" y="1253331"/>
            <a:ext cx="10515600" cy="4351338"/>
          </a:xfrm>
        </p:spPr>
        <p:txBody>
          <a:bodyPr/>
          <a:lstStyle/>
          <a:p>
            <a:r>
              <a:rPr lang="en-US" dirty="0"/>
              <a:t>Purpose of HAVING: </a:t>
            </a:r>
          </a:p>
          <a:p>
            <a:r>
              <a:rPr lang="en-US" b="0" dirty="0"/>
              <a:t>The HAVING clause is used to filter results after grouping and aggregation (e.g., AVG, SUM, COUNT). It acts like a WHERE clause but for grouped rows.</a:t>
            </a:r>
          </a:p>
          <a:p>
            <a:endParaRPr lang="en-US" dirty="0"/>
          </a:p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37017-FAFA-0006-E9ED-811D6459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DE082D-2384-D783-9FF7-D2483EFD0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809" y="2543189"/>
            <a:ext cx="5975290" cy="206576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64697B-9C5F-2699-F09E-A8147EEC85DA}"/>
              </a:ext>
            </a:extLst>
          </p:cNvPr>
          <p:cNvGraphicFramePr>
            <a:graphicFrameLocks noGrp="1"/>
          </p:cNvGraphicFramePr>
          <p:nvPr/>
        </p:nvGraphicFramePr>
        <p:xfrm>
          <a:off x="499814" y="4852750"/>
          <a:ext cx="5686102" cy="1127760"/>
        </p:xfrm>
        <a:graphic>
          <a:graphicData uri="http://schemas.openxmlformats.org/drawingml/2006/table">
            <a:tbl>
              <a:tblPr/>
              <a:tblGrid>
                <a:gridCol w="1596302">
                  <a:extLst>
                    <a:ext uri="{9D8B030D-6E8A-4147-A177-3AD203B41FA5}">
                      <a16:colId xmlns:a16="http://schemas.microsoft.com/office/drawing/2014/main" val="2422620645"/>
                    </a:ext>
                  </a:extLst>
                </a:gridCol>
                <a:gridCol w="4089800">
                  <a:extLst>
                    <a:ext uri="{9D8B030D-6E8A-4147-A177-3AD203B41FA5}">
                      <a16:colId xmlns:a16="http://schemas.microsoft.com/office/drawing/2014/main" val="1243597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owner_id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Average number of days per task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209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7.3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873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5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dirty="0">
                          <a:effectLst/>
                        </a:rPr>
                        <a:t>9.8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868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74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678D-4C37-F5EB-3608-F696E52E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command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31673-0B67-9BC4-7CE0-78AF88EC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156" y="1182149"/>
            <a:ext cx="11219688" cy="4488305"/>
          </a:xfrm>
        </p:spPr>
        <p:txBody>
          <a:bodyPr/>
          <a:lstStyle/>
          <a:p>
            <a:r>
              <a:rPr lang="en-US" dirty="0"/>
              <a:t>Purpose:</a:t>
            </a:r>
          </a:p>
          <a:p>
            <a:pPr lvl="1"/>
            <a:r>
              <a:rPr lang="en-US" dirty="0"/>
              <a:t>A JOIN lets you combine related data from two tables into one result.</a:t>
            </a:r>
          </a:p>
          <a:p>
            <a:pPr lvl="1"/>
            <a:r>
              <a:rPr lang="en-US" dirty="0"/>
              <a:t>Useful for linking tasks to their owners in a </a:t>
            </a:r>
            <a:r>
              <a:rPr lang="en-US" dirty="0" err="1"/>
              <a:t>todo</a:t>
            </a:r>
            <a:r>
              <a:rPr lang="en-US" dirty="0"/>
              <a:t> application.</a:t>
            </a:r>
          </a:p>
          <a:p>
            <a:r>
              <a:rPr lang="en-US" dirty="0"/>
              <a:t>Example Tables</a:t>
            </a:r>
          </a:p>
          <a:p>
            <a:pPr lvl="1"/>
            <a:r>
              <a:rPr lang="en-US" dirty="0" err="1"/>
              <a:t>todo_item</a:t>
            </a:r>
            <a:r>
              <a:rPr lang="en-US" dirty="0"/>
              <a:t>: Stores tasks — fields: </a:t>
            </a:r>
            <a:r>
              <a:rPr lang="en-US" dirty="0" err="1"/>
              <a:t>task_id</a:t>
            </a:r>
            <a:r>
              <a:rPr lang="en-US" dirty="0"/>
              <a:t>, </a:t>
            </a:r>
            <a:r>
              <a:rPr lang="en-US" dirty="0" err="1"/>
              <a:t>owner_id</a:t>
            </a:r>
            <a:r>
              <a:rPr lang="en-US" dirty="0"/>
              <a:t>, description, </a:t>
            </a:r>
            <a:r>
              <a:rPr lang="en-US" dirty="0" err="1"/>
              <a:t>completion_date</a:t>
            </a:r>
            <a:r>
              <a:rPr lang="en-US" dirty="0"/>
              <a:t>, </a:t>
            </a:r>
            <a:r>
              <a:rPr lang="en-US" dirty="0" err="1"/>
              <a:t>due_date</a:t>
            </a:r>
            <a:endParaRPr lang="en-US" dirty="0"/>
          </a:p>
          <a:p>
            <a:pPr lvl="1"/>
            <a:r>
              <a:rPr lang="en-US" dirty="0"/>
              <a:t>owner: Stores owner details — fields: </a:t>
            </a:r>
            <a:r>
              <a:rPr lang="en-US" dirty="0" err="1"/>
              <a:t>owner_id</a:t>
            </a:r>
            <a:r>
              <a:rPr lang="en-US" dirty="0"/>
              <a:t>, </a:t>
            </a:r>
            <a:r>
              <a:rPr lang="en-US" dirty="0" err="1"/>
              <a:t>owner_name</a:t>
            </a:r>
            <a:endParaRPr lang="en-US" dirty="0"/>
          </a:p>
          <a:p>
            <a:r>
              <a:rPr lang="en-US" dirty="0"/>
              <a:t>Example Query: List Each Owner's Task Description</a:t>
            </a:r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7A456-A002-F3DF-1053-F3E252E5F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CA520C-6CAB-715A-B1AA-63F071BC8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780" y="580873"/>
            <a:ext cx="5115639" cy="3077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891FFD-5A90-E52C-6C97-300FFA8CE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562" y="4027989"/>
            <a:ext cx="6831758" cy="211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32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AA23-A248-93C4-A911-06409BAC2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Command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0971B-BF18-550B-B49F-57EB5A6D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8561CC-F9FA-5F00-8F6F-99A9A5A0D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599111"/>
              </p:ext>
            </p:extLst>
          </p:nvPr>
        </p:nvGraphicFramePr>
        <p:xfrm>
          <a:off x="245976" y="1153805"/>
          <a:ext cx="3720906" cy="1879600"/>
        </p:xfrm>
        <a:graphic>
          <a:graphicData uri="http://schemas.openxmlformats.org/drawingml/2006/table">
            <a:tbl>
              <a:tblPr/>
              <a:tblGrid>
                <a:gridCol w="1028446">
                  <a:extLst>
                    <a:ext uri="{9D8B030D-6E8A-4147-A177-3AD203B41FA5}">
                      <a16:colId xmlns:a16="http://schemas.microsoft.com/office/drawing/2014/main" val="3646128211"/>
                    </a:ext>
                  </a:extLst>
                </a:gridCol>
                <a:gridCol w="2692460">
                  <a:extLst>
                    <a:ext uri="{9D8B030D-6E8A-4147-A177-3AD203B41FA5}">
                      <a16:colId xmlns:a16="http://schemas.microsoft.com/office/drawing/2014/main" val="5853336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effectLst/>
                        </a:rPr>
                        <a:t>owner_id</a:t>
                      </a:r>
                      <a:endParaRPr lang="en-US" b="1" dirty="0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effectLst/>
                        </a:rPr>
                        <a:t>owner_name</a:t>
                      </a:r>
                      <a:endParaRPr lang="en-US" b="1" dirty="0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823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Alice Johnson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845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Bob Smith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544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Carol Lee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838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David Brown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7802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02C91F-C2F4-63CC-31FF-CF7B3F9FE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856767"/>
              </p:ext>
            </p:extLst>
          </p:nvPr>
        </p:nvGraphicFramePr>
        <p:xfrm>
          <a:off x="4260875" y="1513840"/>
          <a:ext cx="7931125" cy="3830320"/>
        </p:xfrm>
        <a:graphic>
          <a:graphicData uri="http://schemas.openxmlformats.org/drawingml/2006/table">
            <a:tbl>
              <a:tblPr/>
              <a:tblGrid>
                <a:gridCol w="1586225">
                  <a:extLst>
                    <a:ext uri="{9D8B030D-6E8A-4147-A177-3AD203B41FA5}">
                      <a16:colId xmlns:a16="http://schemas.microsoft.com/office/drawing/2014/main" val="4142145393"/>
                    </a:ext>
                  </a:extLst>
                </a:gridCol>
                <a:gridCol w="1586225">
                  <a:extLst>
                    <a:ext uri="{9D8B030D-6E8A-4147-A177-3AD203B41FA5}">
                      <a16:colId xmlns:a16="http://schemas.microsoft.com/office/drawing/2014/main" val="2390413524"/>
                    </a:ext>
                  </a:extLst>
                </a:gridCol>
                <a:gridCol w="1586225">
                  <a:extLst>
                    <a:ext uri="{9D8B030D-6E8A-4147-A177-3AD203B41FA5}">
                      <a16:colId xmlns:a16="http://schemas.microsoft.com/office/drawing/2014/main" val="444960227"/>
                    </a:ext>
                  </a:extLst>
                </a:gridCol>
                <a:gridCol w="1586225">
                  <a:extLst>
                    <a:ext uri="{9D8B030D-6E8A-4147-A177-3AD203B41FA5}">
                      <a16:colId xmlns:a16="http://schemas.microsoft.com/office/drawing/2014/main" val="3193594580"/>
                    </a:ext>
                  </a:extLst>
                </a:gridCol>
                <a:gridCol w="1586225">
                  <a:extLst>
                    <a:ext uri="{9D8B030D-6E8A-4147-A177-3AD203B41FA5}">
                      <a16:colId xmlns:a16="http://schemas.microsoft.com/office/drawing/2014/main" val="1771533472"/>
                    </a:ext>
                  </a:extLst>
                </a:gridCol>
              </a:tblGrid>
              <a:tr h="337683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task_id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owner_id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description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completion_date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due_date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929720"/>
                  </a:ext>
                </a:extLst>
              </a:tr>
              <a:tr h="337683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Prepare report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2025-10-09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378179"/>
                  </a:ext>
                </a:extLst>
              </a:tr>
              <a:tr h="337683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Update website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2025-10-08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231794"/>
                  </a:ext>
                </a:extLst>
              </a:tr>
              <a:tr h="337683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Submit tax file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123692"/>
                  </a:ext>
                </a:extLst>
              </a:tr>
              <a:tr h="337683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Team meeting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2025-10-07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2025-10-06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454993"/>
                  </a:ext>
                </a:extLst>
              </a:tr>
              <a:tr h="584101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105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Client communication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2025-10-15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437765"/>
                  </a:ext>
                </a:extLst>
              </a:tr>
              <a:tr h="584101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106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Design presentation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2025-10-08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2025-10-08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316615"/>
                  </a:ext>
                </a:extLst>
              </a:tr>
              <a:tr h="337683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107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Check invoices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2025-10-16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dirty="0">
                          <a:effectLst/>
                        </a:rPr>
                        <a:t>2025-10-10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56436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A4AE420-F2E9-4900-3F79-DE90E2E93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495" y="1650104"/>
            <a:ext cx="7059010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1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4642A-2AA8-2299-BE7F-FD3C759D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result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5DC4D-F700-8309-4962-8D0B6DBC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0372B0-1097-A7AE-75E3-136E3E6166E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08683"/>
          <a:ext cx="10515600" cy="30073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1692242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229869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447971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owner_name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description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days_taken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19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Alice Johnson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Prepare report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591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Bob Smith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Update website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439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Alice Johnson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Submit tax file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397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Carol Lee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Team meeting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6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Bob Smith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Client communication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5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46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David Brown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Design presentation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79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Alice Johnson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Check invoices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dirty="0">
                          <a:effectLst/>
                        </a:rPr>
                        <a:t>6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966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017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41278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32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85812E3-0D6D-8654-3334-0C7AD6CDD9B4}"/>
              </a:ext>
            </a:extLst>
          </p:cNvPr>
          <p:cNvSpPr/>
          <p:nvPr/>
        </p:nvSpPr>
        <p:spPr>
          <a:xfrm>
            <a:off x="63807" y="2940292"/>
            <a:ext cx="713433" cy="79146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453342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630" y="5182"/>
            <a:ext cx="3994896" cy="71141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69" dirty="0"/>
              <a:t>Creating</a:t>
            </a:r>
            <a:r>
              <a:rPr spc="-30" dirty="0"/>
              <a:t> </a:t>
            </a:r>
            <a:r>
              <a:rPr spc="-129" dirty="0"/>
              <a:t>a</a:t>
            </a:r>
            <a:r>
              <a:rPr spc="-30" dirty="0"/>
              <a:t> </a:t>
            </a:r>
            <a:r>
              <a:rPr spc="-50" dirty="0"/>
              <a:t>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444" y="1236220"/>
            <a:ext cx="173424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4893" y="1070844"/>
            <a:ext cx="10837793" cy="1807994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24580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/>
                <a:cs typeface="Tahoma"/>
              </a:rPr>
              <a:t>A view is just a temporary table created based on a query. By  temporary we mean that no additional tables or database entities are  created.</a:t>
            </a:r>
            <a:endParaRPr lang="en-US" sz="2180" dirty="0">
              <a:latin typeface="Tahoma"/>
              <a:cs typeface="Tahoma"/>
            </a:endParaRPr>
          </a:p>
          <a:p>
            <a:pPr marL="25168" marR="124580">
              <a:lnSpc>
                <a:spcPct val="102600"/>
              </a:lnSpc>
              <a:spcBef>
                <a:spcPts val="109"/>
              </a:spcBef>
            </a:pPr>
            <a:endParaRPr sz="2180" dirty="0">
              <a:latin typeface="Tahoma"/>
              <a:cs typeface="Tahoma"/>
            </a:endParaRPr>
          </a:p>
          <a:p>
            <a:pPr marL="25168" marR="10067">
              <a:lnSpc>
                <a:spcPct val="102600"/>
              </a:lnSpc>
              <a:spcBef>
                <a:spcPts val="595"/>
              </a:spcBef>
            </a:pPr>
            <a:r>
              <a:rPr sz="2180" dirty="0">
                <a:latin typeface="Tahoma"/>
                <a:cs typeface="Tahoma"/>
              </a:rPr>
              <a:t>The view is created when the query is run and is </a:t>
            </a:r>
            <a:r>
              <a:rPr sz="2180" i="1" dirty="0">
                <a:solidFill>
                  <a:srgbClr val="00A1BE"/>
                </a:solidFill>
                <a:latin typeface="Trebuchet MS"/>
                <a:cs typeface="Trebuchet MS"/>
              </a:rPr>
              <a:t>readonly</a:t>
            </a:r>
            <a:r>
              <a:rPr sz="2180" dirty="0">
                <a:latin typeface="Tahoma"/>
                <a:cs typeface="Tahoma"/>
              </a:rPr>
              <a:t>, because as  the name implies, we only </a:t>
            </a:r>
            <a:r>
              <a:rPr sz="2180" i="1" dirty="0">
                <a:latin typeface="Trebuchet MS"/>
                <a:cs typeface="Trebuchet MS"/>
              </a:rPr>
              <a:t>view </a:t>
            </a:r>
            <a:r>
              <a:rPr sz="2180" dirty="0">
                <a:latin typeface="Tahoma"/>
                <a:cs typeface="Tahoma"/>
              </a:rPr>
              <a:t>this data.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444" y="2334431"/>
            <a:ext cx="173424" cy="1293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1204F5-E076-3AC3-AB09-72EA1E092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893" y="3054330"/>
            <a:ext cx="7518786" cy="749339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" y="5182"/>
            <a:ext cx="3603637" cy="71141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69" dirty="0"/>
              <a:t>Using</a:t>
            </a:r>
            <a:r>
              <a:rPr spc="-40" dirty="0"/>
              <a:t> </a:t>
            </a:r>
            <a:r>
              <a:rPr spc="-129" dirty="0"/>
              <a:t>a</a:t>
            </a:r>
            <a:r>
              <a:rPr spc="-30" dirty="0"/>
              <a:t> </a:t>
            </a:r>
            <a:r>
              <a:rPr spc="-50" dirty="0"/>
              <a:t>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445" y="1873580"/>
            <a:ext cx="171008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4894" y="1708231"/>
            <a:ext cx="8094591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dirty="0">
                <a:latin typeface="Tahoma"/>
                <a:cs typeface="Tahoma"/>
              </a:rPr>
              <a:t>We can list all views that exists on a database using: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445" y="3167466"/>
            <a:ext cx="171008" cy="1293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34893" y="3002091"/>
            <a:ext cx="10641933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dirty="0">
                <a:latin typeface="Tahoma"/>
                <a:cs typeface="Tahoma"/>
              </a:rPr>
              <a:t>We use a view in exactly the same way we would use any other table: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D50108-6C9B-62DF-35C7-CB6EF848C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893" y="2216838"/>
            <a:ext cx="2317869" cy="4762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62DA9D-7DD3-B957-0A51-94D8AB587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893" y="3698499"/>
            <a:ext cx="5137414" cy="53342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41278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35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85812E3-0D6D-8654-3334-0C7AD6CDD9B4}"/>
              </a:ext>
            </a:extLst>
          </p:cNvPr>
          <p:cNvSpPr/>
          <p:nvPr/>
        </p:nvSpPr>
        <p:spPr>
          <a:xfrm>
            <a:off x="48567" y="3598510"/>
            <a:ext cx="713433" cy="79146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894429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E72F-EE3A-638C-1079-D83405DBB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pc="-30" dirty="0"/>
              <a:t>Dynamic</a:t>
            </a:r>
            <a:r>
              <a:rPr lang="en-GB" spc="-55" dirty="0"/>
              <a:t> </a:t>
            </a:r>
            <a:r>
              <a:rPr lang="en-GB" spc="-50" dirty="0"/>
              <a:t>Queries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7837A-6BF4-0C13-AEDE-31EA5269C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53331"/>
            <a:ext cx="11393714" cy="4351338"/>
          </a:xfrm>
        </p:spPr>
        <p:txBody>
          <a:bodyPr/>
          <a:lstStyle/>
          <a:p>
            <a:pPr marL="12700" marR="5080">
              <a:lnSpc>
                <a:spcPct val="150000"/>
              </a:lnSpc>
              <a:spcBef>
                <a:spcPts val="55"/>
              </a:spcBef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Occasionally we don’t know exactly what values we are going to be  using within a query. Most often this will come from an external  program (e.g. a JavaFX UI).</a:t>
            </a:r>
          </a:p>
          <a:p>
            <a:pPr marL="12700" marR="5080">
              <a:lnSpc>
                <a:spcPct val="150000"/>
              </a:lnSpc>
              <a:spcBef>
                <a:spcPts val="55"/>
              </a:spcBef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34925" algn="just">
              <a:lnSpc>
                <a:spcPct val="150000"/>
              </a:lnSpc>
              <a:spcBef>
                <a:spcPts val="300"/>
              </a:spcBef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this case we prepare a query or statement beforehand and use it  later on. (This is why dynamic queries are also known as Prepared  Statements).</a:t>
            </a:r>
          </a:p>
          <a:p>
            <a:pPr marL="12700" marR="34925" algn="just">
              <a:lnSpc>
                <a:spcPct val="150000"/>
              </a:lnSpc>
              <a:spcBef>
                <a:spcPts val="300"/>
              </a:spcBef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29845" algn="just">
              <a:lnSpc>
                <a:spcPct val="150000"/>
              </a:lnSpc>
              <a:spcBef>
                <a:spcPts val="300"/>
              </a:spcBef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just need to define which parts of our query will be parameters  and not hardcoded.</a:t>
            </a:r>
          </a:p>
          <a:p>
            <a:endParaRPr lang="en-AE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ADD58-299F-E44C-BD12-CDF3B60B3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6545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BEEF5-2A7D-9C29-E8CD-C934B9393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214420"/>
            <a:ext cx="5132510" cy="46702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4CBA13-C2AE-BDAC-9810-4279EE00C8B9}"/>
              </a:ext>
            </a:extLst>
          </p:cNvPr>
          <p:cNvSpPr txBox="1"/>
          <p:nvPr/>
        </p:nvSpPr>
        <p:spPr>
          <a:xfrm>
            <a:off x="1971675" y="5042655"/>
            <a:ext cx="6129494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 In some cases, however, the SQL statements are composed at run time or provided by an external source.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521228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62B64-EB48-6719-D976-42FB9759F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pc="-30" dirty="0"/>
              <a:t>Dynamic</a:t>
            </a:r>
            <a:r>
              <a:rPr lang="en-GB" dirty="0"/>
              <a:t> </a:t>
            </a:r>
            <a:r>
              <a:rPr lang="en-GB" spc="-50" dirty="0"/>
              <a:t>Queries</a:t>
            </a:r>
            <a:r>
              <a:rPr lang="en-GB" dirty="0"/>
              <a:t> </a:t>
            </a:r>
            <a:r>
              <a:rPr lang="en-GB" spc="-50" dirty="0"/>
              <a:t>Example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43321-E9A6-F28C-5A8E-C97ACDFA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38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64B501-35AB-314A-202B-EDCDFAD97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18" y="1816983"/>
            <a:ext cx="10792705" cy="1757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F702DD-E0BB-0463-5938-A1885525420D}"/>
              </a:ext>
            </a:extLst>
          </p:cNvPr>
          <p:cNvSpPr txBox="1"/>
          <p:nvPr/>
        </p:nvSpPr>
        <p:spPr>
          <a:xfrm>
            <a:off x="3468914" y="4597177"/>
            <a:ext cx="6241142" cy="646331"/>
          </a:xfrm>
          <a:prstGeom prst="wedgeRectCallout">
            <a:avLst>
              <a:gd name="adj1" fmla="val -25717"/>
              <a:gd name="adj2" fmla="val -13511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/>
              <a:t>we create </a:t>
            </a:r>
            <a:r>
              <a:rPr lang="en-AE" dirty="0"/>
              <a:t>a prepare SELECT statement and EXECUTE it with</a:t>
            </a:r>
          </a:p>
          <a:p>
            <a:r>
              <a:rPr lang="en-AE" dirty="0"/>
              <a:t>a parameter.</a:t>
            </a:r>
          </a:p>
        </p:txBody>
      </p:sp>
    </p:spTree>
    <p:extLst>
      <p:ext uri="{BB962C8B-B14F-4D97-AF65-F5344CB8AC3E}">
        <p14:creationId xmlns:p14="http://schemas.microsoft.com/office/powerpoint/2010/main" val="27534439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658" y="547918"/>
            <a:ext cx="4357767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79" dirty="0"/>
              <a:t>DROP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613" y="2423657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7065" y="2258283"/>
            <a:ext cx="10407594" cy="682302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Occasionally we want to completely remove an existing table (or database). In this case we use the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DROP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613" y="4058504"/>
            <a:ext cx="129332" cy="1293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57064" y="3893129"/>
            <a:ext cx="10252924" cy="1027844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 careful when using the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DROP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 as that will completely remove whatever database structures you set, as well as all data that was stored in that structure.</a:t>
            </a:r>
            <a:endParaRPr sz="218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5A5389-C362-E6E4-5A1E-D2CF0C84C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483" y="3091136"/>
            <a:ext cx="4800847" cy="539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58F34D-C36D-96CE-C7A9-D53052523004}"/>
              </a:ext>
            </a:extLst>
          </p:cNvPr>
          <p:cNvSpPr txBox="1"/>
          <p:nvPr/>
        </p:nvSpPr>
        <p:spPr>
          <a:xfrm>
            <a:off x="4896667" y="181782"/>
            <a:ext cx="6876232" cy="1209818"/>
          </a:xfrm>
          <a:prstGeom prst="wedgeRectCallout">
            <a:avLst>
              <a:gd name="adj1" fmla="val -31864"/>
              <a:gd name="adj2" fmla="val 75383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636740" algn="just">
              <a:lnSpc>
                <a:spcPct val="102600"/>
              </a:lnSpc>
              <a:spcBef>
                <a:spcPts val="109"/>
              </a:spcBef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we are developing a database, we might fill it with some temporary or test data. It is critically important to remove this data once the structure is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finalised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both for reasons of security and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3081627546"/>
      </p:ext>
    </p:extLst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316" y="412471"/>
            <a:ext cx="9420285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79" dirty="0"/>
              <a:t>TRUNCATE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316" y="1652017"/>
            <a:ext cx="19031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4766" y="1486642"/>
            <a:ext cx="10263755" cy="682302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often we would prefer to keep the database structure, but remove all the data in the database. In this case we can use the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TRUNCATE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command:</a:t>
            </a:r>
            <a:endParaRPr sz="218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316" y="3627852"/>
            <a:ext cx="190312" cy="1293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84767" y="3462502"/>
            <a:ext cx="10526695" cy="1027844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general we prefer to use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DELETE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we need to remove a subset of rows from a table.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DELETE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performs the remove row-by-row, so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TRUNCATE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be much faster than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DELETE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removing all the rows from a table.</a:t>
            </a:r>
            <a:endParaRPr sz="218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C3BE53-A692-25C0-DBD2-3FD97A300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97" y="2444668"/>
            <a:ext cx="5200917" cy="47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93980"/>
      </p:ext>
    </p:extLst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551F4-C772-0644-E994-DD2A6AF1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Using Control Structures</a:t>
            </a:r>
            <a:endParaRPr lang="en-AE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5E45323-CFF6-BBEA-35D5-8B3BB6566C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71482" y="1717657"/>
          <a:ext cx="3861627" cy="2977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1364E-CA94-C50A-DD47-C02203F70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41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4580C-A6CD-06AD-094D-EE00268E33CE}"/>
              </a:ext>
            </a:extLst>
          </p:cNvPr>
          <p:cNvSpPr txBox="1"/>
          <p:nvPr/>
        </p:nvSpPr>
        <p:spPr>
          <a:xfrm>
            <a:off x="81806" y="5209895"/>
            <a:ext cx="10816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For</a:t>
            </a:r>
            <a:r>
              <a:rPr lang="en-AE" dirty="0"/>
              <a:t> more info: </a:t>
            </a:r>
            <a:r>
              <a:rPr lang="en-AE" dirty="0">
                <a:hlinkClick r:id="rId7"/>
              </a:rPr>
              <a:t>https://www.postgresql.org/docs/current/plpgsql-control-structures.html</a:t>
            </a:r>
            <a:r>
              <a:rPr lang="en-AE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A4FD9C-20BB-55CC-3426-670C357F66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5210" y="1777167"/>
            <a:ext cx="5633630" cy="1372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6B9F1F-D5E3-D63B-AB6D-8175248B18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5210" y="3429000"/>
            <a:ext cx="6213662" cy="12661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CB821402-572E-0C3F-7E89-CA4D3067E096}"/>
              </a:ext>
            </a:extLst>
          </p:cNvPr>
          <p:cNvSpPr/>
          <p:nvPr/>
        </p:nvSpPr>
        <p:spPr>
          <a:xfrm>
            <a:off x="9485677" y="396195"/>
            <a:ext cx="2130251" cy="60384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Self study</a:t>
            </a:r>
            <a:endParaRPr lang="en-A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8D4E01-6B08-5347-D6D7-C0DEE3D75135}"/>
              </a:ext>
            </a:extLst>
          </p:cNvPr>
          <p:cNvSpPr txBox="1"/>
          <p:nvPr/>
        </p:nvSpPr>
        <p:spPr>
          <a:xfrm>
            <a:off x="5895210" y="1077758"/>
            <a:ext cx="1936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A1BE"/>
                </a:solidFill>
              </a:rPr>
              <a:t>Stored procedures</a:t>
            </a:r>
            <a:endParaRPr lang="en-AE" b="1" dirty="0">
              <a:solidFill>
                <a:srgbClr val="00A1B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4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9C5FE-9D47-5BA6-C99F-7FBB3942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76" y="-29165"/>
            <a:ext cx="10515600" cy="805780"/>
          </a:xfrm>
        </p:spPr>
        <p:txBody>
          <a:bodyPr>
            <a:normAutofit/>
          </a:bodyPr>
          <a:lstStyle/>
          <a:p>
            <a:r>
              <a:rPr lang="en-GB" spc="50" dirty="0"/>
              <a:t>DO</a:t>
            </a:r>
            <a:r>
              <a:rPr lang="en-GB" spc="-45" dirty="0"/>
              <a:t> </a:t>
            </a:r>
            <a:r>
              <a:rPr lang="en-GB" spc="-35" dirty="0"/>
              <a:t>blocks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7ED3A-DB24-21CC-F1E0-1F8F9D14E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22" y="642780"/>
            <a:ext cx="11771586" cy="112335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Execute an anonymous code block.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code block is treated as though it were the body of a function with no parameters, returning void. It is parsed and executed a single time.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A8E74-2460-9B0E-8A77-0A6BB8FD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42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39F08-40AC-6FC6-0705-4B1C84F53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76" y="1886350"/>
            <a:ext cx="7897602" cy="29318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06C1E9-78E2-B262-D1B5-5E533F9BCB6F}"/>
              </a:ext>
            </a:extLst>
          </p:cNvPr>
          <p:cNvSpPr txBox="1"/>
          <p:nvPr/>
        </p:nvSpPr>
        <p:spPr>
          <a:xfrm>
            <a:off x="3744685" y="4938455"/>
            <a:ext cx="6241142" cy="715089"/>
          </a:xfrm>
          <a:prstGeom prst="wedgeRoundRectCallout">
            <a:avLst>
              <a:gd name="adj1" fmla="val -31298"/>
              <a:gd name="adj2" fmla="val -12626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AE" dirty="0"/>
              <a:t>selects all items with a specific owner id and</a:t>
            </a:r>
          </a:p>
          <a:p>
            <a:r>
              <a:rPr lang="en-AE" dirty="0"/>
              <a:t>then updates the due date for all of those items: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F14CA-C884-5CC7-C08D-412C3C2D1A1D}"/>
              </a:ext>
            </a:extLst>
          </p:cNvPr>
          <p:cNvSpPr txBox="1"/>
          <p:nvPr/>
        </p:nvSpPr>
        <p:spPr>
          <a:xfrm>
            <a:off x="7002050" y="2024810"/>
            <a:ext cx="497856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There is no DO statement in the SQL standard.</a:t>
            </a:r>
          </a:p>
        </p:txBody>
      </p:sp>
    </p:spTree>
    <p:extLst>
      <p:ext uri="{BB962C8B-B14F-4D97-AF65-F5344CB8AC3E}">
        <p14:creationId xmlns:p14="http://schemas.microsoft.com/office/powerpoint/2010/main" val="367157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215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43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3912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5A056-6CB8-164E-1D09-63E9E66F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480" y="3987454"/>
            <a:ext cx="10861040" cy="577340"/>
          </a:xfrm>
        </p:spPr>
        <p:txBody>
          <a:bodyPr/>
          <a:lstStyle/>
          <a:p>
            <a:r>
              <a:rPr lang="en-GB" dirty="0"/>
              <a:t>This week</a:t>
            </a:r>
            <a:br>
              <a:rPr lang="en-GB" dirty="0"/>
            </a:br>
            <a:r>
              <a:rPr lang="en-GB" dirty="0"/>
              <a:t>Week 4 - Example class test</a:t>
            </a:r>
            <a:br>
              <a:rPr lang="en-GB" dirty="0"/>
            </a:b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043310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D374A-552F-1872-083C-E088552E7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3812643"/>
            <a:ext cx="10861040" cy="577340"/>
          </a:xfrm>
        </p:spPr>
        <p:txBody>
          <a:bodyPr/>
          <a:lstStyle/>
          <a:p>
            <a:r>
              <a:rPr lang="en-US" dirty="0"/>
              <a:t>Next week</a:t>
            </a:r>
            <a:br>
              <a:rPr lang="en-US" dirty="0"/>
            </a:br>
            <a:r>
              <a:rPr lang="en-US" dirty="0"/>
              <a:t>Week 5 – Class test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618132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">
  <a:themeElements>
    <a:clrScheme name="Brand Hyperlink">
      <a:dk1>
        <a:srgbClr val="1B1B1B"/>
      </a:dk1>
      <a:lt1>
        <a:srgbClr val="FAFAFA"/>
      </a:lt1>
      <a:dk2>
        <a:srgbClr val="C59A00"/>
      </a:dk2>
      <a:lt2>
        <a:srgbClr val="C20019"/>
      </a:lt2>
      <a:accent1>
        <a:srgbClr val="007838"/>
      </a:accent1>
      <a:accent2>
        <a:srgbClr val="00788E"/>
      </a:accent2>
      <a:accent3>
        <a:srgbClr val="0057BF"/>
      </a:accent3>
      <a:accent4>
        <a:srgbClr val="501D83"/>
      </a:accent4>
      <a:accent5>
        <a:srgbClr val="DB0061"/>
      </a:accent5>
      <a:accent6>
        <a:srgbClr val="CF4527"/>
      </a:accent6>
      <a:hlink>
        <a:srgbClr val="0057BF"/>
      </a:hlink>
      <a:folHlink>
        <a:srgbClr val="0057B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A64A8D97-CF93-F647-93A8-33E362D4269F}" vid="{64564872-FB29-C447-B5D6-A2004310C6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0DEE3A6EBAA4E903B9ED3648C9F13" ma:contentTypeVersion="4" ma:contentTypeDescription="Create a new document." ma:contentTypeScope="" ma:versionID="38366775fb0f1f9d6a17f10c9024590e">
  <xsd:schema xmlns:xsd="http://www.w3.org/2001/XMLSchema" xmlns:xs="http://www.w3.org/2001/XMLSchema" xmlns:p="http://schemas.microsoft.com/office/2006/metadata/properties" xmlns:ns2="df0df12c-bf9d-4238-af7c-48738a5edba8" targetNamespace="http://schemas.microsoft.com/office/2006/metadata/properties" ma:root="true" ma:fieldsID="146a07fb82f45d2c1f72ee16c35770cd" ns2:_="">
    <xsd:import namespace="df0df12c-bf9d-4238-af7c-48738a5ed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0df12c-bf9d-4238-af7c-48738a5edb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59717D-CB25-4A45-88EB-DFF31B728467}">
  <ds:schemaRefs>
    <ds:schemaRef ds:uri="http://purl.org/dc/dcmitype/"/>
    <ds:schemaRef ds:uri="df0df12c-bf9d-4238-af7c-48738a5edba8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FEB96AD-99A0-45ED-B827-BCC3E4FCF4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758D75-6313-42F9-B8ED-EA3808431447}">
  <ds:schemaRefs>
    <ds:schemaRef ds:uri="df0df12c-bf9d-4238-af7c-48738a5edb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</Template>
  <TotalTime>13</TotalTime>
  <Words>2586</Words>
  <Application>Microsoft Macintosh PowerPoint</Application>
  <PresentationFormat>Widescreen</PresentationFormat>
  <Paragraphs>582</Paragraphs>
  <Slides>45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Consolas</vt:lpstr>
      <vt:lpstr>Times New Roman</vt:lpstr>
      <vt:lpstr>Trebuchet MS</vt:lpstr>
      <vt:lpstr>Calibri</vt:lpstr>
      <vt:lpstr>Open Sans</vt:lpstr>
      <vt:lpstr>Verdana</vt:lpstr>
      <vt:lpstr>Tahoma</vt:lpstr>
      <vt:lpstr>Light Theme</vt:lpstr>
      <vt:lpstr>PowerPoint Presentation</vt:lpstr>
      <vt:lpstr>Announcement </vt:lpstr>
      <vt:lpstr>PowerPoint Presentation</vt:lpstr>
      <vt:lpstr>Outline (This Week)</vt:lpstr>
      <vt:lpstr>Outline (Last Week)</vt:lpstr>
      <vt:lpstr>Outline (This Week)</vt:lpstr>
      <vt:lpstr>PowerPoint Presentation</vt:lpstr>
      <vt:lpstr>PowerPoint Presentation</vt:lpstr>
      <vt:lpstr>Comma separated file</vt:lpstr>
      <vt:lpstr>Import from csv - create table</vt:lpstr>
      <vt:lpstr>Import from csv - COPY command</vt:lpstr>
      <vt:lpstr>Outline (This Week)</vt:lpstr>
      <vt:lpstr>Constraints</vt:lpstr>
      <vt:lpstr>ALTER existing structure</vt:lpstr>
      <vt:lpstr>When to create Foreign Key Relationships</vt:lpstr>
      <vt:lpstr>Default Constraint</vt:lpstr>
      <vt:lpstr>Checking existing constraints and relationships</vt:lpstr>
      <vt:lpstr>Outline (This Week)</vt:lpstr>
      <vt:lpstr>Functions</vt:lpstr>
      <vt:lpstr>Count()</vt:lpstr>
      <vt:lpstr>Sum()</vt:lpstr>
      <vt:lpstr>Min() and Max()</vt:lpstr>
      <vt:lpstr>The AS Command</vt:lpstr>
      <vt:lpstr>AS Result</vt:lpstr>
      <vt:lpstr>Avg()</vt:lpstr>
      <vt:lpstr>ORDER BY ASC and DESC</vt:lpstr>
      <vt:lpstr>Group by </vt:lpstr>
      <vt:lpstr>Having query</vt:lpstr>
      <vt:lpstr>Join command </vt:lpstr>
      <vt:lpstr>Join Command</vt:lpstr>
      <vt:lpstr>Join result</vt:lpstr>
      <vt:lpstr>Outline (This Week)</vt:lpstr>
      <vt:lpstr>Creating a View</vt:lpstr>
      <vt:lpstr>Using a View</vt:lpstr>
      <vt:lpstr>Outline (This Week)</vt:lpstr>
      <vt:lpstr>Dynamic Queries</vt:lpstr>
      <vt:lpstr>PowerPoint Presentation</vt:lpstr>
      <vt:lpstr>Dynamic Queries Example</vt:lpstr>
      <vt:lpstr>DROP</vt:lpstr>
      <vt:lpstr>TRUNCATE</vt:lpstr>
      <vt:lpstr>Using Control Structures</vt:lpstr>
      <vt:lpstr>DO blocks</vt:lpstr>
      <vt:lpstr>Summary</vt:lpstr>
      <vt:lpstr>This week Week 4 - Example class test </vt:lpstr>
      <vt:lpstr>Next week Week 5 – Class test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Anelia Kurteva (Computer Science)</dc:creator>
  <cp:lastModifiedBy>Anelia Kurteva (Computer Science)</cp:lastModifiedBy>
  <cp:revision>16</cp:revision>
  <dcterms:created xsi:type="dcterms:W3CDTF">2025-10-19T16:50:59Z</dcterms:created>
  <dcterms:modified xsi:type="dcterms:W3CDTF">2025-10-19T17:04:11Z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0x0101006A50DEE3A6EBAA4E903B9ED3648C9F13</vt:lpwstr>
  </property>
  <property fmtid="{D5CDD505-2E9C-101B-9397-08002B2CF9AE}" pid="3" name="MediaServiceImageTags">
    <vt:lpwstr/>
  </property>
</Properties>
</file>