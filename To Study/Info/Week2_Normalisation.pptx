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56" r:id="rId2"/>
    <p:sldId id="257" r:id="rId3"/>
    <p:sldId id="258" r:id="rId4"/>
    <p:sldId id="270" r:id="rId5"/>
    <p:sldId id="276" r:id="rId6"/>
    <p:sldId id="271" r:id="rId7"/>
    <p:sldId id="272" r:id="rId8"/>
    <p:sldId id="273" r:id="rId9"/>
    <p:sldId id="274" r:id="rId10"/>
    <p:sldId id="275" r:id="rId11"/>
    <p:sldId id="260" r:id="rId12"/>
    <p:sldId id="277" r:id="rId13"/>
    <p:sldId id="261" r:id="rId14"/>
    <p:sldId id="262" r:id="rId15"/>
    <p:sldId id="278" r:id="rId16"/>
    <p:sldId id="290" r:id="rId17"/>
    <p:sldId id="281" r:id="rId18"/>
    <p:sldId id="263" r:id="rId19"/>
    <p:sldId id="279" r:id="rId20"/>
    <p:sldId id="282" r:id="rId21"/>
    <p:sldId id="264" r:id="rId22"/>
    <p:sldId id="284" r:id="rId23"/>
    <p:sldId id="285" r:id="rId24"/>
    <p:sldId id="291" r:id="rId25"/>
    <p:sldId id="286" r:id="rId26"/>
    <p:sldId id="265" r:id="rId27"/>
    <p:sldId id="287" r:id="rId28"/>
    <p:sldId id="288" r:id="rId29"/>
    <p:sldId id="266" r:id="rId30"/>
    <p:sldId id="268" r:id="rId31"/>
    <p:sldId id="292" r:id="rId32"/>
    <p:sldId id="267" r:id="rId33"/>
    <p:sldId id="26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7946C6-8809-8744-96A1-8423BF5C4EFD}" v="1" dt="2025-07-15T10:12:30.317"/>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9"/>
  </p:normalViewPr>
  <p:slideViewPr>
    <p:cSldViewPr snapToGrid="0">
      <p:cViewPr varScale="1">
        <p:scale>
          <a:sx n="114" d="100"/>
          <a:sy n="114" d="100"/>
        </p:scale>
        <p:origin x="6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6F852-7A07-7045-A834-2C4EF7B75A64}" type="datetimeFigureOut">
              <a:rPr lang="en-US" smtClean="0"/>
              <a:t>9/24/25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1EDD5-97F0-BA47-9D99-8FAC7C74E719}" type="slidenum">
              <a:rPr lang="en-US" smtClean="0"/>
              <a:t>‹#›</a:t>
            </a:fld>
            <a:endParaRPr lang="en-US"/>
          </a:p>
        </p:txBody>
      </p:sp>
    </p:spTree>
    <p:extLst>
      <p:ext uri="{BB962C8B-B14F-4D97-AF65-F5344CB8AC3E}">
        <p14:creationId xmlns:p14="http://schemas.microsoft.com/office/powerpoint/2010/main" val="2675361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You would want to delete the student record, but not wipe out the existence of the Class!!</a:t>
            </a:r>
          </a:p>
          <a:p>
            <a:endParaRPr lang="en-US"/>
          </a:p>
        </p:txBody>
      </p:sp>
      <p:sp>
        <p:nvSpPr>
          <p:cNvPr id="4" name="Slide Number Placeholder 3"/>
          <p:cNvSpPr>
            <a:spLocks noGrp="1"/>
          </p:cNvSpPr>
          <p:nvPr>
            <p:ph type="sldNum" sz="quarter" idx="5"/>
          </p:nvPr>
        </p:nvSpPr>
        <p:spPr/>
        <p:txBody>
          <a:bodyPr/>
          <a:lstStyle/>
          <a:p>
            <a:fld id="{9401EDD5-97F0-BA47-9D99-8FAC7C74E719}" type="slidenum">
              <a:rPr lang="en-US" smtClean="0"/>
              <a:t>10</a:t>
            </a:fld>
            <a:endParaRPr lang="en-US"/>
          </a:p>
        </p:txBody>
      </p:sp>
    </p:spTree>
    <p:extLst>
      <p:ext uri="{BB962C8B-B14F-4D97-AF65-F5344CB8AC3E}">
        <p14:creationId xmlns:p14="http://schemas.microsoft.com/office/powerpoint/2010/main" val="403031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a:solidFill>
                  <a:schemeClr val="tx1"/>
                </a:solidFill>
                <a:effectLst/>
                <a:latin typeface="+mn-lt"/>
                <a:ea typeface="+mn-ea"/>
                <a:cs typeface="+mn-cs"/>
              </a:rPr>
              <a:t>There are also 4NF (fourth normal form) and 5NF (fifth normal form). There’s even 6NF (sixth normal form), but the most common normal form you’ll see out there is 3NF (third normal form).</a:t>
            </a:r>
            <a:endParaRPr lang="en-US"/>
          </a:p>
        </p:txBody>
      </p:sp>
      <p:sp>
        <p:nvSpPr>
          <p:cNvPr id="4" name="Slide Number Placeholder 3"/>
          <p:cNvSpPr>
            <a:spLocks noGrp="1"/>
          </p:cNvSpPr>
          <p:nvPr>
            <p:ph type="sldNum" sz="quarter" idx="5"/>
          </p:nvPr>
        </p:nvSpPr>
        <p:spPr/>
        <p:txBody>
          <a:bodyPr/>
          <a:lstStyle/>
          <a:p>
            <a:fld id="{9401EDD5-97F0-BA47-9D99-8FAC7C74E719}" type="slidenum">
              <a:rPr lang="en-US" smtClean="0"/>
              <a:t>11</a:t>
            </a:fld>
            <a:endParaRPr lang="en-US"/>
          </a:p>
        </p:txBody>
      </p:sp>
    </p:spTree>
    <p:extLst>
      <p:ext uri="{BB962C8B-B14F-4D97-AF65-F5344CB8AC3E}">
        <p14:creationId xmlns:p14="http://schemas.microsoft.com/office/powerpoint/2010/main" val="3107211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students for ideas on dependencies</a:t>
            </a:r>
          </a:p>
        </p:txBody>
      </p:sp>
      <p:sp>
        <p:nvSpPr>
          <p:cNvPr id="4" name="Slide Number Placeholder 3"/>
          <p:cNvSpPr>
            <a:spLocks noGrp="1"/>
          </p:cNvSpPr>
          <p:nvPr>
            <p:ph type="sldNum" sz="quarter" idx="5"/>
          </p:nvPr>
        </p:nvSpPr>
        <p:spPr/>
        <p:txBody>
          <a:bodyPr/>
          <a:lstStyle/>
          <a:p>
            <a:fld id="{9401EDD5-97F0-BA47-9D99-8FAC7C74E719}" type="slidenum">
              <a:rPr lang="en-US" smtClean="0"/>
              <a:t>20</a:t>
            </a:fld>
            <a:endParaRPr lang="en-US"/>
          </a:p>
        </p:txBody>
      </p:sp>
    </p:spTree>
    <p:extLst>
      <p:ext uri="{BB962C8B-B14F-4D97-AF65-F5344CB8AC3E}">
        <p14:creationId xmlns:p14="http://schemas.microsoft.com/office/powerpoint/2010/main" val="25595634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ight Title Slide">
    <p:bg>
      <p:bgPr>
        <a:solidFill>
          <a:schemeClr val="bg1"/>
        </a:solidFill>
        <a:effectLst/>
      </p:bgPr>
    </p:bg>
    <p:spTree>
      <p:nvGrpSpPr>
        <p:cNvPr id="1" name=""/>
        <p:cNvGrpSpPr/>
        <p:nvPr/>
      </p:nvGrpSpPr>
      <p:grpSpPr>
        <a:xfrm>
          <a:off x="0" y="0"/>
          <a:ext cx="0" cy="0"/>
          <a:chOff x="0" y="0"/>
          <a:chExt cx="0" cy="0"/>
        </a:xfrm>
      </p:grpSpPr>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2777841" y="1286677"/>
            <a:ext cx="9144000" cy="2387600"/>
          </a:xfrm>
          <a:prstGeom prst="rect">
            <a:avLst/>
          </a:prstGeom>
          <a:solidFill>
            <a:schemeClr val="bg1"/>
          </a:solidFill>
        </p:spPr>
        <p:txBody>
          <a:bodyPr anchor="b"/>
          <a:lstStyle>
            <a:lvl1pPr algn="l">
              <a:lnSpc>
                <a:spcPts val="5400"/>
              </a:lnSpc>
              <a:defRPr sz="6000">
                <a:solidFill>
                  <a:srgbClr val="1B1B1B"/>
                </a:solidFill>
              </a:defRPr>
            </a:lvl1pPr>
          </a:lstStyle>
          <a:p>
            <a:r>
              <a:rPr lang="en-GB"/>
              <a:t>Insert headline here. </a:t>
            </a:r>
            <a:br>
              <a:rPr lang="en-GB"/>
            </a:br>
            <a:r>
              <a:rPr lang="en-GB"/>
              <a:t>Should be between </a:t>
            </a:r>
            <a:br>
              <a:rPr lang="en-GB"/>
            </a:br>
            <a:r>
              <a:rPr lang="en-GB"/>
              <a:t>1-3 lines max. </a:t>
            </a:r>
            <a:endParaRPr lang="en-US"/>
          </a:p>
        </p:txBody>
      </p:sp>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2777841" y="3674277"/>
            <a:ext cx="9144000"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pic>
        <p:nvPicPr>
          <p:cNvPr id="4" name="Picture 3" descr="A black background with a black square&#10;&#10;Description automatically generated with medium confidence">
            <a:extLst>
              <a:ext uri="{FF2B5EF4-FFF2-40B4-BE49-F238E27FC236}">
                <a16:creationId xmlns:a16="http://schemas.microsoft.com/office/drawing/2014/main" id="{5F70169D-EE12-91DD-C274-7DD153D212B8}"/>
              </a:ext>
            </a:extLst>
          </p:cNvPr>
          <p:cNvPicPr>
            <a:picLocks noChangeAspect="1"/>
          </p:cNvPicPr>
          <p:nvPr/>
        </p:nvPicPr>
        <p:blipFill>
          <a:blip r:embed="rId2"/>
          <a:stretch>
            <a:fillRect/>
          </a:stretch>
        </p:blipFill>
        <p:spPr>
          <a:xfrm>
            <a:off x="142240" y="6195497"/>
            <a:ext cx="2635601" cy="479287"/>
          </a:xfrm>
          <a:prstGeom prst="rect">
            <a:avLst/>
          </a:prstGeom>
        </p:spPr>
      </p:pic>
      <p:pic>
        <p:nvPicPr>
          <p:cNvPr id="21" name="Picture 20">
            <a:extLst>
              <a:ext uri="{FF2B5EF4-FFF2-40B4-BE49-F238E27FC236}">
                <a16:creationId xmlns:a16="http://schemas.microsoft.com/office/drawing/2014/main" id="{9560F2C9-9372-B4EA-FD55-10766EB0EA29}"/>
              </a:ext>
            </a:extLst>
          </p:cNvPr>
          <p:cNvPicPr>
            <a:picLocks noChangeAspect="1"/>
          </p:cNvPicPr>
          <p:nvPr/>
        </p:nvPicPr>
        <p:blipFill>
          <a:blip r:embed="rId3"/>
          <a:stretch>
            <a:fillRect/>
          </a:stretch>
        </p:blipFill>
        <p:spPr>
          <a:xfrm>
            <a:off x="6321141" y="5417276"/>
            <a:ext cx="5600700" cy="1289201"/>
          </a:xfrm>
          <a:prstGeom prst="rect">
            <a:avLst/>
          </a:prstGeom>
        </p:spPr>
      </p:pic>
      <p:pic>
        <p:nvPicPr>
          <p:cNvPr id="23" name="Picture 22">
            <a:extLst>
              <a:ext uri="{FF2B5EF4-FFF2-40B4-BE49-F238E27FC236}">
                <a16:creationId xmlns:a16="http://schemas.microsoft.com/office/drawing/2014/main" id="{464CE6E0-1991-7CC2-3228-E4A9872CC9E6}"/>
              </a:ext>
            </a:extLst>
          </p:cNvPr>
          <p:cNvPicPr>
            <a:picLocks noChangeAspect="1"/>
          </p:cNvPicPr>
          <p:nvPr/>
        </p:nvPicPr>
        <p:blipFill>
          <a:blip r:embed="rId4"/>
          <a:stretch>
            <a:fillRect/>
          </a:stretch>
        </p:blipFill>
        <p:spPr>
          <a:xfrm>
            <a:off x="110841" y="1270000"/>
            <a:ext cx="2667000" cy="4120999"/>
          </a:xfrm>
          <a:prstGeom prst="rect">
            <a:avLst/>
          </a:prstGeom>
        </p:spPr>
      </p:pic>
    </p:spTree>
    <p:extLst>
      <p:ext uri="{BB962C8B-B14F-4D97-AF65-F5344CB8AC3E}">
        <p14:creationId xmlns:p14="http://schemas.microsoft.com/office/powerpoint/2010/main" val="1695681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Title Slide_Image">
    <p:bg>
      <p:bgPr>
        <a:solidFill>
          <a:schemeClr val="bg1"/>
        </a:solidFill>
        <a:effectLst/>
      </p:bgPr>
    </p:bg>
    <p:spTree>
      <p:nvGrpSpPr>
        <p:cNvPr id="1" name=""/>
        <p:cNvGrpSpPr/>
        <p:nvPr/>
      </p:nvGrpSpPr>
      <p:grpSpPr>
        <a:xfrm>
          <a:off x="0" y="0"/>
          <a:ext cx="0" cy="0"/>
          <a:chOff x="0" y="0"/>
          <a:chExt cx="0" cy="0"/>
        </a:xfrm>
      </p:grpSpPr>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3159760" y="1274763"/>
            <a:ext cx="8361680" cy="2387600"/>
          </a:xfrm>
          <a:prstGeom prst="rect">
            <a:avLst/>
          </a:prstGeom>
        </p:spPr>
        <p:txBody>
          <a:bodyPr anchor="b"/>
          <a:lstStyle>
            <a:lvl1pPr algn="l">
              <a:lnSpc>
                <a:spcPts val="5400"/>
              </a:lnSpc>
              <a:defRPr sz="6000" baseline="0">
                <a:solidFill>
                  <a:schemeClr val="accent3">
                    <a:lumMod val="75000"/>
                  </a:schemeClr>
                </a:solidFill>
              </a:defRPr>
            </a:lvl1pPr>
          </a:lstStyle>
          <a:p>
            <a:r>
              <a:rPr lang="en-GB" dirty="0"/>
              <a:t>Insert headline here. </a:t>
            </a:r>
            <a:br>
              <a:rPr lang="en-GB" dirty="0"/>
            </a:br>
            <a:r>
              <a:rPr lang="en-GB" dirty="0"/>
              <a:t>Should be between </a:t>
            </a:r>
            <a:br>
              <a:rPr lang="en-GB" dirty="0"/>
            </a:br>
            <a:r>
              <a:rPr lang="en-GB" dirty="0"/>
              <a:t>1-3 lines max. </a:t>
            </a:r>
            <a:endParaRPr lang="en-US" dirty="0"/>
          </a:p>
        </p:txBody>
      </p:sp>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3159758" y="3707702"/>
            <a:ext cx="8361681"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pic>
        <p:nvPicPr>
          <p:cNvPr id="5" name="Picture 4" descr="A black background with a black square&#10;&#10;Description automatically generated with medium confidence">
            <a:extLst>
              <a:ext uri="{FF2B5EF4-FFF2-40B4-BE49-F238E27FC236}">
                <a16:creationId xmlns:a16="http://schemas.microsoft.com/office/drawing/2014/main" id="{A004D5CD-1028-023E-1A5D-3C1E0FD4DE27}"/>
              </a:ext>
            </a:extLst>
          </p:cNvPr>
          <p:cNvPicPr>
            <a:picLocks noChangeAspect="1"/>
          </p:cNvPicPr>
          <p:nvPr/>
        </p:nvPicPr>
        <p:blipFill>
          <a:blip r:embed="rId2"/>
          <a:stretch>
            <a:fillRect/>
          </a:stretch>
        </p:blipFill>
        <p:spPr>
          <a:xfrm>
            <a:off x="406400" y="6075022"/>
            <a:ext cx="2635601" cy="479287"/>
          </a:xfrm>
          <a:prstGeom prst="rect">
            <a:avLst/>
          </a:prstGeom>
        </p:spPr>
      </p:pic>
      <p:pic>
        <p:nvPicPr>
          <p:cNvPr id="9" name="Picture 8">
            <a:extLst>
              <a:ext uri="{FF2B5EF4-FFF2-40B4-BE49-F238E27FC236}">
                <a16:creationId xmlns:a16="http://schemas.microsoft.com/office/drawing/2014/main" id="{3C9E5D75-EA66-17C6-8119-0F3593CC53BD}"/>
              </a:ext>
            </a:extLst>
          </p:cNvPr>
          <p:cNvPicPr>
            <a:picLocks noChangeAspect="1"/>
          </p:cNvPicPr>
          <p:nvPr/>
        </p:nvPicPr>
        <p:blipFill>
          <a:blip r:embed="rId3"/>
          <a:stretch>
            <a:fillRect/>
          </a:stretch>
        </p:blipFill>
        <p:spPr>
          <a:xfrm>
            <a:off x="5862320" y="5448555"/>
            <a:ext cx="6224270" cy="1344358"/>
          </a:xfrm>
          <a:prstGeom prst="rect">
            <a:avLst/>
          </a:prstGeom>
        </p:spPr>
      </p:pic>
      <p:pic>
        <p:nvPicPr>
          <p:cNvPr id="27" name="Picture 26" descr="A computer screen with code and cloud&#10;&#10;AI-generated content may be incorrect.">
            <a:extLst>
              <a:ext uri="{FF2B5EF4-FFF2-40B4-BE49-F238E27FC236}">
                <a16:creationId xmlns:a16="http://schemas.microsoft.com/office/drawing/2014/main" id="{74AD1BCB-FF0C-133F-7A37-56116C0DB0DF}"/>
              </a:ext>
            </a:extLst>
          </p:cNvPr>
          <p:cNvPicPr>
            <a:picLocks noChangeAspect="1"/>
          </p:cNvPicPr>
          <p:nvPr/>
        </p:nvPicPr>
        <p:blipFill>
          <a:blip r:embed="rId4"/>
          <a:stretch>
            <a:fillRect/>
          </a:stretch>
        </p:blipFill>
        <p:spPr>
          <a:xfrm>
            <a:off x="261653" y="1274763"/>
            <a:ext cx="2780348" cy="1853565"/>
          </a:xfrm>
          <a:prstGeom prst="rect">
            <a:avLst/>
          </a:prstGeom>
          <a:effectLst>
            <a:reflection stA="41000" endPos="65000" dist="114300" dir="5400000" sy="-100000" algn="bl" rotWithShape="0"/>
          </a:effectLst>
        </p:spPr>
      </p:pic>
    </p:spTree>
    <p:extLst>
      <p:ext uri="{BB962C8B-B14F-4D97-AF65-F5344CB8AC3E}">
        <p14:creationId xmlns:p14="http://schemas.microsoft.com/office/powerpoint/2010/main" val="1313401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8F8F8"/>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6D2C9649-E817-6113-49C1-5EBD81E09935}"/>
              </a:ext>
            </a:extLst>
          </p:cNvPr>
          <p:cNvSpPr>
            <a:spLocks noGrp="1"/>
          </p:cNvSpPr>
          <p:nvPr>
            <p:ph type="title" hasCustomPrompt="1"/>
          </p:nvPr>
        </p:nvSpPr>
        <p:spPr>
          <a:xfrm>
            <a:off x="762000" y="437430"/>
            <a:ext cx="10861040" cy="577340"/>
          </a:xfrm>
          <a:prstGeom prst="rect">
            <a:avLst/>
          </a:prstGeom>
        </p:spPr>
        <p:txBody>
          <a:bodyPr vert="horz" lIns="91440" tIns="45720" rIns="91440" bIns="45720" rtlCol="0" anchor="ctr">
            <a:noAutofit/>
          </a:bodyPr>
          <a:lstStyle>
            <a:lvl1pPr>
              <a:defRPr>
                <a:solidFill>
                  <a:schemeClr val="accent3">
                    <a:lumMod val="75000"/>
                  </a:schemeClr>
                </a:solidFill>
              </a:defRPr>
            </a:lvl1pPr>
          </a:lstStyle>
          <a:p>
            <a:r>
              <a:rPr lang="en-GB" dirty="0"/>
              <a:t>Insert headline here.</a:t>
            </a:r>
            <a:endParaRPr lang="en-US" dirty="0"/>
          </a:p>
        </p:txBody>
      </p:sp>
      <p:sp>
        <p:nvSpPr>
          <p:cNvPr id="9" name="3. Content Placeholder">
            <a:extLst>
              <a:ext uri="{FF2B5EF4-FFF2-40B4-BE49-F238E27FC236}">
                <a16:creationId xmlns:a16="http://schemas.microsoft.com/office/drawing/2014/main" id="{B5A082DC-9190-CE12-A89B-DEAF24BD59FB}"/>
              </a:ext>
            </a:extLst>
          </p:cNvPr>
          <p:cNvSpPr>
            <a:spLocks noGrp="1"/>
          </p:cNvSpPr>
          <p:nvPr>
            <p:ph sz="half" idx="1"/>
          </p:nvPr>
        </p:nvSpPr>
        <p:spPr>
          <a:xfrm>
            <a:off x="762000" y="1353695"/>
            <a:ext cx="10861040" cy="448830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3" name="Picture 2" descr="A black background with a black square&#10;&#10;Description automatically generated with medium confidence">
            <a:extLst>
              <a:ext uri="{FF2B5EF4-FFF2-40B4-BE49-F238E27FC236}">
                <a16:creationId xmlns:a16="http://schemas.microsoft.com/office/drawing/2014/main" id="{E831E387-C2E6-8183-4FD6-1B0A812582F4}"/>
              </a:ext>
            </a:extLst>
          </p:cNvPr>
          <p:cNvPicPr>
            <a:picLocks noChangeAspect="1"/>
          </p:cNvPicPr>
          <p:nvPr/>
        </p:nvPicPr>
        <p:blipFill>
          <a:blip r:embed="rId2"/>
          <a:stretch>
            <a:fillRect/>
          </a:stretch>
        </p:blipFill>
        <p:spPr>
          <a:xfrm>
            <a:off x="213359" y="6180925"/>
            <a:ext cx="2635601" cy="479287"/>
          </a:xfrm>
          <a:prstGeom prst="rect">
            <a:avLst/>
          </a:prstGeom>
        </p:spPr>
      </p:pic>
      <p:pic>
        <p:nvPicPr>
          <p:cNvPr id="6" name="Picture 5">
            <a:extLst>
              <a:ext uri="{FF2B5EF4-FFF2-40B4-BE49-F238E27FC236}">
                <a16:creationId xmlns:a16="http://schemas.microsoft.com/office/drawing/2014/main" id="{DD28549A-B9A2-E0C2-9A0C-BC543965E154}"/>
              </a:ext>
            </a:extLst>
          </p:cNvPr>
          <p:cNvPicPr>
            <a:picLocks noChangeAspect="1"/>
          </p:cNvPicPr>
          <p:nvPr/>
        </p:nvPicPr>
        <p:blipFill>
          <a:blip r:embed="rId3"/>
          <a:stretch>
            <a:fillRect/>
          </a:stretch>
        </p:blipFill>
        <p:spPr>
          <a:xfrm>
            <a:off x="8595677" y="6101715"/>
            <a:ext cx="3514725" cy="695325"/>
          </a:xfrm>
          <a:prstGeom prst="rect">
            <a:avLst/>
          </a:prstGeom>
        </p:spPr>
      </p:pic>
    </p:spTree>
    <p:extLst>
      <p:ext uri="{BB962C8B-B14F-4D97-AF65-F5344CB8AC3E}">
        <p14:creationId xmlns:p14="http://schemas.microsoft.com/office/powerpoint/2010/main" val="5530142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chemeClr val="accent3">
                    <a:lumMod val="75000"/>
                  </a:schemeClr>
                </a:solidFill>
              </a:defRPr>
            </a:lvl1pPr>
          </a:lstStyle>
          <a:p>
            <a:r>
              <a:rPr lang="en-GB" dirty="0"/>
              <a:t>Insert headline here.</a:t>
            </a:r>
            <a:endParaRPr lang="en-US" dirty="0"/>
          </a:p>
        </p:txBody>
      </p:sp>
      <p:sp>
        <p:nvSpPr>
          <p:cNvPr id="17" name="3. Content Placeholder (1)">
            <a:extLst>
              <a:ext uri="{FF2B5EF4-FFF2-40B4-BE49-F238E27FC236}">
                <a16:creationId xmlns:a16="http://schemas.microsoft.com/office/drawing/2014/main" id="{11254375-EF80-738D-E998-C0B2F39CB8FE}"/>
              </a:ext>
            </a:extLst>
          </p:cNvPr>
          <p:cNvSpPr>
            <a:spLocks noGrp="1"/>
          </p:cNvSpPr>
          <p:nvPr>
            <p:ph sz="half" idx="1" hasCustomPrompt="1"/>
          </p:nvPr>
        </p:nvSpPr>
        <p:spPr>
          <a:xfrm>
            <a:off x="502920" y="1310641"/>
            <a:ext cx="5181600" cy="4378959"/>
          </a:xfrm>
          <a:prstGeom prst="rect">
            <a:avLst/>
          </a:prstGeom>
        </p:spPr>
        <p:txBody>
          <a:bodyPr>
            <a:normAutofit/>
          </a:bodyPr>
          <a:lstStyle>
            <a:lvl1pPr>
              <a:defRPr sz="2400">
                <a:solidFill>
                  <a:srgbClr val="1B1B1B"/>
                </a:solidFill>
              </a:defRPr>
            </a:lvl1pPr>
            <a:lvl2pPr>
              <a:defRPr sz="1400"/>
            </a:lvl2pPr>
            <a:lvl3pPr>
              <a:defRPr sz="1200"/>
            </a:lvl3pPr>
            <a:lvl4pPr>
              <a:defRPr sz="1100"/>
            </a:lvl4pPr>
            <a:lvl5pPr>
              <a:defRPr sz="1100"/>
            </a:lvl5pPr>
          </a:lstStyle>
          <a:p>
            <a:pPr lvl="0"/>
            <a:r>
              <a:rPr lang="en-US"/>
              <a:t>Click to add text</a:t>
            </a:r>
          </a:p>
        </p:txBody>
      </p:sp>
      <p:sp>
        <p:nvSpPr>
          <p:cNvPr id="3" name="4. Content Placeholder (2)">
            <a:extLst>
              <a:ext uri="{FF2B5EF4-FFF2-40B4-BE49-F238E27FC236}">
                <a16:creationId xmlns:a16="http://schemas.microsoft.com/office/drawing/2014/main" id="{53C047A4-2E76-022B-2525-898053FDCC63}"/>
              </a:ext>
            </a:extLst>
          </p:cNvPr>
          <p:cNvSpPr>
            <a:spLocks noGrp="1"/>
          </p:cNvSpPr>
          <p:nvPr>
            <p:ph sz="half" idx="11" hasCustomPrompt="1"/>
          </p:nvPr>
        </p:nvSpPr>
        <p:spPr>
          <a:xfrm>
            <a:off x="6103620" y="1310641"/>
            <a:ext cx="5181600" cy="4378959"/>
          </a:xfrm>
          <a:prstGeom prst="rect">
            <a:avLst/>
          </a:prstGeom>
        </p:spPr>
        <p:txBody>
          <a:bodyPr>
            <a:normAutofit/>
          </a:bodyPr>
          <a:lstStyle>
            <a:lvl1pPr>
              <a:defRPr sz="2400">
                <a:solidFill>
                  <a:srgbClr val="1B1B1B"/>
                </a:solidFill>
              </a:defRPr>
            </a:lvl1pPr>
            <a:lvl2pPr>
              <a:defRPr sz="1400"/>
            </a:lvl2pPr>
            <a:lvl3pPr>
              <a:defRPr sz="1200"/>
            </a:lvl3pPr>
            <a:lvl4pPr>
              <a:defRPr sz="1100"/>
            </a:lvl4pPr>
            <a:lvl5pPr>
              <a:defRPr sz="1100"/>
            </a:lvl5pPr>
          </a:lstStyle>
          <a:p>
            <a:pPr lvl="0"/>
            <a:r>
              <a:rPr lang="en-US"/>
              <a:t>Click to add text</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9CECC89-37C6-DD92-BD75-F5B6FD637DE7}"/>
              </a:ext>
            </a:extLst>
          </p:cNvPr>
          <p:cNvPicPr>
            <a:picLocks noChangeAspect="1"/>
          </p:cNvPicPr>
          <p:nvPr/>
        </p:nvPicPr>
        <p:blipFill>
          <a:blip r:embed="rId2"/>
          <a:stretch>
            <a:fillRect/>
          </a:stretch>
        </p:blipFill>
        <p:spPr>
          <a:xfrm>
            <a:off x="203199" y="6180925"/>
            <a:ext cx="2635601" cy="479287"/>
          </a:xfrm>
          <a:prstGeom prst="rect">
            <a:avLst/>
          </a:prstGeom>
        </p:spPr>
      </p:pic>
      <p:pic>
        <p:nvPicPr>
          <p:cNvPr id="2" name="Picture 1">
            <a:extLst>
              <a:ext uri="{FF2B5EF4-FFF2-40B4-BE49-F238E27FC236}">
                <a16:creationId xmlns:a16="http://schemas.microsoft.com/office/drawing/2014/main" id="{0B09038A-B821-C355-53EC-71D38F1B0978}"/>
              </a:ext>
            </a:extLst>
          </p:cNvPr>
          <p:cNvPicPr>
            <a:picLocks noChangeAspect="1"/>
          </p:cNvPicPr>
          <p:nvPr/>
        </p:nvPicPr>
        <p:blipFill>
          <a:blip r:embed="rId3"/>
          <a:stretch>
            <a:fillRect/>
          </a:stretch>
        </p:blipFill>
        <p:spPr>
          <a:xfrm>
            <a:off x="8555037" y="6072907"/>
            <a:ext cx="3514725" cy="695325"/>
          </a:xfrm>
          <a:prstGeom prst="rect">
            <a:avLst/>
          </a:prstGeom>
        </p:spPr>
      </p:pic>
    </p:spTree>
    <p:extLst>
      <p:ext uri="{BB962C8B-B14F-4D97-AF65-F5344CB8AC3E}">
        <p14:creationId xmlns:p14="http://schemas.microsoft.com/office/powerpoint/2010/main" val="26496139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wo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chemeClr val="accent3">
                    <a:lumMod val="75000"/>
                  </a:schemeClr>
                </a:solidFill>
              </a:defRPr>
            </a:lvl1pPr>
          </a:lstStyle>
          <a:p>
            <a:r>
              <a:rPr lang="en-GB" dirty="0"/>
              <a:t>Insert headline here.</a:t>
            </a:r>
            <a:endParaRPr lang="en-US" dirty="0"/>
          </a:p>
        </p:txBody>
      </p:sp>
      <p:sp>
        <p:nvSpPr>
          <p:cNvPr id="3" name="3. Content Placeholder (1)">
            <a:extLst>
              <a:ext uri="{FF2B5EF4-FFF2-40B4-BE49-F238E27FC236}">
                <a16:creationId xmlns:a16="http://schemas.microsoft.com/office/drawing/2014/main" id="{A162B99D-4A4D-B778-5FD2-9F4A22B0B3AA}"/>
              </a:ext>
            </a:extLst>
          </p:cNvPr>
          <p:cNvSpPr>
            <a:spLocks noGrp="1"/>
          </p:cNvSpPr>
          <p:nvPr>
            <p:ph sz="half" idx="14"/>
          </p:nvPr>
        </p:nvSpPr>
        <p:spPr>
          <a:xfrm>
            <a:off x="968019" y="1636464"/>
            <a:ext cx="2520000" cy="2520000"/>
          </a:xfrm>
          <a:prstGeom prst="rect">
            <a:avLst/>
          </a:prstGeom>
        </p:spPr>
        <p:txBody>
          <a:bodyPr>
            <a:normAutofit/>
          </a:bodyPr>
          <a:lstStyle>
            <a:lvl1pPr>
              <a:defRPr sz="1600">
                <a:solidFill>
                  <a:srgbClr val="1B1B1B"/>
                </a:solidFill>
              </a:defRPr>
            </a:lvl1pPr>
          </a:lstStyle>
          <a:p>
            <a:pPr lvl="0"/>
            <a:r>
              <a:rPr lang="en-GB"/>
              <a:t>Click to edit Master text styles</a:t>
            </a:r>
          </a:p>
        </p:txBody>
      </p:sp>
      <p:sp>
        <p:nvSpPr>
          <p:cNvPr id="15" name="4. Text Box Placeholder (1)">
            <a:extLst>
              <a:ext uri="{FF2B5EF4-FFF2-40B4-BE49-F238E27FC236}">
                <a16:creationId xmlns:a16="http://schemas.microsoft.com/office/drawing/2014/main" id="{6D6CB8B4-9C8E-A2FA-558C-30A5D0827004}"/>
              </a:ext>
            </a:extLst>
          </p:cNvPr>
          <p:cNvSpPr>
            <a:spLocks noGrp="1"/>
          </p:cNvSpPr>
          <p:nvPr>
            <p:ph type="body" sz="quarter" idx="20" hasCustomPrompt="1"/>
          </p:nvPr>
        </p:nvSpPr>
        <p:spPr>
          <a:xfrm>
            <a:off x="967069" y="4351119"/>
            <a:ext cx="2520950" cy="1014413"/>
          </a:xfrm>
        </p:spPr>
        <p:txBody>
          <a:bodyPr>
            <a:noAutofit/>
          </a:bodyPr>
          <a:lstStyle>
            <a:lvl1pPr>
              <a:lnSpc>
                <a:spcPct val="100000"/>
              </a:lnSpc>
              <a:defRPr sz="1400">
                <a:solidFill>
                  <a:srgbClr val="1B1B1B"/>
                </a:solidFill>
              </a:defRPr>
            </a:lvl1pPr>
          </a:lstStyle>
          <a:p>
            <a:r>
              <a:rPr lang="en-GB"/>
              <a:t>Insert sub copy here.</a:t>
            </a:r>
          </a:p>
        </p:txBody>
      </p:sp>
      <p:sp>
        <p:nvSpPr>
          <p:cNvPr id="4" name="5. Content Placeholder (2)">
            <a:extLst>
              <a:ext uri="{FF2B5EF4-FFF2-40B4-BE49-F238E27FC236}">
                <a16:creationId xmlns:a16="http://schemas.microsoft.com/office/drawing/2014/main" id="{A2B13861-080E-609A-01A7-5EDC25A0B0FF}"/>
              </a:ext>
            </a:extLst>
          </p:cNvPr>
          <p:cNvSpPr>
            <a:spLocks noGrp="1"/>
          </p:cNvSpPr>
          <p:nvPr>
            <p:ph sz="half" idx="15"/>
          </p:nvPr>
        </p:nvSpPr>
        <p:spPr>
          <a:xfrm>
            <a:off x="4836000" y="1637090"/>
            <a:ext cx="2520000" cy="2520000"/>
          </a:xfrm>
          <a:prstGeom prst="rect">
            <a:avLst/>
          </a:prstGeom>
        </p:spPr>
        <p:txBody>
          <a:bodyPr>
            <a:normAutofit/>
          </a:bodyPr>
          <a:lstStyle>
            <a:lvl1pPr>
              <a:defRPr sz="1600">
                <a:solidFill>
                  <a:srgbClr val="1B1B1B"/>
                </a:solidFill>
              </a:defRPr>
            </a:lvl1pPr>
          </a:lstStyle>
          <a:p>
            <a:pPr lvl="0"/>
            <a:r>
              <a:rPr lang="en-GB"/>
              <a:t>Click to edit Master text styles</a:t>
            </a:r>
          </a:p>
        </p:txBody>
      </p:sp>
      <p:sp>
        <p:nvSpPr>
          <p:cNvPr id="13" name="6. Text Box Placeholder (2)">
            <a:extLst>
              <a:ext uri="{FF2B5EF4-FFF2-40B4-BE49-F238E27FC236}">
                <a16:creationId xmlns:a16="http://schemas.microsoft.com/office/drawing/2014/main" id="{005774E2-5CA0-1157-5F43-7B5C9996EFC0}"/>
              </a:ext>
            </a:extLst>
          </p:cNvPr>
          <p:cNvSpPr>
            <a:spLocks noGrp="1"/>
          </p:cNvSpPr>
          <p:nvPr>
            <p:ph type="body" sz="quarter" idx="19" hasCustomPrompt="1"/>
          </p:nvPr>
        </p:nvSpPr>
        <p:spPr>
          <a:xfrm>
            <a:off x="4835525" y="4351119"/>
            <a:ext cx="2520950" cy="1014413"/>
          </a:xfrm>
        </p:spPr>
        <p:txBody>
          <a:bodyPr>
            <a:noAutofit/>
          </a:bodyPr>
          <a:lstStyle>
            <a:lvl1pPr>
              <a:lnSpc>
                <a:spcPct val="100000"/>
              </a:lnSpc>
              <a:defRPr sz="1400">
                <a:solidFill>
                  <a:srgbClr val="1B1B1B"/>
                </a:solidFill>
              </a:defRPr>
            </a:lvl1pPr>
          </a:lstStyle>
          <a:p>
            <a:r>
              <a:rPr lang="en-GB"/>
              <a:t>Insert sub copy here.</a:t>
            </a:r>
          </a:p>
        </p:txBody>
      </p:sp>
      <p:sp>
        <p:nvSpPr>
          <p:cNvPr id="9" name="7. Content Placeholder (3)">
            <a:extLst>
              <a:ext uri="{FF2B5EF4-FFF2-40B4-BE49-F238E27FC236}">
                <a16:creationId xmlns:a16="http://schemas.microsoft.com/office/drawing/2014/main" id="{5565E762-8883-AB43-D811-12B759024A9D}"/>
              </a:ext>
            </a:extLst>
          </p:cNvPr>
          <p:cNvSpPr>
            <a:spLocks noGrp="1"/>
          </p:cNvSpPr>
          <p:nvPr>
            <p:ph sz="half" idx="16"/>
          </p:nvPr>
        </p:nvSpPr>
        <p:spPr>
          <a:xfrm>
            <a:off x="8714257" y="1637090"/>
            <a:ext cx="2520000" cy="2520000"/>
          </a:xfrm>
          <a:prstGeom prst="rect">
            <a:avLst/>
          </a:prstGeom>
        </p:spPr>
        <p:txBody>
          <a:bodyPr>
            <a:normAutofit/>
          </a:bodyPr>
          <a:lstStyle>
            <a:lvl1pPr>
              <a:defRPr sz="1600">
                <a:solidFill>
                  <a:srgbClr val="1B1B1B"/>
                </a:solidFill>
              </a:defRPr>
            </a:lvl1pPr>
          </a:lstStyle>
          <a:p>
            <a:pPr lvl="0"/>
            <a:r>
              <a:rPr lang="en-GB"/>
              <a:t>Click to edit Master text styles</a:t>
            </a:r>
          </a:p>
        </p:txBody>
      </p:sp>
      <p:sp>
        <p:nvSpPr>
          <p:cNvPr id="16" name="8. Text Box Placeholder (3)">
            <a:extLst>
              <a:ext uri="{FF2B5EF4-FFF2-40B4-BE49-F238E27FC236}">
                <a16:creationId xmlns:a16="http://schemas.microsoft.com/office/drawing/2014/main" id="{D584B818-73B8-22FE-5635-36F576CEABCF}"/>
              </a:ext>
            </a:extLst>
          </p:cNvPr>
          <p:cNvSpPr>
            <a:spLocks noGrp="1"/>
          </p:cNvSpPr>
          <p:nvPr>
            <p:ph type="body" sz="quarter" idx="21" hasCustomPrompt="1"/>
          </p:nvPr>
        </p:nvSpPr>
        <p:spPr>
          <a:xfrm>
            <a:off x="8713782" y="4400389"/>
            <a:ext cx="2520475" cy="981075"/>
          </a:xfrm>
        </p:spPr>
        <p:txBody>
          <a:bodyPr>
            <a:noAutofit/>
          </a:bodyPr>
          <a:lstStyle>
            <a:lvl1pPr marL="0" indent="0">
              <a:lnSpc>
                <a:spcPct val="100000"/>
              </a:lnSpc>
              <a:buNone/>
              <a:defRPr sz="1400">
                <a:solidFill>
                  <a:srgbClr val="1B1B1B"/>
                </a:solidFill>
              </a:defRPr>
            </a:lvl1pPr>
          </a:lstStyle>
          <a:p>
            <a:r>
              <a:rPr lang="en-GB"/>
              <a:t>Insert sub copy here.</a:t>
            </a:r>
          </a:p>
        </p:txBody>
      </p:sp>
      <p:pic>
        <p:nvPicPr>
          <p:cNvPr id="6" name="Picture 5" descr="A black background with a black square&#10;&#10;Description automatically generated with medium confidence">
            <a:extLst>
              <a:ext uri="{FF2B5EF4-FFF2-40B4-BE49-F238E27FC236}">
                <a16:creationId xmlns:a16="http://schemas.microsoft.com/office/drawing/2014/main" id="{6393837B-1B16-F25B-143D-A10BAF58BA82}"/>
              </a:ext>
            </a:extLst>
          </p:cNvPr>
          <p:cNvPicPr>
            <a:picLocks noChangeAspect="1"/>
          </p:cNvPicPr>
          <p:nvPr/>
        </p:nvPicPr>
        <p:blipFill>
          <a:blip r:embed="rId2"/>
          <a:stretch>
            <a:fillRect/>
          </a:stretch>
        </p:blipFill>
        <p:spPr>
          <a:xfrm>
            <a:off x="406399" y="5835379"/>
            <a:ext cx="2635601" cy="479287"/>
          </a:xfrm>
          <a:prstGeom prst="rect">
            <a:avLst/>
          </a:prstGeom>
        </p:spPr>
      </p:pic>
    </p:spTree>
    <p:extLst>
      <p:ext uri="{BB962C8B-B14F-4D97-AF65-F5344CB8AC3E}">
        <p14:creationId xmlns:p14="http://schemas.microsoft.com/office/powerpoint/2010/main" val="37003952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ight Divider Slide - 1">
    <p:bg>
      <p:bgPr>
        <a:solidFill>
          <a:srgbClr val="FAFAFA"/>
        </a:solidFill>
        <a:effectLst/>
      </p:bgPr>
    </p:bg>
    <p:spTree>
      <p:nvGrpSpPr>
        <p:cNvPr id="1" name=""/>
        <p:cNvGrpSpPr/>
        <p:nvPr/>
      </p:nvGrpSpPr>
      <p:grpSpPr>
        <a:xfrm>
          <a:off x="0" y="0"/>
          <a:ext cx="0" cy="0"/>
          <a:chOff x="0" y="0"/>
          <a:chExt cx="0" cy="0"/>
        </a:xfrm>
      </p:grpSpPr>
      <p:sp>
        <p:nvSpPr>
          <p:cNvPr id="2" name="1. Title Placeholder">
            <a:extLst>
              <a:ext uri="{FF2B5EF4-FFF2-40B4-BE49-F238E27FC236}">
                <a16:creationId xmlns:a16="http://schemas.microsoft.com/office/drawing/2014/main" id="{4D8642A1-7E6D-B42F-7749-8DC80C6DEDA2}"/>
              </a:ext>
            </a:extLst>
          </p:cNvPr>
          <p:cNvSpPr>
            <a:spLocks noGrp="1"/>
          </p:cNvSpPr>
          <p:nvPr>
            <p:ph type="ctrTitle" hasCustomPrompt="1"/>
          </p:nvPr>
        </p:nvSpPr>
        <p:spPr>
          <a:xfrm>
            <a:off x="406400" y="754224"/>
            <a:ext cx="6520180" cy="976045"/>
          </a:xfrm>
          <a:prstGeom prst="rect">
            <a:avLst/>
          </a:prstGeom>
        </p:spPr>
        <p:txBody>
          <a:bodyPr anchor="b"/>
          <a:lstStyle>
            <a:lvl1pPr algn="l">
              <a:lnSpc>
                <a:spcPts val="5400"/>
              </a:lnSpc>
              <a:defRPr sz="6000">
                <a:solidFill>
                  <a:srgbClr val="1B1B1B"/>
                </a:solidFill>
              </a:defRPr>
            </a:lvl1pPr>
          </a:lstStyle>
          <a:p>
            <a:r>
              <a:rPr lang="en-GB"/>
              <a:t>Insert headline here.</a:t>
            </a:r>
            <a:endParaRPr lang="en-US"/>
          </a:p>
        </p:txBody>
      </p:sp>
      <p:sp>
        <p:nvSpPr>
          <p:cNvPr id="4" name="2. Subtitle Placeholder">
            <a:extLst>
              <a:ext uri="{FF2B5EF4-FFF2-40B4-BE49-F238E27FC236}">
                <a16:creationId xmlns:a16="http://schemas.microsoft.com/office/drawing/2014/main" id="{798414E1-64D1-96D6-D06F-F94F3202CC59}"/>
              </a:ext>
            </a:extLst>
          </p:cNvPr>
          <p:cNvSpPr>
            <a:spLocks noGrp="1"/>
          </p:cNvSpPr>
          <p:nvPr>
            <p:ph type="subTitle" idx="1" hasCustomPrompt="1"/>
          </p:nvPr>
        </p:nvSpPr>
        <p:spPr>
          <a:xfrm>
            <a:off x="406400" y="2059593"/>
            <a:ext cx="6353996" cy="1369407"/>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3852863"/>
            <a:ext cx="12192000" cy="3005137"/>
          </a:xfrm>
        </p:spPr>
        <p:txBody>
          <a:bodyPr/>
          <a:lstStyle>
            <a:lvl1pPr>
              <a:defRPr>
                <a:solidFill>
                  <a:srgbClr val="1B1B1B"/>
                </a:solidFill>
              </a:defRPr>
            </a:lvl1pPr>
          </a:lstStyle>
          <a:p>
            <a:r>
              <a:rPr lang="en-GB"/>
              <a:t>Click icon to add picture</a:t>
            </a:r>
            <a:endParaRPr lang="en-US"/>
          </a:p>
        </p:txBody>
      </p:sp>
      <p:pic>
        <p:nvPicPr>
          <p:cNvPr id="9" name="Picture 8" descr="A black background with a black square&#10;&#10;Description automatically generated with medium confidence">
            <a:extLst>
              <a:ext uri="{FF2B5EF4-FFF2-40B4-BE49-F238E27FC236}">
                <a16:creationId xmlns:a16="http://schemas.microsoft.com/office/drawing/2014/main" id="{966B7F87-1CCB-931C-DAFC-042D7E687968}"/>
              </a:ext>
            </a:extLst>
          </p:cNvPr>
          <p:cNvPicPr>
            <a:picLocks noChangeAspect="1"/>
          </p:cNvPicPr>
          <p:nvPr/>
        </p:nvPicPr>
        <p:blipFill>
          <a:blip r:embed="rId2"/>
          <a:stretch>
            <a:fillRect/>
          </a:stretch>
        </p:blipFill>
        <p:spPr>
          <a:xfrm>
            <a:off x="9053478" y="622789"/>
            <a:ext cx="2635601" cy="479287"/>
          </a:xfrm>
          <a:prstGeom prst="rect">
            <a:avLst/>
          </a:prstGeom>
        </p:spPr>
      </p:pic>
    </p:spTree>
    <p:extLst>
      <p:ext uri="{BB962C8B-B14F-4D97-AF65-F5344CB8AC3E}">
        <p14:creationId xmlns:p14="http://schemas.microsoft.com/office/powerpoint/2010/main" val="1131649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ight Divider Slide - 2">
    <p:bg>
      <p:bgPr>
        <a:solidFill>
          <a:srgbClr val="FAFAFA"/>
        </a:solidFill>
        <a:effectLst/>
      </p:bgPr>
    </p:bg>
    <p:spTree>
      <p:nvGrpSpPr>
        <p:cNvPr id="1" name=""/>
        <p:cNvGrpSpPr/>
        <p:nvPr/>
      </p:nvGrpSpPr>
      <p:grpSpPr>
        <a:xfrm>
          <a:off x="0" y="0"/>
          <a:ext cx="0" cy="0"/>
          <a:chOff x="0" y="0"/>
          <a:chExt cx="0" cy="0"/>
        </a:xfrm>
      </p:grpSpPr>
      <p:sp>
        <p:nvSpPr>
          <p:cNvPr id="6" name="1. Title Placeholder">
            <a:extLst>
              <a:ext uri="{FF2B5EF4-FFF2-40B4-BE49-F238E27FC236}">
                <a16:creationId xmlns:a16="http://schemas.microsoft.com/office/drawing/2014/main" id="{DC759DBE-3BA0-9E84-5596-2AD69AA128D4}"/>
              </a:ext>
            </a:extLst>
          </p:cNvPr>
          <p:cNvSpPr>
            <a:spLocks noGrp="1"/>
          </p:cNvSpPr>
          <p:nvPr>
            <p:ph type="ctrTitle" hasCustomPrompt="1"/>
          </p:nvPr>
        </p:nvSpPr>
        <p:spPr>
          <a:xfrm>
            <a:off x="406400" y="1603450"/>
            <a:ext cx="5377951" cy="1680537"/>
          </a:xfrm>
          <a:prstGeom prst="rect">
            <a:avLst/>
          </a:prstGeom>
        </p:spPr>
        <p:txBody>
          <a:bodyPr anchor="b"/>
          <a:lstStyle>
            <a:lvl1pPr algn="l">
              <a:lnSpc>
                <a:spcPts val="5400"/>
              </a:lnSpc>
              <a:defRPr sz="6000">
                <a:solidFill>
                  <a:srgbClr val="1B1B1B"/>
                </a:solidFill>
              </a:defRPr>
            </a:lvl1pPr>
          </a:lstStyle>
          <a:p>
            <a:r>
              <a:rPr lang="en-GB"/>
              <a:t>Insert </a:t>
            </a:r>
            <a:br>
              <a:rPr lang="en-GB"/>
            </a:br>
            <a:r>
              <a:rPr lang="en-GB"/>
              <a:t>headline here.</a:t>
            </a:r>
            <a:endParaRPr lang="en-US"/>
          </a:p>
        </p:txBody>
      </p:sp>
      <p:sp>
        <p:nvSpPr>
          <p:cNvPr id="7" name="2. Subtitle Placeholder">
            <a:extLst>
              <a:ext uri="{FF2B5EF4-FFF2-40B4-BE49-F238E27FC236}">
                <a16:creationId xmlns:a16="http://schemas.microsoft.com/office/drawing/2014/main" id="{02A192BC-C9DB-F0AB-B1DE-03D15E5A8739}"/>
              </a:ext>
            </a:extLst>
          </p:cNvPr>
          <p:cNvSpPr>
            <a:spLocks noGrp="1"/>
          </p:cNvSpPr>
          <p:nvPr>
            <p:ph type="subTitle" idx="1" hasCustomPrompt="1"/>
          </p:nvPr>
        </p:nvSpPr>
        <p:spPr>
          <a:xfrm>
            <a:off x="406400" y="3707702"/>
            <a:ext cx="5377951"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6407650" y="1"/>
            <a:ext cx="5784349" cy="6858000"/>
          </a:xfrm>
        </p:spPr>
        <p:txBody>
          <a:bodyPr/>
          <a:lstStyle>
            <a:lvl1pPr>
              <a:defRPr>
                <a:solidFill>
                  <a:srgbClr val="1B1B1B"/>
                </a:solidFill>
              </a:defRPr>
            </a:lvl1pPr>
          </a:lstStyle>
          <a:p>
            <a:r>
              <a:rPr lang="en-GB"/>
              <a:t>Click icon to add picture</a:t>
            </a:r>
            <a:endParaRPr lang="en-US"/>
          </a:p>
        </p:txBody>
      </p:sp>
      <p:pic>
        <p:nvPicPr>
          <p:cNvPr id="2" name="Picture 1" descr="A black background with a black square&#10;&#10;Description automatically generated with medium confidence">
            <a:extLst>
              <a:ext uri="{FF2B5EF4-FFF2-40B4-BE49-F238E27FC236}">
                <a16:creationId xmlns:a16="http://schemas.microsoft.com/office/drawing/2014/main" id="{D26F1A4B-7C20-D3E8-BAAB-933BDC2603C0}"/>
              </a:ext>
            </a:extLst>
          </p:cNvPr>
          <p:cNvPicPr>
            <a:picLocks noChangeAspect="1"/>
          </p:cNvPicPr>
          <p:nvPr/>
        </p:nvPicPr>
        <p:blipFill>
          <a:blip r:embed="rId2"/>
          <a:stretch>
            <a:fillRect/>
          </a:stretch>
        </p:blipFill>
        <p:spPr>
          <a:xfrm>
            <a:off x="406399" y="5835379"/>
            <a:ext cx="2635601" cy="479287"/>
          </a:xfrm>
          <a:prstGeom prst="rect">
            <a:avLst/>
          </a:prstGeom>
        </p:spPr>
      </p:pic>
    </p:spTree>
    <p:extLst>
      <p:ext uri="{BB962C8B-B14F-4D97-AF65-F5344CB8AC3E}">
        <p14:creationId xmlns:p14="http://schemas.microsoft.com/office/powerpoint/2010/main" val="3875677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ight Divider Slide - 3">
    <p:bg>
      <p:bgPr>
        <a:solidFill>
          <a:srgbClr val="FAFAFA"/>
        </a:solidFill>
        <a:effectLst/>
      </p:bgPr>
    </p:bg>
    <p:spTree>
      <p:nvGrpSpPr>
        <p:cNvPr id="1" name=""/>
        <p:cNvGrpSpPr/>
        <p:nvPr/>
      </p:nvGrpSpPr>
      <p:grpSpPr>
        <a:xfrm>
          <a:off x="0" y="0"/>
          <a:ext cx="0" cy="0"/>
          <a:chOff x="0" y="0"/>
          <a:chExt cx="0" cy="0"/>
        </a:xfrm>
      </p:grpSpPr>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6407653" y="1603450"/>
            <a:ext cx="5377951" cy="1680537"/>
          </a:xfrm>
          <a:prstGeom prst="rect">
            <a:avLst/>
          </a:prstGeom>
        </p:spPr>
        <p:txBody>
          <a:bodyPr anchor="b"/>
          <a:lstStyle>
            <a:lvl1pPr algn="l">
              <a:lnSpc>
                <a:spcPts val="5400"/>
              </a:lnSpc>
              <a:defRPr sz="6000">
                <a:solidFill>
                  <a:srgbClr val="1B1B1B"/>
                </a:solidFill>
              </a:defRPr>
            </a:lvl1pPr>
          </a:lstStyle>
          <a:p>
            <a:r>
              <a:rPr lang="en-GB"/>
              <a:t>Insert </a:t>
            </a:r>
            <a:br>
              <a:rPr lang="en-GB"/>
            </a:br>
            <a:r>
              <a:rPr lang="en-GB"/>
              <a:t>title here.</a:t>
            </a:r>
            <a:endParaRPr lang="en-US"/>
          </a:p>
        </p:txBody>
      </p:sp>
      <p:sp>
        <p:nvSpPr>
          <p:cNvPr id="8" name="2. Subtitle Placeholder">
            <a:extLst>
              <a:ext uri="{FF2B5EF4-FFF2-40B4-BE49-F238E27FC236}">
                <a16:creationId xmlns:a16="http://schemas.microsoft.com/office/drawing/2014/main" id="{F1BF5AB1-F146-83EF-D63E-DD9EA52569A8}"/>
              </a:ext>
            </a:extLst>
          </p:cNvPr>
          <p:cNvSpPr>
            <a:spLocks noGrp="1"/>
          </p:cNvSpPr>
          <p:nvPr>
            <p:ph type="subTitle" idx="1" hasCustomPrompt="1"/>
          </p:nvPr>
        </p:nvSpPr>
        <p:spPr>
          <a:xfrm>
            <a:off x="6407653" y="3707702"/>
            <a:ext cx="5377951"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1"/>
            <a:ext cx="5784349" cy="6858000"/>
          </a:xfrm>
        </p:spPr>
        <p:txBody>
          <a:bodyPr/>
          <a:lstStyle>
            <a:lvl1pPr>
              <a:defRPr>
                <a:solidFill>
                  <a:srgbClr val="1B1B1B"/>
                </a:solidFill>
              </a:defRPr>
            </a:lvl1pPr>
          </a:lstStyle>
          <a:p>
            <a:r>
              <a:rPr lang="en-GB"/>
              <a:t>Click icon to add picture</a:t>
            </a:r>
            <a:endParaRPr lang="en-US"/>
          </a:p>
        </p:txBody>
      </p:sp>
      <p:pic>
        <p:nvPicPr>
          <p:cNvPr id="6" name="Picture 5" descr="A black background with a black square&#10;&#10;Description automatically generated with medium confidence">
            <a:extLst>
              <a:ext uri="{FF2B5EF4-FFF2-40B4-BE49-F238E27FC236}">
                <a16:creationId xmlns:a16="http://schemas.microsoft.com/office/drawing/2014/main" id="{8BF526FB-1163-BD4A-7E80-3940E63F4098}"/>
              </a:ext>
            </a:extLst>
          </p:cNvPr>
          <p:cNvPicPr>
            <a:picLocks noChangeAspect="1"/>
          </p:cNvPicPr>
          <p:nvPr/>
        </p:nvPicPr>
        <p:blipFill>
          <a:blip r:embed="rId2"/>
          <a:stretch>
            <a:fillRect/>
          </a:stretch>
        </p:blipFill>
        <p:spPr>
          <a:xfrm>
            <a:off x="6407653" y="5835379"/>
            <a:ext cx="2635601" cy="479287"/>
          </a:xfrm>
          <a:prstGeom prst="rect">
            <a:avLst/>
          </a:prstGeom>
        </p:spPr>
      </p:pic>
    </p:spTree>
    <p:extLst>
      <p:ext uri="{BB962C8B-B14F-4D97-AF65-F5344CB8AC3E}">
        <p14:creationId xmlns:p14="http://schemas.microsoft.com/office/powerpoint/2010/main" val="3328555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C91B-EA6B-4FF5-8FD4-DC48113BE0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83A7720-8308-3E9D-D005-2A34602E6E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22F2EBA-AFF9-F6A6-98D2-BE7C444A3F0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8FBFC3A-16A5-FC35-3A93-BF7CACC10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0EFD0-C6F2-8764-B824-F5303F88ED78}"/>
              </a:ext>
            </a:extLst>
          </p:cNvPr>
          <p:cNvSpPr>
            <a:spLocks noGrp="1"/>
          </p:cNvSpPr>
          <p:nvPr>
            <p:ph type="sldNum" sz="quarter" idx="12"/>
          </p:nvPr>
        </p:nvSpPr>
        <p:spPr/>
        <p:txBody>
          <a:bodyPr/>
          <a:lstStyle/>
          <a:p>
            <a:fld id="{A147E1C1-71D4-4A45-AA15-7F84C65D8045}" type="slidenum">
              <a:rPr lang="en-US" smtClean="0"/>
              <a:t>‹#›</a:t>
            </a:fld>
            <a:endParaRPr lang="en-US"/>
          </a:p>
        </p:txBody>
      </p:sp>
    </p:spTree>
    <p:extLst>
      <p:ext uri="{BB962C8B-B14F-4D97-AF65-F5344CB8AC3E}">
        <p14:creationId xmlns:p14="http://schemas.microsoft.com/office/powerpoint/2010/main" val="603185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A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4C08AA-2148-527A-BB20-1D271A404421}"/>
              </a:ext>
            </a:extLst>
          </p:cNvPr>
          <p:cNvSpPr>
            <a:spLocks noGrp="1"/>
          </p:cNvSpPr>
          <p:nvPr>
            <p:ph type="title"/>
          </p:nvPr>
        </p:nvSpPr>
        <p:spPr>
          <a:xfrm>
            <a:off x="502920" y="437430"/>
            <a:ext cx="10515600" cy="47815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9797B6-4643-3710-FBDF-B4E98217FBDB}"/>
              </a:ext>
            </a:extLst>
          </p:cNvPr>
          <p:cNvSpPr>
            <a:spLocks noGrp="1"/>
          </p:cNvSpPr>
          <p:nvPr>
            <p:ph type="body" idx="1"/>
          </p:nvPr>
        </p:nvSpPr>
        <p:spPr>
          <a:xfrm>
            <a:off x="502920" y="1347469"/>
            <a:ext cx="10515600" cy="48294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040239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000" kern="1200">
          <a:solidFill>
            <a:srgbClr val="1B1B1B"/>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B1B1B"/>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rgbClr val="1B1B1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rgbClr val="1B1B1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rgbClr val="1B1B1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rgbClr val="1B1B1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hackr.io/blog/dbms-normalization" TargetMode="External"/><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hackr.io/blog/dbms-normalization" TargetMode="External"/><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hackr.io/blog/dbms-normalization" TargetMode="External"/><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sv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www.google.com/url?sa=t&amp;source=web&amp;rct=j&amp;opi=89978449&amp;url=https://www.se.rit.edu/~swen-344/slides/DB/rabb/03.1%2520Normalization.pptx&amp;ved=2ahUKEwj3paTfq5aOAxWiQUEAHYpuOboQFnoECB0QAQ&amp;usg=AOvVaw0SWaerAxIib9NHFQ0wYVxj" TargetMode="External"/><Relationship Id="rId2" Type="http://schemas.openxmlformats.org/officeDocument/2006/relationships/hyperlink" Target="https://www.google.com/url?sa=t&amp;source=web&amp;rct=j&amp;opi=89978449&amp;url=https://www.cl.cam.ac.uk/teaching/0708/Databases/lec07.ppt&amp;ved=2ahUKEwj3paTfq5aOAxWiQUEAHYpuOboQFnoECBYQAQ&amp;usg=AOvVaw1o7rPd5A1YL52fUzkpKZy_"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F96DB-11E7-AD8B-E31E-ADC8DF91AD20}"/>
              </a:ext>
            </a:extLst>
          </p:cNvPr>
          <p:cNvSpPr>
            <a:spLocks noGrp="1"/>
          </p:cNvSpPr>
          <p:nvPr>
            <p:ph type="ctrTitle"/>
          </p:nvPr>
        </p:nvSpPr>
        <p:spPr>
          <a:xfrm>
            <a:off x="1524000" y="1483042"/>
            <a:ext cx="9144000" cy="2387600"/>
          </a:xfrm>
        </p:spPr>
        <p:txBody>
          <a:bodyPr/>
          <a:lstStyle/>
          <a:p>
            <a:r>
              <a:rPr lang="en-GB" dirty="0"/>
              <a:t>Normalisation</a:t>
            </a:r>
            <a:endParaRPr lang="en-GB" noProof="0" dirty="0"/>
          </a:p>
        </p:txBody>
      </p:sp>
      <p:sp>
        <p:nvSpPr>
          <p:cNvPr id="3" name="Subtitle 2">
            <a:extLst>
              <a:ext uri="{FF2B5EF4-FFF2-40B4-BE49-F238E27FC236}">
                <a16:creationId xmlns:a16="http://schemas.microsoft.com/office/drawing/2014/main" id="{D6BE3333-A86D-902B-77E2-6079401DA62D}"/>
              </a:ext>
            </a:extLst>
          </p:cNvPr>
          <p:cNvSpPr>
            <a:spLocks noGrp="1"/>
          </p:cNvSpPr>
          <p:nvPr>
            <p:ph type="subTitle" idx="1"/>
          </p:nvPr>
        </p:nvSpPr>
        <p:spPr>
          <a:xfrm>
            <a:off x="1524000" y="4181158"/>
            <a:ext cx="9144000" cy="1655762"/>
          </a:xfrm>
        </p:spPr>
        <p:txBody>
          <a:bodyPr/>
          <a:lstStyle/>
          <a:p>
            <a:r>
              <a:rPr lang="en-GB" noProof="0" dirty="0"/>
              <a:t>Week 2 – Part 2</a:t>
            </a:r>
          </a:p>
        </p:txBody>
      </p:sp>
    </p:spTree>
    <p:extLst>
      <p:ext uri="{BB962C8B-B14F-4D97-AF65-F5344CB8AC3E}">
        <p14:creationId xmlns:p14="http://schemas.microsoft.com/office/powerpoint/2010/main" val="3279507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70414-BF39-61BF-7136-7D20443EF5C3}"/>
              </a:ext>
            </a:extLst>
          </p:cNvPr>
          <p:cNvSpPr>
            <a:spLocks noGrp="1"/>
          </p:cNvSpPr>
          <p:nvPr>
            <p:ph type="title"/>
          </p:nvPr>
        </p:nvSpPr>
        <p:spPr/>
        <p:txBody>
          <a:bodyPr/>
          <a:lstStyle/>
          <a:p>
            <a:r>
              <a:rPr lang="en-GB" noProof="0" dirty="0"/>
              <a:t>Learning objectives</a:t>
            </a:r>
          </a:p>
        </p:txBody>
      </p:sp>
      <p:sp>
        <p:nvSpPr>
          <p:cNvPr id="3" name="Content Placeholder 2">
            <a:extLst>
              <a:ext uri="{FF2B5EF4-FFF2-40B4-BE49-F238E27FC236}">
                <a16:creationId xmlns:a16="http://schemas.microsoft.com/office/drawing/2014/main" id="{A4042E64-1E57-14D4-C897-A5F655BA8B06}"/>
              </a:ext>
            </a:extLst>
          </p:cNvPr>
          <p:cNvSpPr>
            <a:spLocks noGrp="1"/>
          </p:cNvSpPr>
          <p:nvPr>
            <p:ph sz="half" idx="1"/>
          </p:nvPr>
        </p:nvSpPr>
        <p:spPr/>
        <p:txBody>
          <a:bodyPr/>
          <a:lstStyle/>
          <a:p>
            <a:pPr marL="342900" indent="-342900">
              <a:buFont typeface="Arial" panose="020B0604020202020204" pitchFamily="34" charset="0"/>
              <a:buChar char="•"/>
            </a:pPr>
            <a:r>
              <a:rPr lang="en-GB" noProof="0" dirty="0"/>
              <a:t>What is normalisation?</a:t>
            </a:r>
          </a:p>
          <a:p>
            <a:pPr marL="342900" indent="-342900">
              <a:buFont typeface="Arial" panose="020B0604020202020204" pitchFamily="34" charset="0"/>
              <a:buChar char="•"/>
            </a:pPr>
            <a:r>
              <a:rPr lang="en-GB" noProof="0" dirty="0"/>
              <a:t>Why do we need normalisation?</a:t>
            </a:r>
          </a:p>
          <a:p>
            <a:pPr marL="342900" indent="-342900">
              <a:buFont typeface="Arial" panose="020B0604020202020204" pitchFamily="34" charset="0"/>
              <a:buChar char="•"/>
            </a:pPr>
            <a:r>
              <a:rPr lang="en-US" dirty="0"/>
              <a:t>Types of dependencies – functional and transitive</a:t>
            </a:r>
            <a:endParaRPr lang="en-GB" noProof="0" dirty="0"/>
          </a:p>
          <a:p>
            <a:pPr marL="342900" indent="-342900">
              <a:buFont typeface="Arial" panose="020B0604020202020204" pitchFamily="34" charset="0"/>
              <a:buChar char="•"/>
            </a:pPr>
            <a:r>
              <a:rPr lang="en-US" noProof="0" dirty="0"/>
              <a:t>Various </a:t>
            </a:r>
            <a:r>
              <a:rPr lang="en-US" dirty="0"/>
              <a:t>levels of normalization and examples</a:t>
            </a:r>
          </a:p>
          <a:p>
            <a:pPr marL="342900" indent="-342900">
              <a:buFont typeface="Arial" panose="020B0604020202020204" pitchFamily="34" charset="0"/>
              <a:buChar char="•"/>
            </a:pPr>
            <a:endParaRPr lang="en-GB" noProof="0" dirty="0"/>
          </a:p>
        </p:txBody>
      </p:sp>
    </p:spTree>
    <p:extLst>
      <p:ext uri="{BB962C8B-B14F-4D97-AF65-F5344CB8AC3E}">
        <p14:creationId xmlns:p14="http://schemas.microsoft.com/office/powerpoint/2010/main" val="3582622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DEE8B-1712-B6B0-6D7B-5961EE0A1677}"/>
              </a:ext>
            </a:extLst>
          </p:cNvPr>
          <p:cNvSpPr>
            <a:spLocks noGrp="1"/>
          </p:cNvSpPr>
          <p:nvPr>
            <p:ph type="title"/>
          </p:nvPr>
        </p:nvSpPr>
        <p:spPr>
          <a:xfrm>
            <a:off x="838200" y="351678"/>
            <a:ext cx="10515600" cy="1325563"/>
          </a:xfrm>
        </p:spPr>
        <p:txBody>
          <a:bodyPr/>
          <a:lstStyle/>
          <a:p>
            <a:r>
              <a:rPr lang="en-GB" noProof="0"/>
              <a:t>What is normalisation?</a:t>
            </a:r>
          </a:p>
        </p:txBody>
      </p:sp>
      <p:sp>
        <p:nvSpPr>
          <p:cNvPr id="3" name="Content Placeholder 2">
            <a:extLst>
              <a:ext uri="{FF2B5EF4-FFF2-40B4-BE49-F238E27FC236}">
                <a16:creationId xmlns:a16="http://schemas.microsoft.com/office/drawing/2014/main" id="{58A27690-A2C8-D3B6-8A48-172312B668BB}"/>
              </a:ext>
            </a:extLst>
          </p:cNvPr>
          <p:cNvSpPr>
            <a:spLocks noGrp="1"/>
          </p:cNvSpPr>
          <p:nvPr>
            <p:ph sz="half" idx="1"/>
          </p:nvPr>
        </p:nvSpPr>
        <p:spPr>
          <a:xfrm>
            <a:off x="702527" y="2270965"/>
            <a:ext cx="10651273" cy="2316069"/>
          </a:xfrm>
        </p:spPr>
        <p:txBody>
          <a:bodyPr>
            <a:normAutofit/>
          </a:bodyPr>
          <a:lstStyle/>
          <a:p>
            <a:r>
              <a:rPr lang="en-US" sz="2000" dirty="0">
                <a:solidFill>
                  <a:srgbClr val="212529"/>
                </a:solidFill>
                <a:ea typeface="Times New Roman" panose="02020603050405020304" pitchFamily="18" charset="0"/>
              </a:rPr>
              <a:t>Database normalization, or just normalization is: </a:t>
            </a:r>
          </a:p>
          <a:p>
            <a:pPr marL="403225" indent="-342900">
              <a:buFont typeface="Arial" panose="020B0604020202020204" pitchFamily="34" charset="0"/>
              <a:buChar char="•"/>
            </a:pPr>
            <a:r>
              <a:rPr lang="en-US" sz="2000" dirty="0">
                <a:solidFill>
                  <a:srgbClr val="212529"/>
                </a:solidFill>
                <a:ea typeface="Times New Roman" panose="02020603050405020304" pitchFamily="18" charset="0"/>
              </a:rPr>
              <a:t>A process used for data modelling or database creation, where you organize your data and tables so it can be added and updated efficiently.</a:t>
            </a:r>
          </a:p>
          <a:p>
            <a:pPr marL="403225" indent="-342900">
              <a:buFont typeface="Arial" panose="020B0604020202020204" pitchFamily="34" charset="0"/>
              <a:buChar char="•"/>
            </a:pPr>
            <a:r>
              <a:rPr lang="en-US" sz="2000" dirty="0">
                <a:solidFill>
                  <a:srgbClr val="212529"/>
                </a:solidFill>
                <a:ea typeface="Calibri" panose="020F0502020204030204" pitchFamily="34" charset="0"/>
              </a:rPr>
              <a:t>Done manually at design time (no ‘click a button and do it’!)</a:t>
            </a:r>
            <a:endParaRPr lang="en-US" sz="2000" dirty="0">
              <a:ea typeface="Calibri" panose="020F0502020204030204" pitchFamily="34" charset="0"/>
            </a:endParaRPr>
          </a:p>
          <a:p>
            <a:pPr marL="342900" indent="-342900">
              <a:buFont typeface="Arial" panose="020B0604020202020204" pitchFamily="34" charset="0"/>
              <a:buChar char="•"/>
            </a:pPr>
            <a:endParaRPr lang="en-GB" sz="2000" noProof="0" dirty="0"/>
          </a:p>
        </p:txBody>
      </p:sp>
    </p:spTree>
    <p:extLst>
      <p:ext uri="{BB962C8B-B14F-4D97-AF65-F5344CB8AC3E}">
        <p14:creationId xmlns:p14="http://schemas.microsoft.com/office/powerpoint/2010/main" val="2464444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0FB0-68A1-7C49-9F54-13511148A386}"/>
              </a:ext>
            </a:extLst>
          </p:cNvPr>
          <p:cNvSpPr>
            <a:spLocks noGrp="1"/>
          </p:cNvSpPr>
          <p:nvPr>
            <p:ph type="title"/>
          </p:nvPr>
        </p:nvSpPr>
        <p:spPr/>
        <p:txBody>
          <a:bodyPr/>
          <a:lstStyle/>
          <a:p>
            <a:r>
              <a:rPr lang="en-GB" noProof="0"/>
              <a:t>What is normalisation?</a:t>
            </a:r>
            <a:endParaRPr lang="en-US"/>
          </a:p>
        </p:txBody>
      </p:sp>
      <p:sp>
        <p:nvSpPr>
          <p:cNvPr id="4" name="Content Placeholder 2">
            <a:extLst>
              <a:ext uri="{FF2B5EF4-FFF2-40B4-BE49-F238E27FC236}">
                <a16:creationId xmlns:a16="http://schemas.microsoft.com/office/drawing/2014/main" id="{C95214C7-0AC3-E9F8-A8C0-5DB33573ADEA}"/>
              </a:ext>
            </a:extLst>
          </p:cNvPr>
          <p:cNvSpPr>
            <a:spLocks noGrp="1"/>
          </p:cNvSpPr>
          <p:nvPr>
            <p:ph sz="half" idx="1"/>
          </p:nvPr>
        </p:nvSpPr>
        <p:spPr/>
        <p:txBody>
          <a:bodyPr>
            <a:normAutofit/>
          </a:bodyPr>
          <a:lstStyle/>
          <a:p>
            <a:pPr marL="457200" lvl="0" indent="-342900">
              <a:spcBef>
                <a:spcPts val="0"/>
              </a:spcBef>
              <a:spcAft>
                <a:spcPts val="0"/>
              </a:spcAft>
              <a:buSzPts val="1800"/>
              <a:buChar char="●"/>
            </a:pPr>
            <a:r>
              <a:rPr lang="en-US" sz="2200" dirty="0"/>
              <a:t>Introduced alongside the relational model in the early 70’s by Codd, et al.</a:t>
            </a:r>
          </a:p>
          <a:p>
            <a:pPr marL="457200" indent="-342900">
              <a:spcBef>
                <a:spcPts val="0"/>
              </a:spcBef>
              <a:buSzPts val="1800"/>
              <a:buChar char="●"/>
            </a:pPr>
            <a:r>
              <a:rPr lang="en-US" sz="2200" dirty="0"/>
              <a:t>Many different normal forms: UNF, </a:t>
            </a:r>
            <a:r>
              <a:rPr lang="en-US" sz="2200" b="1" u="sng" dirty="0"/>
              <a:t>1NF, 2NF, 3NF</a:t>
            </a:r>
            <a:r>
              <a:rPr lang="en-US" sz="2200" u="sng" dirty="0"/>
              <a:t>, </a:t>
            </a:r>
            <a:r>
              <a:rPr lang="en-GB" sz="2200" dirty="0"/>
              <a:t>BCNF (Boyce-Codd Normal Form) </a:t>
            </a:r>
            <a:r>
              <a:rPr lang="en-US" sz="2200" dirty="0"/>
              <a:t>, 4NF, ETNF, 5NF, DKNF, 6NF. </a:t>
            </a:r>
          </a:p>
          <a:p>
            <a:pPr marL="457200" indent="-342900">
              <a:spcBef>
                <a:spcPts val="0"/>
              </a:spcBef>
              <a:buSzPts val="1800"/>
              <a:buChar char="●"/>
            </a:pPr>
            <a:r>
              <a:rPr lang="en-US" sz="2200" dirty="0"/>
              <a:t>Subtle differences between each.</a:t>
            </a:r>
          </a:p>
          <a:p>
            <a:pPr marL="0" indent="0">
              <a:buNone/>
            </a:pPr>
            <a:endParaRPr lang="en-US" sz="2200" dirty="0"/>
          </a:p>
          <a:p>
            <a:pPr marL="0" indent="0">
              <a:buNone/>
            </a:pPr>
            <a:r>
              <a:rPr lang="en-US" sz="2200" dirty="0"/>
              <a:t>Goals:</a:t>
            </a:r>
          </a:p>
          <a:p>
            <a:pPr marL="1087437" lvl="1" indent="-457200">
              <a:spcBef>
                <a:spcPts val="0"/>
              </a:spcBef>
            </a:pPr>
            <a:r>
              <a:rPr lang="en-US" sz="2200" dirty="0"/>
              <a:t>Independence of data tables</a:t>
            </a:r>
          </a:p>
          <a:p>
            <a:pPr marL="1087437" lvl="1" indent="-457200">
              <a:spcBef>
                <a:spcPts val="0"/>
              </a:spcBef>
            </a:pPr>
            <a:r>
              <a:rPr lang="en-US" sz="2200" dirty="0"/>
              <a:t>Each Normalization Form (1NF, 2NF, 3NF) has increasing levels of independence</a:t>
            </a:r>
          </a:p>
          <a:p>
            <a:pPr marL="630237" lvl="1" indent="0">
              <a:spcBef>
                <a:spcPts val="0"/>
              </a:spcBef>
              <a:buNone/>
            </a:pPr>
            <a:endParaRPr lang="en-US" sz="2200" dirty="0"/>
          </a:p>
          <a:p>
            <a:pPr marL="630237" lvl="1" indent="0">
              <a:spcBef>
                <a:spcPts val="0"/>
              </a:spcBef>
              <a:buNone/>
            </a:pPr>
            <a:r>
              <a:rPr lang="en-US" sz="2200" dirty="0"/>
              <a:t>This module looks at </a:t>
            </a:r>
            <a:r>
              <a:rPr lang="en-US" sz="2200" b="1" u="sng" dirty="0"/>
              <a:t>1NF, 2NF, 3NF</a:t>
            </a:r>
            <a:r>
              <a:rPr lang="en-US" sz="2200" b="1" dirty="0"/>
              <a:t> </a:t>
            </a:r>
            <a:r>
              <a:rPr lang="en-US" sz="2200" dirty="0" err="1"/>
              <a:t>normalisations</a:t>
            </a:r>
            <a:endParaRPr lang="en-US" sz="2200" dirty="0"/>
          </a:p>
        </p:txBody>
      </p:sp>
    </p:spTree>
    <p:extLst>
      <p:ext uri="{BB962C8B-B14F-4D97-AF65-F5344CB8AC3E}">
        <p14:creationId xmlns:p14="http://schemas.microsoft.com/office/powerpoint/2010/main" val="3958623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2C1B-C27E-35A0-8B19-36F4C8A5E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EDEC4-A8FC-1433-9951-E5853B819014}"/>
              </a:ext>
            </a:extLst>
          </p:cNvPr>
          <p:cNvSpPr>
            <a:spLocks noGrp="1"/>
          </p:cNvSpPr>
          <p:nvPr>
            <p:ph type="title"/>
          </p:nvPr>
        </p:nvSpPr>
        <p:spPr/>
        <p:txBody>
          <a:bodyPr/>
          <a:lstStyle/>
          <a:p>
            <a:r>
              <a:rPr lang="en-GB" noProof="0"/>
              <a:t>Why do we need normalisation?</a:t>
            </a:r>
          </a:p>
        </p:txBody>
      </p:sp>
      <p:sp>
        <p:nvSpPr>
          <p:cNvPr id="3" name="Content Placeholder 2">
            <a:extLst>
              <a:ext uri="{FF2B5EF4-FFF2-40B4-BE49-F238E27FC236}">
                <a16:creationId xmlns:a16="http://schemas.microsoft.com/office/drawing/2014/main" id="{FFDDBDD5-4F15-B714-DF04-FCBF9C2A7ABF}"/>
              </a:ext>
            </a:extLst>
          </p:cNvPr>
          <p:cNvSpPr>
            <a:spLocks noGrp="1"/>
          </p:cNvSpPr>
          <p:nvPr>
            <p:ph sz="half" idx="1"/>
          </p:nvPr>
        </p:nvSpPr>
        <p:spPr/>
        <p:txBody>
          <a:bodyPr>
            <a:normAutofit fontScale="92500" lnSpcReduction="20000"/>
          </a:bodyPr>
          <a:lstStyle/>
          <a:p>
            <a:pPr marL="342900" indent="-342900">
              <a:buFont typeface="Arial" panose="020B0604020202020204" pitchFamily="34" charset="0"/>
              <a:buChar char="•"/>
            </a:pPr>
            <a:r>
              <a:rPr lang="en-GB" noProof="0" dirty="0"/>
              <a:t>Make the database more </a:t>
            </a:r>
            <a:r>
              <a:rPr lang="en-GB" b="1" noProof="0" dirty="0"/>
              <a:t>efficient</a:t>
            </a:r>
          </a:p>
          <a:p>
            <a:pPr marL="342900" indent="-342900">
              <a:buFont typeface="Arial" panose="020B0604020202020204" pitchFamily="34" charset="0"/>
              <a:buChar char="•"/>
            </a:pPr>
            <a:r>
              <a:rPr lang="en-GB" noProof="0" dirty="0"/>
              <a:t>Prevent </a:t>
            </a:r>
            <a:r>
              <a:rPr lang="en-GB" b="1" noProof="0" dirty="0"/>
              <a:t>duplicates</a:t>
            </a:r>
            <a:r>
              <a:rPr lang="en-GB" noProof="0" dirty="0"/>
              <a:t> - the same data from being stored in more than one place</a:t>
            </a:r>
          </a:p>
          <a:p>
            <a:pPr marL="342900" indent="-342900">
              <a:buFont typeface="Arial" panose="020B0604020202020204" pitchFamily="34" charset="0"/>
              <a:buChar char="•"/>
            </a:pPr>
            <a:r>
              <a:rPr lang="en-GB" noProof="0" dirty="0"/>
              <a:t>Ensure </a:t>
            </a:r>
            <a:r>
              <a:rPr lang="en-GB" b="1" noProof="0" dirty="0"/>
              <a:t>consistency</a:t>
            </a:r>
            <a:r>
              <a:rPr lang="en-GB" noProof="0" dirty="0"/>
              <a:t> and </a:t>
            </a:r>
            <a:r>
              <a:rPr lang="en-GB" b="1" noProof="0" dirty="0"/>
              <a:t>relevance</a:t>
            </a:r>
            <a:r>
              <a:rPr lang="en-GB" noProof="0" dirty="0"/>
              <a:t> - prevent updates being made to some data but not others</a:t>
            </a:r>
          </a:p>
          <a:p>
            <a:pPr marL="342900" indent="-342900">
              <a:buFont typeface="Arial" panose="020B0604020202020204" pitchFamily="34" charset="0"/>
              <a:buChar char="•"/>
            </a:pPr>
            <a:r>
              <a:rPr lang="en-GB" noProof="0" dirty="0"/>
              <a:t>Prevent data not being deleted when it is supposed to be, or from data being lost when it is not supposed to be </a:t>
            </a:r>
          </a:p>
          <a:p>
            <a:pPr marL="342900" indent="-342900">
              <a:buFont typeface="Arial" panose="020B0604020202020204" pitchFamily="34" charset="0"/>
              <a:buChar char="•"/>
            </a:pPr>
            <a:r>
              <a:rPr lang="en-GB" noProof="0" dirty="0"/>
              <a:t>Ensure data </a:t>
            </a:r>
            <a:r>
              <a:rPr lang="en-GB" b="1" noProof="0" dirty="0"/>
              <a:t>accuracy</a:t>
            </a:r>
          </a:p>
          <a:p>
            <a:pPr marL="342900" indent="-342900">
              <a:buFont typeface="Arial" panose="020B0604020202020204" pitchFamily="34" charset="0"/>
              <a:buChar char="•"/>
            </a:pPr>
            <a:r>
              <a:rPr lang="en-GB" noProof="0" dirty="0"/>
              <a:t>Reduce the </a:t>
            </a:r>
            <a:r>
              <a:rPr lang="en-GB" b="1" noProof="0" dirty="0"/>
              <a:t>storage space </a:t>
            </a:r>
            <a:r>
              <a:rPr lang="en-GB" noProof="0" dirty="0"/>
              <a:t>that a database takes up</a:t>
            </a:r>
          </a:p>
          <a:p>
            <a:pPr marL="342900" indent="-342900">
              <a:buFont typeface="Arial" panose="020B0604020202020204" pitchFamily="34" charset="0"/>
              <a:buChar char="•"/>
            </a:pPr>
            <a:r>
              <a:rPr lang="en-GB" b="1" noProof="0" dirty="0"/>
              <a:t>Optimise</a:t>
            </a:r>
            <a:r>
              <a:rPr lang="en-GB" noProof="0" dirty="0"/>
              <a:t> </a:t>
            </a:r>
            <a:r>
              <a:rPr lang="en-GB" dirty="0"/>
              <a:t>query </a:t>
            </a:r>
            <a:r>
              <a:rPr lang="en-GB" b="1" dirty="0"/>
              <a:t>execution times </a:t>
            </a:r>
            <a:r>
              <a:rPr lang="en-GB" dirty="0"/>
              <a:t>- </a:t>
            </a:r>
            <a:r>
              <a:rPr lang="en-GB" noProof="0" dirty="0"/>
              <a:t>Ensure the queries on a database run as fast as possible</a:t>
            </a:r>
          </a:p>
          <a:p>
            <a:pPr marL="342900" indent="-342900">
              <a:buFont typeface="Arial" panose="020B0604020202020204" pitchFamily="34" charset="0"/>
              <a:buChar char="•"/>
            </a:pPr>
            <a:endParaRPr lang="en-GB" noProof="0" dirty="0"/>
          </a:p>
          <a:p>
            <a:pPr marL="342900" indent="-342900">
              <a:buFont typeface="Arial" panose="020B0604020202020204" pitchFamily="34" charset="0"/>
              <a:buChar char="•"/>
            </a:pPr>
            <a:r>
              <a:rPr lang="en-GB" noProof="0" dirty="0"/>
              <a:t>Without normalization, running the database can be slow and is almost guaranteed to be hard to manage, update and keep accurate </a:t>
            </a:r>
          </a:p>
          <a:p>
            <a:pPr marL="342900" indent="-342900">
              <a:buFont typeface="Arial" panose="020B0604020202020204" pitchFamily="34" charset="0"/>
              <a:buChar char="•"/>
            </a:pPr>
            <a:endParaRPr lang="en-GB" noProof="0" dirty="0"/>
          </a:p>
        </p:txBody>
      </p:sp>
    </p:spTree>
    <p:extLst>
      <p:ext uri="{BB962C8B-B14F-4D97-AF65-F5344CB8AC3E}">
        <p14:creationId xmlns:p14="http://schemas.microsoft.com/office/powerpoint/2010/main" val="4219405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32446-FDC6-8B9C-3D03-06B3C73CD080}"/>
              </a:ext>
            </a:extLst>
          </p:cNvPr>
          <p:cNvSpPr>
            <a:spLocks noGrp="1"/>
          </p:cNvSpPr>
          <p:nvPr>
            <p:ph type="title"/>
          </p:nvPr>
        </p:nvSpPr>
        <p:spPr/>
        <p:txBody>
          <a:bodyPr/>
          <a:lstStyle/>
          <a:p>
            <a:r>
              <a:rPr lang="en-US"/>
              <a:t>Non-</a:t>
            </a:r>
            <a:r>
              <a:rPr lang="en-US" err="1"/>
              <a:t>normalised</a:t>
            </a:r>
            <a:r>
              <a:rPr lang="en-US"/>
              <a:t> Table Example</a:t>
            </a:r>
          </a:p>
        </p:txBody>
      </p:sp>
      <p:graphicFrame>
        <p:nvGraphicFramePr>
          <p:cNvPr id="5" name="Table 4">
            <a:extLst>
              <a:ext uri="{FF2B5EF4-FFF2-40B4-BE49-F238E27FC236}">
                <a16:creationId xmlns:a16="http://schemas.microsoft.com/office/drawing/2014/main" id="{B8E15CDE-3179-5CB4-D678-7B53CA556FD0}"/>
              </a:ext>
            </a:extLst>
          </p:cNvPr>
          <p:cNvGraphicFramePr>
            <a:graphicFrameLocks noGrp="1"/>
          </p:cNvGraphicFramePr>
          <p:nvPr>
            <p:extLst>
              <p:ext uri="{D42A27DB-BD31-4B8C-83A1-F6EECF244321}">
                <p14:modId xmlns:p14="http://schemas.microsoft.com/office/powerpoint/2010/main" val="344295973"/>
              </p:ext>
            </p:extLst>
          </p:nvPr>
        </p:nvGraphicFramePr>
        <p:xfrm>
          <a:off x="694078" y="3678318"/>
          <a:ext cx="10803843" cy="2031323"/>
        </p:xfrm>
        <a:graphic>
          <a:graphicData uri="http://schemas.openxmlformats.org/drawingml/2006/table">
            <a:tbl>
              <a:tblPr firstRow="1" firstCol="1" bandRow="1">
                <a:tableStyleId>{5C22544A-7EE6-4342-B048-85BDC9FD1C3A}</a:tableStyleId>
              </a:tblPr>
              <a:tblGrid>
                <a:gridCol w="886099">
                  <a:extLst>
                    <a:ext uri="{9D8B030D-6E8A-4147-A177-3AD203B41FA5}">
                      <a16:colId xmlns:a16="http://schemas.microsoft.com/office/drawing/2014/main" val="3284696212"/>
                    </a:ext>
                  </a:extLst>
                </a:gridCol>
                <a:gridCol w="1562866">
                  <a:extLst>
                    <a:ext uri="{9D8B030D-6E8A-4147-A177-3AD203B41FA5}">
                      <a16:colId xmlns:a16="http://schemas.microsoft.com/office/drawing/2014/main" val="2893453708"/>
                    </a:ext>
                  </a:extLst>
                </a:gridCol>
                <a:gridCol w="1297609">
                  <a:extLst>
                    <a:ext uri="{9D8B030D-6E8A-4147-A177-3AD203B41FA5}">
                      <a16:colId xmlns:a16="http://schemas.microsoft.com/office/drawing/2014/main" val="2691879750"/>
                    </a:ext>
                  </a:extLst>
                </a:gridCol>
                <a:gridCol w="2427051">
                  <a:extLst>
                    <a:ext uri="{9D8B030D-6E8A-4147-A177-3AD203B41FA5}">
                      <a16:colId xmlns:a16="http://schemas.microsoft.com/office/drawing/2014/main" val="2854855451"/>
                    </a:ext>
                  </a:extLst>
                </a:gridCol>
                <a:gridCol w="1543406">
                  <a:extLst>
                    <a:ext uri="{9D8B030D-6E8A-4147-A177-3AD203B41FA5}">
                      <a16:colId xmlns:a16="http://schemas.microsoft.com/office/drawing/2014/main" val="202677306"/>
                    </a:ext>
                  </a:extLst>
                </a:gridCol>
                <a:gridCol w="1543406">
                  <a:extLst>
                    <a:ext uri="{9D8B030D-6E8A-4147-A177-3AD203B41FA5}">
                      <a16:colId xmlns:a16="http://schemas.microsoft.com/office/drawing/2014/main" val="3220100862"/>
                    </a:ext>
                  </a:extLst>
                </a:gridCol>
                <a:gridCol w="1543406">
                  <a:extLst>
                    <a:ext uri="{9D8B030D-6E8A-4147-A177-3AD203B41FA5}">
                      <a16:colId xmlns:a16="http://schemas.microsoft.com/office/drawing/2014/main" val="3908029904"/>
                    </a:ext>
                  </a:extLst>
                </a:gridCol>
              </a:tblGrid>
              <a:tr h="603199">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Fees Paid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29086813"/>
                  </a:ext>
                </a:extLst>
              </a:tr>
              <a:tr h="35703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John Smith</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dirty="0">
                          <a:effectLst/>
                          <a:latin typeface="Arial" panose="020B0604020202020204" pitchFamily="34" charset="0"/>
                          <a:cs typeface="Arial" panose="020B0604020202020204" pitchFamily="34" charset="0"/>
                        </a:rPr>
                        <a:t>200</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36307149"/>
                  </a:ext>
                </a:extLst>
              </a:tr>
              <a:tr h="35703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Maria Griffin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500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Computer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Business Intro</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Programming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484856787"/>
                  </a:ext>
                </a:extLst>
              </a:tr>
              <a:tr h="35703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Susan Johnson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Medicine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898396646"/>
                  </a:ext>
                </a:extLst>
              </a:tr>
              <a:tr h="35703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Matt Long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850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Dentistry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dirty="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05073605"/>
                  </a:ext>
                </a:extLst>
              </a:tr>
            </a:tbl>
          </a:graphicData>
        </a:graphic>
      </p:graphicFrame>
      <p:sp>
        <p:nvSpPr>
          <p:cNvPr id="6" name="TextBox 5">
            <a:extLst>
              <a:ext uri="{FF2B5EF4-FFF2-40B4-BE49-F238E27FC236}">
                <a16:creationId xmlns:a16="http://schemas.microsoft.com/office/drawing/2014/main" id="{CE49A41C-B6A1-F56D-BE09-85BC9663C54B}"/>
              </a:ext>
            </a:extLst>
          </p:cNvPr>
          <p:cNvSpPr txBox="1"/>
          <p:nvPr/>
        </p:nvSpPr>
        <p:spPr>
          <a:xfrm>
            <a:off x="851438" y="1435256"/>
            <a:ext cx="9968962" cy="2123658"/>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A student database</a:t>
            </a:r>
          </a:p>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You want to keep track of:</a:t>
            </a:r>
          </a:p>
          <a:p>
            <a:pPr marL="742950" lvl="1"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The student name</a:t>
            </a:r>
          </a:p>
          <a:p>
            <a:pPr marL="742950" lvl="1"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Program (Degree) Name</a:t>
            </a:r>
          </a:p>
          <a:p>
            <a:pPr marL="742950" lvl="1"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Classes(s) taken</a:t>
            </a:r>
          </a:p>
          <a:p>
            <a:pPr marL="742950" lvl="1"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Fees paid</a:t>
            </a:r>
          </a:p>
        </p:txBody>
      </p:sp>
    </p:spTree>
    <p:extLst>
      <p:ext uri="{BB962C8B-B14F-4D97-AF65-F5344CB8AC3E}">
        <p14:creationId xmlns:p14="http://schemas.microsoft.com/office/powerpoint/2010/main" val="227144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FF87-6EB5-1AE2-D83A-BFFCBACBCAC3}"/>
              </a:ext>
            </a:extLst>
          </p:cNvPr>
          <p:cNvSpPr>
            <a:spLocks noGrp="1"/>
          </p:cNvSpPr>
          <p:nvPr>
            <p:ph type="title"/>
          </p:nvPr>
        </p:nvSpPr>
        <p:spPr/>
        <p:txBody>
          <a:bodyPr/>
          <a:lstStyle/>
          <a:p>
            <a:r>
              <a:rPr lang="en-US"/>
              <a:t>Non-</a:t>
            </a:r>
            <a:r>
              <a:rPr lang="en-US" err="1"/>
              <a:t>normalised</a:t>
            </a:r>
            <a:r>
              <a:rPr lang="en-US"/>
              <a:t> Table Example (Cont.)</a:t>
            </a:r>
          </a:p>
        </p:txBody>
      </p:sp>
      <p:sp>
        <p:nvSpPr>
          <p:cNvPr id="3" name="Content Placeholder 2">
            <a:extLst>
              <a:ext uri="{FF2B5EF4-FFF2-40B4-BE49-F238E27FC236}">
                <a16:creationId xmlns:a16="http://schemas.microsoft.com/office/drawing/2014/main" id="{9A62AA03-DF0F-B722-0D68-8F20B6A2E42C}"/>
              </a:ext>
            </a:extLst>
          </p:cNvPr>
          <p:cNvSpPr>
            <a:spLocks noGrp="1"/>
          </p:cNvSpPr>
          <p:nvPr>
            <p:ph sz="half" idx="1"/>
          </p:nvPr>
        </p:nvSpPr>
        <p:spPr/>
        <p:txBody>
          <a:bodyPr>
            <a:normAutofit/>
          </a:bodyPr>
          <a:lstStyle/>
          <a:p>
            <a:pPr marL="0" indent="0">
              <a:buNone/>
            </a:pPr>
            <a:r>
              <a:rPr lang="en-US" sz="2200" dirty="0">
                <a:latin typeface="Arial" panose="020B0604020202020204" pitchFamily="34" charset="0"/>
                <a:cs typeface="Arial" panose="020B0604020202020204" pitchFamily="34" charset="0"/>
              </a:rPr>
              <a:t>This creates some immediate problems </a:t>
            </a:r>
            <a:endParaRPr lang="en-US" sz="2200" dirty="0"/>
          </a:p>
          <a:p>
            <a:pPr marL="0" indent="0">
              <a:buNone/>
            </a:pPr>
            <a:endParaRPr lang="en-US" sz="2200" dirty="0"/>
          </a:p>
        </p:txBody>
      </p:sp>
      <p:graphicFrame>
        <p:nvGraphicFramePr>
          <p:cNvPr id="5" name="Table 4">
            <a:extLst>
              <a:ext uri="{FF2B5EF4-FFF2-40B4-BE49-F238E27FC236}">
                <a16:creationId xmlns:a16="http://schemas.microsoft.com/office/drawing/2014/main" id="{72B99C94-4589-688A-E1FB-F0C11D1CE574}"/>
              </a:ext>
            </a:extLst>
          </p:cNvPr>
          <p:cNvGraphicFramePr>
            <a:graphicFrameLocks noGrp="1"/>
          </p:cNvGraphicFramePr>
          <p:nvPr>
            <p:extLst>
              <p:ext uri="{D42A27DB-BD31-4B8C-83A1-F6EECF244321}">
                <p14:modId xmlns:p14="http://schemas.microsoft.com/office/powerpoint/2010/main" val="4066591067"/>
              </p:ext>
            </p:extLst>
          </p:nvPr>
        </p:nvGraphicFramePr>
        <p:xfrm>
          <a:off x="886591" y="2386362"/>
          <a:ext cx="10058398" cy="2468691"/>
        </p:xfrm>
        <a:graphic>
          <a:graphicData uri="http://schemas.openxmlformats.org/drawingml/2006/table">
            <a:tbl>
              <a:tblPr firstRow="1" firstCol="1" bandRow="1">
                <a:tableStyleId>{5C22544A-7EE6-4342-B048-85BDC9FD1C3A}</a:tableStyleId>
              </a:tblPr>
              <a:tblGrid>
                <a:gridCol w="824960">
                  <a:extLst>
                    <a:ext uri="{9D8B030D-6E8A-4147-A177-3AD203B41FA5}">
                      <a16:colId xmlns:a16="http://schemas.microsoft.com/office/drawing/2014/main" val="3284696212"/>
                    </a:ext>
                  </a:extLst>
                </a:gridCol>
                <a:gridCol w="1455031">
                  <a:extLst>
                    <a:ext uri="{9D8B030D-6E8A-4147-A177-3AD203B41FA5}">
                      <a16:colId xmlns:a16="http://schemas.microsoft.com/office/drawing/2014/main" val="2893453708"/>
                    </a:ext>
                  </a:extLst>
                </a:gridCol>
                <a:gridCol w="1208076">
                  <a:extLst>
                    <a:ext uri="{9D8B030D-6E8A-4147-A177-3AD203B41FA5}">
                      <a16:colId xmlns:a16="http://schemas.microsoft.com/office/drawing/2014/main" val="2691879750"/>
                    </a:ext>
                  </a:extLst>
                </a:gridCol>
                <a:gridCol w="2259589">
                  <a:extLst>
                    <a:ext uri="{9D8B030D-6E8A-4147-A177-3AD203B41FA5}">
                      <a16:colId xmlns:a16="http://schemas.microsoft.com/office/drawing/2014/main" val="2854855451"/>
                    </a:ext>
                  </a:extLst>
                </a:gridCol>
                <a:gridCol w="1436914">
                  <a:extLst>
                    <a:ext uri="{9D8B030D-6E8A-4147-A177-3AD203B41FA5}">
                      <a16:colId xmlns:a16="http://schemas.microsoft.com/office/drawing/2014/main" val="202677306"/>
                    </a:ext>
                  </a:extLst>
                </a:gridCol>
                <a:gridCol w="1436914">
                  <a:extLst>
                    <a:ext uri="{9D8B030D-6E8A-4147-A177-3AD203B41FA5}">
                      <a16:colId xmlns:a16="http://schemas.microsoft.com/office/drawing/2014/main" val="3220100862"/>
                    </a:ext>
                  </a:extLst>
                </a:gridCol>
                <a:gridCol w="1436914">
                  <a:extLst>
                    <a:ext uri="{9D8B030D-6E8A-4147-A177-3AD203B41FA5}">
                      <a16:colId xmlns:a16="http://schemas.microsoft.com/office/drawing/2014/main" val="3908029904"/>
                    </a:ext>
                  </a:extLst>
                </a:gridCol>
              </a:tblGrid>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Fees Paid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29086813"/>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John Smith</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36307149"/>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Maria Griffin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500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Computer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Business Intro</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Programming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484856787"/>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Susan Johnson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Medicine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898396646"/>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Matt Long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850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Dentistry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05073605"/>
                  </a:ext>
                </a:extLst>
              </a:tr>
            </a:tbl>
          </a:graphicData>
        </a:graphic>
      </p:graphicFrame>
      <p:sp>
        <p:nvSpPr>
          <p:cNvPr id="10" name="TextBox 9">
            <a:extLst>
              <a:ext uri="{FF2B5EF4-FFF2-40B4-BE49-F238E27FC236}">
                <a16:creationId xmlns:a16="http://schemas.microsoft.com/office/drawing/2014/main" id="{238EB095-94D3-4689-4BA6-EEF1CF0C9F75}"/>
              </a:ext>
            </a:extLst>
          </p:cNvPr>
          <p:cNvSpPr txBox="1"/>
          <p:nvPr/>
        </p:nvSpPr>
        <p:spPr>
          <a:xfrm>
            <a:off x="4320849" y="5288861"/>
            <a:ext cx="2807179" cy="430887"/>
          </a:xfrm>
          <a:prstGeom prst="rect">
            <a:avLst/>
          </a:prstGeom>
          <a:noFill/>
        </p:spPr>
        <p:txBody>
          <a:bodyPr wrap="none" rtlCol="0">
            <a:spAutoFit/>
          </a:bodyPr>
          <a:lstStyle/>
          <a:p>
            <a:r>
              <a:rPr lang="en-US" sz="2200" dirty="0">
                <a:latin typeface="Arial" panose="020B0604020202020204" pitchFamily="34" charset="0"/>
                <a:cs typeface="Arial" panose="020B0604020202020204" pitchFamily="34" charset="0"/>
              </a:rPr>
              <a:t>Can you spot them?</a:t>
            </a:r>
          </a:p>
        </p:txBody>
      </p:sp>
    </p:spTree>
    <p:extLst>
      <p:ext uri="{BB962C8B-B14F-4D97-AF65-F5344CB8AC3E}">
        <p14:creationId xmlns:p14="http://schemas.microsoft.com/office/powerpoint/2010/main" val="3883688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7FF7D-FB9A-EF5F-066E-6FE9FCFD3511}"/>
              </a:ext>
            </a:extLst>
          </p:cNvPr>
          <p:cNvSpPr>
            <a:spLocks noGrp="1"/>
          </p:cNvSpPr>
          <p:nvPr>
            <p:ph type="title"/>
          </p:nvPr>
        </p:nvSpPr>
        <p:spPr/>
        <p:txBody>
          <a:bodyPr/>
          <a:lstStyle/>
          <a:p>
            <a:r>
              <a:rPr lang="en-US"/>
              <a:t>Non-</a:t>
            </a:r>
            <a:r>
              <a:rPr lang="en-US" err="1"/>
              <a:t>normalised</a:t>
            </a:r>
            <a:r>
              <a:rPr lang="en-US"/>
              <a:t> Table Example (Cont.)</a:t>
            </a:r>
          </a:p>
        </p:txBody>
      </p:sp>
      <p:sp>
        <p:nvSpPr>
          <p:cNvPr id="8" name="TextBox 7">
            <a:extLst>
              <a:ext uri="{FF2B5EF4-FFF2-40B4-BE49-F238E27FC236}">
                <a16:creationId xmlns:a16="http://schemas.microsoft.com/office/drawing/2014/main" id="{4339C677-4519-05E6-4EF4-71505868C153}"/>
              </a:ext>
            </a:extLst>
          </p:cNvPr>
          <p:cNvSpPr txBox="1"/>
          <p:nvPr/>
        </p:nvSpPr>
        <p:spPr>
          <a:xfrm>
            <a:off x="748764" y="1570897"/>
            <a:ext cx="9968962" cy="1107996"/>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What happens when you want to add a new student, but their program is not known?</a:t>
            </a:r>
          </a:p>
          <a:p>
            <a:pPr marL="285750" indent="-285750">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0DD02B18-D079-45AD-93CB-0EC4B4982614}"/>
              </a:ext>
            </a:extLst>
          </p:cNvPr>
          <p:cNvGraphicFramePr>
            <a:graphicFrameLocks noGrp="1"/>
          </p:cNvGraphicFramePr>
          <p:nvPr>
            <p:extLst>
              <p:ext uri="{D42A27DB-BD31-4B8C-83A1-F6EECF244321}">
                <p14:modId xmlns:p14="http://schemas.microsoft.com/office/powerpoint/2010/main" val="1138131929"/>
              </p:ext>
            </p:extLst>
          </p:nvPr>
        </p:nvGraphicFramePr>
        <p:xfrm>
          <a:off x="748764" y="2546003"/>
          <a:ext cx="10605037" cy="1325563"/>
        </p:xfrm>
        <a:graphic>
          <a:graphicData uri="http://schemas.openxmlformats.org/drawingml/2006/table">
            <a:tbl>
              <a:tblPr firstRow="1" firstCol="1" bandRow="1">
                <a:tableStyleId>{5C22544A-7EE6-4342-B048-85BDC9FD1C3A}</a:tableStyleId>
              </a:tblPr>
              <a:tblGrid>
                <a:gridCol w="869794">
                  <a:extLst>
                    <a:ext uri="{9D8B030D-6E8A-4147-A177-3AD203B41FA5}">
                      <a16:colId xmlns:a16="http://schemas.microsoft.com/office/drawing/2014/main" val="3284696212"/>
                    </a:ext>
                  </a:extLst>
                </a:gridCol>
                <a:gridCol w="1534107">
                  <a:extLst>
                    <a:ext uri="{9D8B030D-6E8A-4147-A177-3AD203B41FA5}">
                      <a16:colId xmlns:a16="http://schemas.microsoft.com/office/drawing/2014/main" val="2893453708"/>
                    </a:ext>
                  </a:extLst>
                </a:gridCol>
                <a:gridCol w="1273731">
                  <a:extLst>
                    <a:ext uri="{9D8B030D-6E8A-4147-A177-3AD203B41FA5}">
                      <a16:colId xmlns:a16="http://schemas.microsoft.com/office/drawing/2014/main" val="2691879750"/>
                    </a:ext>
                  </a:extLst>
                </a:gridCol>
                <a:gridCol w="2382390">
                  <a:extLst>
                    <a:ext uri="{9D8B030D-6E8A-4147-A177-3AD203B41FA5}">
                      <a16:colId xmlns:a16="http://schemas.microsoft.com/office/drawing/2014/main" val="2854855451"/>
                    </a:ext>
                  </a:extLst>
                </a:gridCol>
                <a:gridCol w="1515005">
                  <a:extLst>
                    <a:ext uri="{9D8B030D-6E8A-4147-A177-3AD203B41FA5}">
                      <a16:colId xmlns:a16="http://schemas.microsoft.com/office/drawing/2014/main" val="202677306"/>
                    </a:ext>
                  </a:extLst>
                </a:gridCol>
                <a:gridCol w="1515005">
                  <a:extLst>
                    <a:ext uri="{9D8B030D-6E8A-4147-A177-3AD203B41FA5}">
                      <a16:colId xmlns:a16="http://schemas.microsoft.com/office/drawing/2014/main" val="3220100862"/>
                    </a:ext>
                  </a:extLst>
                </a:gridCol>
                <a:gridCol w="1515005">
                  <a:extLst>
                    <a:ext uri="{9D8B030D-6E8A-4147-A177-3AD203B41FA5}">
                      <a16:colId xmlns:a16="http://schemas.microsoft.com/office/drawing/2014/main" val="3908029904"/>
                    </a:ext>
                  </a:extLst>
                </a:gridCol>
              </a:tblGrid>
              <a:tr h="623059">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dirty="0">
                          <a:effectLst/>
                          <a:latin typeface="Arial" panose="020B0604020202020204" pitchFamily="34" charset="0"/>
                          <a:cs typeface="Arial" panose="020B0604020202020204" pitchFamily="34" charset="0"/>
                        </a:rPr>
                        <a:t>Student Name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Fees Paid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29086813"/>
                  </a:ext>
                </a:extLst>
              </a:tr>
              <a:tr h="351252">
                <a:tc>
                  <a:txBody>
                    <a:bodyPr/>
                    <a:lstStyle/>
                    <a:p>
                      <a:pPr marL="0" marR="0">
                        <a:lnSpc>
                          <a:spcPct val="107000"/>
                        </a:lnSpc>
                        <a:spcBef>
                          <a:spcPts val="0"/>
                        </a:spcBef>
                        <a:spcAft>
                          <a:spcPts val="1800"/>
                        </a:spcAft>
                      </a:pPr>
                      <a:r>
                        <a:rPr lang="en-US" sz="1600">
                          <a:effectLst/>
                          <a:latin typeface="Arial" panose="020B0604020202020204" pitchFamily="34" charset="0"/>
                          <a:ea typeface="Calibri" panose="020F0502020204030204" pitchFamily="34" charset="0"/>
                          <a:cs typeface="Arial" panose="020B0604020202020204" pitchFamily="34" charset="0"/>
                        </a:rPr>
                        <a:t>….</a:t>
                      </a:r>
                    </a:p>
                  </a:txBody>
                  <a:tcPr marL="47625" marR="47625" marT="47625" marB="47625" anchor="ctr"/>
                </a:tc>
                <a:tc>
                  <a:txBody>
                    <a:bodyPr/>
                    <a:lstStyle/>
                    <a:p>
                      <a:pPr marL="0" marR="0">
                        <a:lnSpc>
                          <a:spcPct val="107000"/>
                        </a:lnSpc>
                        <a:spcBef>
                          <a:spcPts val="0"/>
                        </a:spcBef>
                        <a:spcAft>
                          <a:spcPts val="1800"/>
                        </a:spcAft>
                      </a:pP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36307149"/>
                  </a:ext>
                </a:extLst>
              </a:tr>
              <a:tr h="351252">
                <a:tc>
                  <a:txBody>
                    <a:bodyPr/>
                    <a:lstStyle/>
                    <a:p>
                      <a:pPr marL="0" marR="0">
                        <a:lnSpc>
                          <a:spcPct val="107000"/>
                        </a:lnSpc>
                        <a:spcBef>
                          <a:spcPts val="0"/>
                        </a:spcBef>
                        <a:spcAft>
                          <a:spcPts val="1800"/>
                        </a:spcAft>
                      </a:pPr>
                      <a:r>
                        <a:rPr lang="en-US" sz="1600">
                          <a:effectLst/>
                          <a:latin typeface="Arial" panose="020B0604020202020204" pitchFamily="34" charset="0"/>
                          <a:ea typeface="Calibri" panose="020F0502020204030204" pitchFamily="34" charset="0"/>
                          <a:cs typeface="Arial" panose="020B0604020202020204" pitchFamily="34" charset="0"/>
                        </a:rPr>
                        <a:t>5</a:t>
                      </a: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Jim Kirk</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ea typeface="Calibri" panose="020F0502020204030204" pitchFamily="34" charset="0"/>
                          <a:cs typeface="Arial" panose="020B0604020202020204" pitchFamily="34" charset="0"/>
                        </a:rPr>
                        <a:t>0</a:t>
                      </a: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 </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 </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dirty="0">
                          <a:effectLst/>
                          <a:latin typeface="Arial" panose="020B0604020202020204" pitchFamily="34" charset="0"/>
                          <a:cs typeface="Arial" panose="020B0604020202020204" pitchFamily="34" charset="0"/>
                        </a:rPr>
                        <a:t> </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484856787"/>
                  </a:ext>
                </a:extLst>
              </a:tr>
            </a:tbl>
          </a:graphicData>
        </a:graphic>
      </p:graphicFrame>
      <p:sp>
        <p:nvSpPr>
          <p:cNvPr id="10" name="TextBox 9">
            <a:extLst>
              <a:ext uri="{FF2B5EF4-FFF2-40B4-BE49-F238E27FC236}">
                <a16:creationId xmlns:a16="http://schemas.microsoft.com/office/drawing/2014/main" id="{CBA26797-0C4A-63AE-ED9F-3771BBA164A9}"/>
              </a:ext>
            </a:extLst>
          </p:cNvPr>
          <p:cNvSpPr txBox="1"/>
          <p:nvPr/>
        </p:nvSpPr>
        <p:spPr>
          <a:xfrm>
            <a:off x="627512" y="4210126"/>
            <a:ext cx="10726289" cy="1446550"/>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You are adding incomplete data – which can cause problems when analyzing the data</a:t>
            </a:r>
          </a:p>
          <a:p>
            <a:pPr marL="742950" lvl="1"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This is an </a:t>
            </a:r>
            <a:r>
              <a:rPr lang="en-US" sz="2200" b="1" dirty="0">
                <a:solidFill>
                  <a:schemeClr val="accent1"/>
                </a:solidFill>
                <a:latin typeface="Arial" panose="020B0604020202020204" pitchFamily="34" charset="0"/>
                <a:cs typeface="Arial" panose="020B0604020202020204" pitchFamily="34" charset="0"/>
              </a:rPr>
              <a:t>‘INSERT’ anomaly</a:t>
            </a:r>
            <a:r>
              <a:rPr lang="en-US" sz="22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You can’t add a student without also adding their classes</a:t>
            </a:r>
          </a:p>
        </p:txBody>
      </p:sp>
    </p:spTree>
    <p:extLst>
      <p:ext uri="{BB962C8B-B14F-4D97-AF65-F5344CB8AC3E}">
        <p14:creationId xmlns:p14="http://schemas.microsoft.com/office/powerpoint/2010/main" val="3835174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408F-7D0F-E22D-776D-1E2F1641CD68}"/>
              </a:ext>
            </a:extLst>
          </p:cNvPr>
          <p:cNvSpPr>
            <a:spLocks noGrp="1"/>
          </p:cNvSpPr>
          <p:nvPr>
            <p:ph type="title"/>
          </p:nvPr>
        </p:nvSpPr>
        <p:spPr/>
        <p:txBody>
          <a:bodyPr/>
          <a:lstStyle/>
          <a:p>
            <a:r>
              <a:rPr lang="en-US"/>
              <a:t>Other Anomalies – Modifying Data</a:t>
            </a:r>
          </a:p>
        </p:txBody>
      </p:sp>
      <p:graphicFrame>
        <p:nvGraphicFramePr>
          <p:cNvPr id="5" name="Table 4">
            <a:extLst>
              <a:ext uri="{FF2B5EF4-FFF2-40B4-BE49-F238E27FC236}">
                <a16:creationId xmlns:a16="http://schemas.microsoft.com/office/drawing/2014/main" id="{B9C6E36B-A146-D049-F126-BA84FF5E4510}"/>
              </a:ext>
            </a:extLst>
          </p:cNvPr>
          <p:cNvGraphicFramePr>
            <a:graphicFrameLocks noGrp="1"/>
          </p:cNvGraphicFramePr>
          <p:nvPr>
            <p:extLst>
              <p:ext uri="{D42A27DB-BD31-4B8C-83A1-F6EECF244321}">
                <p14:modId xmlns:p14="http://schemas.microsoft.com/office/powerpoint/2010/main" val="720580071"/>
              </p:ext>
            </p:extLst>
          </p:nvPr>
        </p:nvGraphicFramePr>
        <p:xfrm>
          <a:off x="918880" y="1702631"/>
          <a:ext cx="10811647" cy="2368699"/>
        </p:xfrm>
        <a:graphic>
          <a:graphicData uri="http://schemas.openxmlformats.org/drawingml/2006/table">
            <a:tbl>
              <a:tblPr firstRow="1" firstCol="1" bandRow="1">
                <a:tableStyleId>{5C22544A-7EE6-4342-B048-85BDC9FD1C3A}</a:tableStyleId>
              </a:tblPr>
              <a:tblGrid>
                <a:gridCol w="886739">
                  <a:extLst>
                    <a:ext uri="{9D8B030D-6E8A-4147-A177-3AD203B41FA5}">
                      <a16:colId xmlns:a16="http://schemas.microsoft.com/office/drawing/2014/main" val="3284696212"/>
                    </a:ext>
                  </a:extLst>
                </a:gridCol>
                <a:gridCol w="1563995">
                  <a:extLst>
                    <a:ext uri="{9D8B030D-6E8A-4147-A177-3AD203B41FA5}">
                      <a16:colId xmlns:a16="http://schemas.microsoft.com/office/drawing/2014/main" val="2893453708"/>
                    </a:ext>
                  </a:extLst>
                </a:gridCol>
                <a:gridCol w="1298546">
                  <a:extLst>
                    <a:ext uri="{9D8B030D-6E8A-4147-A177-3AD203B41FA5}">
                      <a16:colId xmlns:a16="http://schemas.microsoft.com/office/drawing/2014/main" val="2691879750"/>
                    </a:ext>
                  </a:extLst>
                </a:gridCol>
                <a:gridCol w="2428804">
                  <a:extLst>
                    <a:ext uri="{9D8B030D-6E8A-4147-A177-3AD203B41FA5}">
                      <a16:colId xmlns:a16="http://schemas.microsoft.com/office/drawing/2014/main" val="2854855451"/>
                    </a:ext>
                  </a:extLst>
                </a:gridCol>
                <a:gridCol w="1544521">
                  <a:extLst>
                    <a:ext uri="{9D8B030D-6E8A-4147-A177-3AD203B41FA5}">
                      <a16:colId xmlns:a16="http://schemas.microsoft.com/office/drawing/2014/main" val="202677306"/>
                    </a:ext>
                  </a:extLst>
                </a:gridCol>
                <a:gridCol w="1544521">
                  <a:extLst>
                    <a:ext uri="{9D8B030D-6E8A-4147-A177-3AD203B41FA5}">
                      <a16:colId xmlns:a16="http://schemas.microsoft.com/office/drawing/2014/main" val="3220100862"/>
                    </a:ext>
                  </a:extLst>
                </a:gridCol>
                <a:gridCol w="1544521">
                  <a:extLst>
                    <a:ext uri="{9D8B030D-6E8A-4147-A177-3AD203B41FA5}">
                      <a16:colId xmlns:a16="http://schemas.microsoft.com/office/drawing/2014/main" val="3908029904"/>
                    </a:ext>
                  </a:extLst>
                </a:gridCol>
              </a:tblGrid>
              <a:tr h="54811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dirty="0">
                          <a:effectLst/>
                          <a:latin typeface="Arial" panose="020B0604020202020204" pitchFamily="34" charset="0"/>
                          <a:cs typeface="Arial" panose="020B0604020202020204" pitchFamily="34" charset="0"/>
                        </a:rPr>
                        <a:t>Fees Paid</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dirty="0">
                          <a:effectLst/>
                          <a:latin typeface="Arial" panose="020B0604020202020204" pitchFamily="34" charset="0"/>
                          <a:cs typeface="Arial" panose="020B0604020202020204" pitchFamily="34" charset="0"/>
                        </a:rPr>
                        <a:t>Program Name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29086813"/>
                  </a:ext>
                </a:extLst>
              </a:tr>
              <a:tr h="308999">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John Smith</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u="sng">
                          <a:solidFill>
                            <a:srgbClr val="FF0000"/>
                          </a:solidFill>
                          <a:effectLst/>
                          <a:latin typeface="Arial" panose="020B0604020202020204" pitchFamily="34" charset="0"/>
                          <a:cs typeface="Arial" panose="020B0604020202020204" pitchFamily="34" charset="0"/>
                        </a:rPr>
                        <a:t>Biology 1</a:t>
                      </a:r>
                      <a:endParaRPr lang="en-US" sz="1600" b="1" u="sng">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36307149"/>
                  </a:ext>
                </a:extLst>
              </a:tr>
              <a:tr h="54811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Maria Griffin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500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Computer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u="sng">
                          <a:solidFill>
                            <a:srgbClr val="FF0000"/>
                          </a:solidFill>
                          <a:effectLst/>
                          <a:latin typeface="Arial" panose="020B0604020202020204" pitchFamily="34" charset="0"/>
                          <a:cs typeface="Arial" panose="020B0604020202020204" pitchFamily="34" charset="0"/>
                        </a:rPr>
                        <a:t>Biology 1</a:t>
                      </a:r>
                      <a:endParaRPr lang="en-US" sz="1600" b="1" u="sng">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Business Intro</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Programming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484856787"/>
                  </a:ext>
                </a:extLst>
              </a:tr>
              <a:tr h="548111">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Susan Johnson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Medicine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898396646"/>
                  </a:ext>
                </a:extLst>
              </a:tr>
              <a:tr h="308999">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Matt Long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850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Dentistry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dirty="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05073605"/>
                  </a:ext>
                </a:extLst>
              </a:tr>
            </a:tbl>
          </a:graphicData>
        </a:graphic>
      </p:graphicFrame>
      <p:sp>
        <p:nvSpPr>
          <p:cNvPr id="6" name="TextBox 5">
            <a:extLst>
              <a:ext uri="{FF2B5EF4-FFF2-40B4-BE49-F238E27FC236}">
                <a16:creationId xmlns:a16="http://schemas.microsoft.com/office/drawing/2014/main" id="{AECF8EA7-6E2C-A7F9-C4D4-4227A66B9EB0}"/>
              </a:ext>
            </a:extLst>
          </p:cNvPr>
          <p:cNvSpPr txBox="1"/>
          <p:nvPr/>
        </p:nvSpPr>
        <p:spPr>
          <a:xfrm>
            <a:off x="838199" y="1187857"/>
            <a:ext cx="10973011" cy="400110"/>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Rename Biology 1 to “Intro to Biology” </a:t>
            </a:r>
          </a:p>
        </p:txBody>
      </p:sp>
      <p:sp>
        <p:nvSpPr>
          <p:cNvPr id="8" name="TextBox 7">
            <a:extLst>
              <a:ext uri="{FF2B5EF4-FFF2-40B4-BE49-F238E27FC236}">
                <a16:creationId xmlns:a16="http://schemas.microsoft.com/office/drawing/2014/main" id="{80173A33-41E5-647B-F5DA-731C3911A6FA}"/>
              </a:ext>
            </a:extLst>
          </p:cNvPr>
          <p:cNvSpPr txBox="1"/>
          <p:nvPr/>
        </p:nvSpPr>
        <p:spPr>
          <a:xfrm>
            <a:off x="838199" y="4244344"/>
            <a:ext cx="10973011"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We would have to search and locate EVERY instance of Biology 1 and make sure we update it</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This would be an </a:t>
            </a:r>
            <a:r>
              <a:rPr lang="en-US" sz="2000" b="1" dirty="0">
                <a:solidFill>
                  <a:schemeClr val="accent1"/>
                </a:solidFill>
                <a:latin typeface="Arial" panose="020B0604020202020204" pitchFamily="34" charset="0"/>
                <a:cs typeface="Arial" panose="020B0604020202020204" pitchFamily="34" charset="0"/>
              </a:rPr>
              <a:t>‘UPDATE’ anomaly</a:t>
            </a:r>
            <a:r>
              <a:rPr lang="en-US" sz="2000" dirty="0">
                <a:latin typeface="Arial" panose="020B0604020202020204" pitchFamily="34" charset="0"/>
                <a:cs typeface="Arial" panose="020B0604020202020204" pitchFamily="34" charset="0"/>
              </a:rPr>
              <a:t>.  You can make a change, but fail to make ALL the necessary changes</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More effective better if we could only make ONE change, and cover everyone taking Biology</a:t>
            </a: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4645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DEAA-E6DD-F329-E4D1-0116EE4D5651}"/>
              </a:ext>
            </a:extLst>
          </p:cNvPr>
          <p:cNvSpPr>
            <a:spLocks noGrp="1"/>
          </p:cNvSpPr>
          <p:nvPr>
            <p:ph type="title"/>
          </p:nvPr>
        </p:nvSpPr>
        <p:spPr/>
        <p:txBody>
          <a:bodyPr/>
          <a:lstStyle/>
          <a:p>
            <a:r>
              <a:rPr lang="en-US"/>
              <a:t>Other Anomalies – Removing Data</a:t>
            </a:r>
          </a:p>
        </p:txBody>
      </p:sp>
      <p:graphicFrame>
        <p:nvGraphicFramePr>
          <p:cNvPr id="7" name="Table 6">
            <a:extLst>
              <a:ext uri="{FF2B5EF4-FFF2-40B4-BE49-F238E27FC236}">
                <a16:creationId xmlns:a16="http://schemas.microsoft.com/office/drawing/2014/main" id="{D7C2C16B-3E0A-DB2C-76B7-1EBA4390112E}"/>
              </a:ext>
            </a:extLst>
          </p:cNvPr>
          <p:cNvGraphicFramePr>
            <a:graphicFrameLocks noGrp="1"/>
          </p:cNvGraphicFramePr>
          <p:nvPr>
            <p:extLst>
              <p:ext uri="{D42A27DB-BD31-4B8C-83A1-F6EECF244321}">
                <p14:modId xmlns:p14="http://schemas.microsoft.com/office/powerpoint/2010/main" val="290382830"/>
              </p:ext>
            </p:extLst>
          </p:nvPr>
        </p:nvGraphicFramePr>
        <p:xfrm>
          <a:off x="1066801" y="1816670"/>
          <a:ext cx="10058398" cy="1411605"/>
        </p:xfrm>
        <a:graphic>
          <a:graphicData uri="http://schemas.openxmlformats.org/drawingml/2006/table">
            <a:tbl>
              <a:tblPr firstRow="1" firstCol="1" bandRow="1">
                <a:tableStyleId>{5C22544A-7EE6-4342-B048-85BDC9FD1C3A}</a:tableStyleId>
              </a:tblPr>
              <a:tblGrid>
                <a:gridCol w="824960">
                  <a:extLst>
                    <a:ext uri="{9D8B030D-6E8A-4147-A177-3AD203B41FA5}">
                      <a16:colId xmlns:a16="http://schemas.microsoft.com/office/drawing/2014/main" val="3284696212"/>
                    </a:ext>
                  </a:extLst>
                </a:gridCol>
                <a:gridCol w="1455031">
                  <a:extLst>
                    <a:ext uri="{9D8B030D-6E8A-4147-A177-3AD203B41FA5}">
                      <a16:colId xmlns:a16="http://schemas.microsoft.com/office/drawing/2014/main" val="2893453708"/>
                    </a:ext>
                  </a:extLst>
                </a:gridCol>
                <a:gridCol w="1208076">
                  <a:extLst>
                    <a:ext uri="{9D8B030D-6E8A-4147-A177-3AD203B41FA5}">
                      <a16:colId xmlns:a16="http://schemas.microsoft.com/office/drawing/2014/main" val="2691879750"/>
                    </a:ext>
                  </a:extLst>
                </a:gridCol>
                <a:gridCol w="2259589">
                  <a:extLst>
                    <a:ext uri="{9D8B030D-6E8A-4147-A177-3AD203B41FA5}">
                      <a16:colId xmlns:a16="http://schemas.microsoft.com/office/drawing/2014/main" val="2854855451"/>
                    </a:ext>
                  </a:extLst>
                </a:gridCol>
                <a:gridCol w="1436914">
                  <a:extLst>
                    <a:ext uri="{9D8B030D-6E8A-4147-A177-3AD203B41FA5}">
                      <a16:colId xmlns:a16="http://schemas.microsoft.com/office/drawing/2014/main" val="202677306"/>
                    </a:ext>
                  </a:extLst>
                </a:gridCol>
                <a:gridCol w="1436914">
                  <a:extLst>
                    <a:ext uri="{9D8B030D-6E8A-4147-A177-3AD203B41FA5}">
                      <a16:colId xmlns:a16="http://schemas.microsoft.com/office/drawing/2014/main" val="3220100862"/>
                    </a:ext>
                  </a:extLst>
                </a:gridCol>
                <a:gridCol w="1436914">
                  <a:extLst>
                    <a:ext uri="{9D8B030D-6E8A-4147-A177-3AD203B41FA5}">
                      <a16:colId xmlns:a16="http://schemas.microsoft.com/office/drawing/2014/main" val="3908029904"/>
                    </a:ext>
                  </a:extLst>
                </a:gridCol>
              </a:tblGrid>
              <a:tr h="0">
                <a:tc>
                  <a:txBody>
                    <a:bodyPr/>
                    <a:lstStyle/>
                    <a:p>
                      <a:pPr marL="0" marR="0">
                        <a:lnSpc>
                          <a:spcPct val="107000"/>
                        </a:lnSpc>
                        <a:spcBef>
                          <a:spcPts val="0"/>
                        </a:spcBef>
                        <a:spcAft>
                          <a:spcPts val="1800"/>
                        </a:spcAft>
                      </a:pPr>
                      <a:r>
                        <a:rPr lang="en-US" sz="1200">
                          <a:effectLst/>
                        </a:rPr>
                        <a:t>Student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Student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Fees Paid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dirty="0">
                          <a:effectLst/>
                        </a:rPr>
                        <a:t>Program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Class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Class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Class 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3329086813"/>
                  </a:ext>
                </a:extLst>
              </a:tr>
              <a:tr h="0">
                <a:tc>
                  <a:txBody>
                    <a:bodyPr/>
                    <a:lstStyle/>
                    <a:p>
                      <a:pPr marL="0" marR="0">
                        <a:lnSpc>
                          <a:spcPct val="107000"/>
                        </a:lnSpc>
                        <a:spcBef>
                          <a:spcPts val="0"/>
                        </a:spcBef>
                        <a:spcAft>
                          <a:spcPts val="180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John Smith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200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Economics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Economics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b="0" u="none">
                          <a:solidFill>
                            <a:schemeClr val="tx1"/>
                          </a:solidFill>
                          <a:effectLst/>
                        </a:rPr>
                        <a:t>Biology 1</a:t>
                      </a:r>
                      <a:endParaRPr lang="en-US" sz="11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2636307149"/>
                  </a:ext>
                </a:extLst>
              </a:tr>
              <a:tr h="0">
                <a:tc>
                  <a:txBody>
                    <a:bodyPr/>
                    <a:lstStyle/>
                    <a:p>
                      <a:pPr marL="0" marR="0">
                        <a:lnSpc>
                          <a:spcPct val="107000"/>
                        </a:lnSpc>
                        <a:spcBef>
                          <a:spcPts val="0"/>
                        </a:spcBef>
                        <a:spcAft>
                          <a:spcPts val="180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Maria Griffin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Computer Science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gn="l" defTabSz="914400" rtl="0" eaLnBrk="1" latinLnBrk="0" hangingPunct="1">
                        <a:lnSpc>
                          <a:spcPct val="107000"/>
                        </a:lnSpc>
                        <a:spcBef>
                          <a:spcPts val="0"/>
                        </a:spcBef>
                        <a:spcAft>
                          <a:spcPts val="1800"/>
                        </a:spcAft>
                      </a:pPr>
                      <a:r>
                        <a:rPr lang="en-US" sz="1200" b="0" u="none" kern="1200">
                          <a:solidFill>
                            <a:schemeClr val="tx1"/>
                          </a:solidFill>
                          <a:effectLst/>
                          <a:latin typeface="+mn-lt"/>
                          <a:ea typeface="+mn-ea"/>
                          <a:cs typeface="+mn-cs"/>
                        </a:rPr>
                        <a:t>Biology 1</a:t>
                      </a:r>
                    </a:p>
                  </a:txBody>
                  <a:tcPr marL="47625" marR="47625" marT="47625" marB="47625" anchor="ctr"/>
                </a:tc>
                <a:tc>
                  <a:txBody>
                    <a:bodyPr/>
                    <a:lstStyle/>
                    <a:p>
                      <a:pPr marL="0" marR="0">
                        <a:lnSpc>
                          <a:spcPct val="107000"/>
                        </a:lnSpc>
                        <a:spcBef>
                          <a:spcPts val="0"/>
                        </a:spcBef>
                        <a:spcAft>
                          <a:spcPts val="1800"/>
                        </a:spcAft>
                      </a:pPr>
                      <a:r>
                        <a:rPr lang="en-US" sz="1200">
                          <a:effectLst/>
                        </a:rPr>
                        <a:t>Business Intro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Programming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1484856787"/>
                  </a:ext>
                </a:extLst>
              </a:tr>
              <a:tr h="0">
                <a:tc>
                  <a:txBody>
                    <a:bodyPr/>
                    <a:lstStyle/>
                    <a:p>
                      <a:pPr marL="0" marR="0">
                        <a:lnSpc>
                          <a:spcPct val="107000"/>
                        </a:lnSpc>
                        <a:spcBef>
                          <a:spcPts val="0"/>
                        </a:spcBef>
                        <a:spcAft>
                          <a:spcPts val="180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Susan Johnson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400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Medicine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b="1">
                          <a:solidFill>
                            <a:srgbClr val="FF0000"/>
                          </a:solidFill>
                          <a:effectLst/>
                        </a:rPr>
                        <a:t>Biology 2</a:t>
                      </a:r>
                      <a:endParaRPr lang="en-US" sz="1100" b="1">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898396646"/>
                  </a:ext>
                </a:extLst>
              </a:tr>
              <a:tr h="0">
                <a:tc>
                  <a:txBody>
                    <a:bodyPr/>
                    <a:lstStyle/>
                    <a:p>
                      <a:pPr marL="0" marR="0">
                        <a:lnSpc>
                          <a:spcPct val="107000"/>
                        </a:lnSpc>
                        <a:spcBef>
                          <a:spcPts val="0"/>
                        </a:spcBef>
                        <a:spcAft>
                          <a:spcPts val="180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Matt Long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850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Dentistry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dirty="0">
                        <a:effectLst/>
                        <a:latin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3805073605"/>
                  </a:ext>
                </a:extLst>
              </a:tr>
            </a:tbl>
          </a:graphicData>
        </a:graphic>
      </p:graphicFrame>
      <p:graphicFrame>
        <p:nvGraphicFramePr>
          <p:cNvPr id="8" name="Table 7">
            <a:extLst>
              <a:ext uri="{FF2B5EF4-FFF2-40B4-BE49-F238E27FC236}">
                <a16:creationId xmlns:a16="http://schemas.microsoft.com/office/drawing/2014/main" id="{77447CD4-40B8-AE56-0539-1EA72F6E2589}"/>
              </a:ext>
            </a:extLst>
          </p:cNvPr>
          <p:cNvGraphicFramePr>
            <a:graphicFrameLocks noGrp="1"/>
          </p:cNvGraphicFramePr>
          <p:nvPr>
            <p:extLst>
              <p:ext uri="{D42A27DB-BD31-4B8C-83A1-F6EECF244321}">
                <p14:modId xmlns:p14="http://schemas.microsoft.com/office/powerpoint/2010/main" val="1160772755"/>
              </p:ext>
            </p:extLst>
          </p:nvPr>
        </p:nvGraphicFramePr>
        <p:xfrm>
          <a:off x="1066801" y="3973593"/>
          <a:ext cx="10058398" cy="1129284"/>
        </p:xfrm>
        <a:graphic>
          <a:graphicData uri="http://schemas.openxmlformats.org/drawingml/2006/table">
            <a:tbl>
              <a:tblPr firstRow="1" firstCol="1" bandRow="1">
                <a:tableStyleId>{5C22544A-7EE6-4342-B048-85BDC9FD1C3A}</a:tableStyleId>
              </a:tblPr>
              <a:tblGrid>
                <a:gridCol w="824960">
                  <a:extLst>
                    <a:ext uri="{9D8B030D-6E8A-4147-A177-3AD203B41FA5}">
                      <a16:colId xmlns:a16="http://schemas.microsoft.com/office/drawing/2014/main" val="3284696212"/>
                    </a:ext>
                  </a:extLst>
                </a:gridCol>
                <a:gridCol w="1455031">
                  <a:extLst>
                    <a:ext uri="{9D8B030D-6E8A-4147-A177-3AD203B41FA5}">
                      <a16:colId xmlns:a16="http://schemas.microsoft.com/office/drawing/2014/main" val="2893453708"/>
                    </a:ext>
                  </a:extLst>
                </a:gridCol>
                <a:gridCol w="1208076">
                  <a:extLst>
                    <a:ext uri="{9D8B030D-6E8A-4147-A177-3AD203B41FA5}">
                      <a16:colId xmlns:a16="http://schemas.microsoft.com/office/drawing/2014/main" val="2691879750"/>
                    </a:ext>
                  </a:extLst>
                </a:gridCol>
                <a:gridCol w="2259589">
                  <a:extLst>
                    <a:ext uri="{9D8B030D-6E8A-4147-A177-3AD203B41FA5}">
                      <a16:colId xmlns:a16="http://schemas.microsoft.com/office/drawing/2014/main" val="2854855451"/>
                    </a:ext>
                  </a:extLst>
                </a:gridCol>
                <a:gridCol w="1436914">
                  <a:extLst>
                    <a:ext uri="{9D8B030D-6E8A-4147-A177-3AD203B41FA5}">
                      <a16:colId xmlns:a16="http://schemas.microsoft.com/office/drawing/2014/main" val="202677306"/>
                    </a:ext>
                  </a:extLst>
                </a:gridCol>
                <a:gridCol w="1436914">
                  <a:extLst>
                    <a:ext uri="{9D8B030D-6E8A-4147-A177-3AD203B41FA5}">
                      <a16:colId xmlns:a16="http://schemas.microsoft.com/office/drawing/2014/main" val="3220100862"/>
                    </a:ext>
                  </a:extLst>
                </a:gridCol>
                <a:gridCol w="1436914">
                  <a:extLst>
                    <a:ext uri="{9D8B030D-6E8A-4147-A177-3AD203B41FA5}">
                      <a16:colId xmlns:a16="http://schemas.microsoft.com/office/drawing/2014/main" val="3908029904"/>
                    </a:ext>
                  </a:extLst>
                </a:gridCol>
              </a:tblGrid>
              <a:tr h="0">
                <a:tc>
                  <a:txBody>
                    <a:bodyPr/>
                    <a:lstStyle/>
                    <a:p>
                      <a:pPr marL="0" marR="0">
                        <a:lnSpc>
                          <a:spcPct val="107000"/>
                        </a:lnSpc>
                        <a:spcBef>
                          <a:spcPts val="0"/>
                        </a:spcBef>
                        <a:spcAft>
                          <a:spcPts val="1800"/>
                        </a:spcAft>
                      </a:pPr>
                      <a:r>
                        <a:rPr lang="en-US" sz="1200">
                          <a:effectLst/>
                        </a:rPr>
                        <a:t>Student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Student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Fees Paid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dirty="0">
                          <a:effectLst/>
                        </a:rPr>
                        <a:t>Program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Class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Class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Class 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3329086813"/>
                  </a:ext>
                </a:extLst>
              </a:tr>
              <a:tr h="0">
                <a:tc>
                  <a:txBody>
                    <a:bodyPr/>
                    <a:lstStyle/>
                    <a:p>
                      <a:pPr marL="0" marR="0">
                        <a:lnSpc>
                          <a:spcPct val="107000"/>
                        </a:lnSpc>
                        <a:spcBef>
                          <a:spcPts val="0"/>
                        </a:spcBef>
                        <a:spcAft>
                          <a:spcPts val="180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John Smith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200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dirty="0">
                          <a:effectLst/>
                        </a:rPr>
                        <a:t>Economics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Economics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b="0" u="none">
                          <a:solidFill>
                            <a:schemeClr val="tx1"/>
                          </a:solidFill>
                          <a:effectLst/>
                        </a:rPr>
                        <a:t>Biology 1</a:t>
                      </a:r>
                      <a:endParaRPr lang="en-US" sz="11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2636307149"/>
                  </a:ext>
                </a:extLst>
              </a:tr>
              <a:tr h="0">
                <a:tc>
                  <a:txBody>
                    <a:bodyPr/>
                    <a:lstStyle/>
                    <a:p>
                      <a:pPr marL="0" marR="0">
                        <a:lnSpc>
                          <a:spcPct val="107000"/>
                        </a:lnSpc>
                        <a:spcBef>
                          <a:spcPts val="0"/>
                        </a:spcBef>
                        <a:spcAft>
                          <a:spcPts val="180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Maria Griffin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Computer Science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gn="l" defTabSz="914400" rtl="0" eaLnBrk="1" latinLnBrk="0" hangingPunct="1">
                        <a:lnSpc>
                          <a:spcPct val="107000"/>
                        </a:lnSpc>
                        <a:spcBef>
                          <a:spcPts val="0"/>
                        </a:spcBef>
                        <a:spcAft>
                          <a:spcPts val="1800"/>
                        </a:spcAft>
                      </a:pPr>
                      <a:r>
                        <a:rPr lang="en-US" sz="1200" b="0" u="none" kern="1200">
                          <a:solidFill>
                            <a:schemeClr val="tx1"/>
                          </a:solidFill>
                          <a:effectLst/>
                          <a:latin typeface="+mn-lt"/>
                          <a:ea typeface="+mn-ea"/>
                          <a:cs typeface="+mn-cs"/>
                        </a:rPr>
                        <a:t>Biology 1</a:t>
                      </a:r>
                    </a:p>
                  </a:txBody>
                  <a:tcPr marL="47625" marR="47625" marT="47625" marB="47625" anchor="ctr"/>
                </a:tc>
                <a:tc>
                  <a:txBody>
                    <a:bodyPr/>
                    <a:lstStyle/>
                    <a:p>
                      <a:pPr marL="0" marR="0">
                        <a:lnSpc>
                          <a:spcPct val="107000"/>
                        </a:lnSpc>
                        <a:spcBef>
                          <a:spcPts val="0"/>
                        </a:spcBef>
                        <a:spcAft>
                          <a:spcPts val="1800"/>
                        </a:spcAft>
                      </a:pPr>
                      <a:r>
                        <a:rPr lang="en-US" sz="1200">
                          <a:effectLst/>
                        </a:rPr>
                        <a:t>Business Intro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Programming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1484856787"/>
                  </a:ext>
                </a:extLst>
              </a:tr>
              <a:tr h="0">
                <a:tc>
                  <a:txBody>
                    <a:bodyPr/>
                    <a:lstStyle/>
                    <a:p>
                      <a:pPr marL="0" marR="0">
                        <a:lnSpc>
                          <a:spcPct val="107000"/>
                        </a:lnSpc>
                        <a:spcBef>
                          <a:spcPts val="0"/>
                        </a:spcBef>
                        <a:spcAft>
                          <a:spcPts val="180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Matt Long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850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marL="0" marR="0">
                        <a:lnSpc>
                          <a:spcPct val="107000"/>
                        </a:lnSpc>
                        <a:spcBef>
                          <a:spcPts val="0"/>
                        </a:spcBef>
                        <a:spcAft>
                          <a:spcPts val="1800"/>
                        </a:spcAft>
                      </a:pPr>
                      <a:r>
                        <a:rPr lang="en-US" sz="1200">
                          <a:effectLst/>
                        </a:rPr>
                        <a:t>Dentistry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a:effectLst/>
                        <a:latin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pPr>
                      <a:endParaRPr lang="en-US" sz="1100" dirty="0">
                        <a:effectLst/>
                        <a:latin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3805073605"/>
                  </a:ext>
                </a:extLst>
              </a:tr>
            </a:tbl>
          </a:graphicData>
        </a:graphic>
      </p:graphicFrame>
      <p:sp>
        <p:nvSpPr>
          <p:cNvPr id="11" name="TextBox 10">
            <a:extLst>
              <a:ext uri="{FF2B5EF4-FFF2-40B4-BE49-F238E27FC236}">
                <a16:creationId xmlns:a16="http://schemas.microsoft.com/office/drawing/2014/main" id="{E1F43B93-A3A8-2AFA-27FC-28F837852137}"/>
              </a:ext>
            </a:extLst>
          </p:cNvPr>
          <p:cNvSpPr txBox="1"/>
          <p:nvPr/>
        </p:nvSpPr>
        <p:spPr>
          <a:xfrm>
            <a:off x="3380741" y="1374493"/>
            <a:ext cx="5623557" cy="646331"/>
          </a:xfrm>
          <a:prstGeom prst="rect">
            <a:avLst/>
          </a:prstGeom>
          <a:noFill/>
        </p:spPr>
        <p:txBody>
          <a:bodyPr wrap="square" rtlCol="0">
            <a:spAutoFit/>
          </a:bodyPr>
          <a:lstStyle/>
          <a:p>
            <a:r>
              <a:rPr lang="en-US" dirty="0"/>
              <a:t>Susan Johnson drops out, and we delete the record …</a:t>
            </a:r>
          </a:p>
          <a:p>
            <a:endParaRPr lang="en-US" dirty="0"/>
          </a:p>
        </p:txBody>
      </p:sp>
      <p:sp>
        <p:nvSpPr>
          <p:cNvPr id="12" name="TextBox 11">
            <a:extLst>
              <a:ext uri="{FF2B5EF4-FFF2-40B4-BE49-F238E27FC236}">
                <a16:creationId xmlns:a16="http://schemas.microsoft.com/office/drawing/2014/main" id="{171EA810-878D-D735-ABC0-825365725286}"/>
              </a:ext>
            </a:extLst>
          </p:cNvPr>
          <p:cNvSpPr txBox="1"/>
          <p:nvPr/>
        </p:nvSpPr>
        <p:spPr>
          <a:xfrm>
            <a:off x="838200" y="5242308"/>
            <a:ext cx="10515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This would remove ALL traces of </a:t>
            </a:r>
            <a:r>
              <a:rPr lang="en-US" b="1" dirty="0">
                <a:solidFill>
                  <a:srgbClr val="FF0000"/>
                </a:solidFill>
              </a:rPr>
              <a:t>Biology 2</a:t>
            </a:r>
          </a:p>
          <a:p>
            <a:pPr marL="285750" indent="-285750">
              <a:buFont typeface="Arial" panose="020B0604020202020204" pitchFamily="34" charset="0"/>
              <a:buChar char="•"/>
            </a:pPr>
            <a:r>
              <a:rPr lang="en-US" dirty="0"/>
              <a:t>This would be a </a:t>
            </a:r>
            <a:r>
              <a:rPr lang="en-US" b="1" dirty="0">
                <a:solidFill>
                  <a:schemeClr val="accent1"/>
                </a:solidFill>
              </a:rPr>
              <a:t>‘DELETE’ anomaly</a:t>
            </a:r>
            <a:r>
              <a:rPr lang="en-US" dirty="0"/>
              <a:t>.  Deleting one thing results in other data (that you want to keep) being deleted</a:t>
            </a:r>
          </a:p>
        </p:txBody>
      </p:sp>
      <p:sp>
        <p:nvSpPr>
          <p:cNvPr id="13" name="Down Arrow 12">
            <a:extLst>
              <a:ext uri="{FF2B5EF4-FFF2-40B4-BE49-F238E27FC236}">
                <a16:creationId xmlns:a16="http://schemas.microsoft.com/office/drawing/2014/main" id="{2C481A71-6D61-D3D4-24C1-47F0DE031B05}"/>
              </a:ext>
            </a:extLst>
          </p:cNvPr>
          <p:cNvSpPr/>
          <p:nvPr/>
        </p:nvSpPr>
        <p:spPr>
          <a:xfrm>
            <a:off x="5625353" y="3332513"/>
            <a:ext cx="470647" cy="5016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62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A656-A730-3152-F455-31BB26496DC6}"/>
              </a:ext>
            </a:extLst>
          </p:cNvPr>
          <p:cNvSpPr>
            <a:spLocks noGrp="1"/>
          </p:cNvSpPr>
          <p:nvPr>
            <p:ph type="title"/>
          </p:nvPr>
        </p:nvSpPr>
        <p:spPr/>
        <p:txBody>
          <a:bodyPr/>
          <a:lstStyle/>
          <a:p>
            <a:r>
              <a:rPr lang="en-GB" noProof="0"/>
              <a:t>Normalisation Levels</a:t>
            </a:r>
          </a:p>
        </p:txBody>
      </p:sp>
      <p:pic>
        <p:nvPicPr>
          <p:cNvPr id="9" name="Picture 8" descr="A group of rectangular rectangles with black text&#10;&#10;AI-generated content may be incorrect.">
            <a:extLst>
              <a:ext uri="{FF2B5EF4-FFF2-40B4-BE49-F238E27FC236}">
                <a16:creationId xmlns:a16="http://schemas.microsoft.com/office/drawing/2014/main" id="{DF68256A-A41B-9A14-DDCA-65641085A45E}"/>
              </a:ext>
            </a:extLst>
          </p:cNvPr>
          <p:cNvPicPr>
            <a:picLocks noChangeAspect="1"/>
          </p:cNvPicPr>
          <p:nvPr/>
        </p:nvPicPr>
        <p:blipFill>
          <a:blip r:embed="rId3"/>
          <a:srcRect t="1635"/>
          <a:stretch>
            <a:fillRect/>
          </a:stretch>
        </p:blipFill>
        <p:spPr>
          <a:xfrm>
            <a:off x="2533969" y="1332343"/>
            <a:ext cx="6987127" cy="4555501"/>
          </a:xfrm>
          <a:prstGeom prst="rect">
            <a:avLst/>
          </a:prstGeom>
        </p:spPr>
      </p:pic>
    </p:spTree>
    <p:extLst>
      <p:ext uri="{BB962C8B-B14F-4D97-AF65-F5344CB8AC3E}">
        <p14:creationId xmlns:p14="http://schemas.microsoft.com/office/powerpoint/2010/main" val="2367707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Normalization in DBMS: 1NF, 2NF, 3NF, and BCNF [Examples]">
            <a:extLst>
              <a:ext uri="{FF2B5EF4-FFF2-40B4-BE49-F238E27FC236}">
                <a16:creationId xmlns:a16="http://schemas.microsoft.com/office/drawing/2014/main" id="{AE3837D2-724B-2A82-98B8-4A39210893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988" y="457200"/>
            <a:ext cx="10487377" cy="5899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D2C1259-F6A8-2A5B-8BC5-EF615E8C54BA}"/>
              </a:ext>
            </a:extLst>
          </p:cNvPr>
          <p:cNvSpPr txBox="1"/>
          <p:nvPr/>
        </p:nvSpPr>
        <p:spPr>
          <a:xfrm>
            <a:off x="3143714" y="6356350"/>
            <a:ext cx="5475923" cy="369332"/>
          </a:xfrm>
          <a:prstGeom prst="rect">
            <a:avLst/>
          </a:prstGeom>
          <a:noFill/>
        </p:spPr>
        <p:txBody>
          <a:bodyPr wrap="none" rtlCol="0">
            <a:spAutoFit/>
          </a:bodyPr>
          <a:lstStyle/>
          <a:p>
            <a:r>
              <a:rPr lang="en-US" dirty="0"/>
              <a:t>Image from </a:t>
            </a:r>
            <a:r>
              <a:rPr lang="en-US" dirty="0">
                <a:hlinkClick r:id="rId3"/>
              </a:rPr>
              <a:t>https://hackr.io/blog/dbms-normalization</a:t>
            </a:r>
            <a:r>
              <a:rPr lang="en-US" dirty="0"/>
              <a:t> </a:t>
            </a:r>
          </a:p>
        </p:txBody>
      </p:sp>
      <p:sp>
        <p:nvSpPr>
          <p:cNvPr id="2" name="Rectangle 1">
            <a:extLst>
              <a:ext uri="{FF2B5EF4-FFF2-40B4-BE49-F238E27FC236}">
                <a16:creationId xmlns:a16="http://schemas.microsoft.com/office/drawing/2014/main" id="{6434098C-26BB-3316-B594-D56E4D7C351F}"/>
              </a:ext>
            </a:extLst>
          </p:cNvPr>
          <p:cNvSpPr/>
          <p:nvPr/>
        </p:nvSpPr>
        <p:spPr>
          <a:xfrm>
            <a:off x="1547067" y="1126930"/>
            <a:ext cx="1855694" cy="5123329"/>
          </a:xfrm>
          <a:prstGeom prst="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91341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DB7A7-ACB9-D77B-0DA4-D4D18671A8EE}"/>
              </a:ext>
            </a:extLst>
          </p:cNvPr>
          <p:cNvSpPr>
            <a:spLocks noGrp="1"/>
          </p:cNvSpPr>
          <p:nvPr>
            <p:ph type="title"/>
          </p:nvPr>
        </p:nvSpPr>
        <p:spPr/>
        <p:txBody>
          <a:bodyPr/>
          <a:lstStyle/>
          <a:p>
            <a:r>
              <a:rPr lang="en-GB"/>
              <a:t>First Normal Form - 1NF</a:t>
            </a:r>
            <a:endParaRPr lang="en-GB" noProof="0"/>
          </a:p>
        </p:txBody>
      </p:sp>
      <p:sp>
        <p:nvSpPr>
          <p:cNvPr id="5" name="Rectangle 3">
            <a:extLst>
              <a:ext uri="{FF2B5EF4-FFF2-40B4-BE49-F238E27FC236}">
                <a16:creationId xmlns:a16="http://schemas.microsoft.com/office/drawing/2014/main" id="{5AE76FEF-2E65-2A77-9228-16279971902D}"/>
              </a:ext>
            </a:extLst>
          </p:cNvPr>
          <p:cNvSpPr>
            <a:spLocks noGrp="1" noChangeArrowheads="1"/>
          </p:cNvSpPr>
          <p:nvPr>
            <p:ph sz="half" idx="1"/>
          </p:nvPr>
        </p:nvSpPr>
        <p:spPr/>
        <p:txBody>
          <a:bodyPr>
            <a:normAutofit/>
          </a:bodyPr>
          <a:lstStyle/>
          <a:p>
            <a:pPr marL="0" indent="0">
              <a:lnSpc>
                <a:spcPct val="150000"/>
              </a:lnSpc>
              <a:buNone/>
            </a:pPr>
            <a:r>
              <a:rPr lang="en-US" altLang="en-US" sz="2200" dirty="0">
                <a:latin typeface="Arial" panose="020B0604020202020204" pitchFamily="34" charset="0"/>
                <a:cs typeface="Arial" panose="020B0604020202020204" pitchFamily="34" charset="0"/>
              </a:rPr>
              <a:t>For a table to be in the </a:t>
            </a:r>
            <a:r>
              <a:rPr lang="en-US" altLang="en-US" sz="2200" b="1" dirty="0">
                <a:latin typeface="Arial" panose="020B0604020202020204" pitchFamily="34" charset="0"/>
                <a:cs typeface="Arial" panose="020B0604020202020204" pitchFamily="34" charset="0"/>
              </a:rPr>
              <a:t>1NF</a:t>
            </a:r>
            <a:r>
              <a:rPr lang="en-US" altLang="en-US" sz="2200" dirty="0">
                <a:latin typeface="Arial" panose="020B0604020202020204" pitchFamily="34" charset="0"/>
                <a:cs typeface="Arial" panose="020B0604020202020204" pitchFamily="34" charset="0"/>
              </a:rPr>
              <a:t>, it must meet the following criteria</a:t>
            </a:r>
          </a:p>
          <a:p>
            <a:pPr lvl="1">
              <a:lnSpc>
                <a:spcPct val="150000"/>
              </a:lnSpc>
            </a:pPr>
            <a:r>
              <a:rPr lang="en-GB" sz="2200" dirty="0">
                <a:latin typeface="Arial" panose="020B0604020202020204" pitchFamily="34" charset="0"/>
                <a:cs typeface="Arial" panose="020B0604020202020204" pitchFamily="34" charset="0"/>
              </a:rPr>
              <a:t>A single cell must not hold more than one value (atomicity)</a:t>
            </a:r>
          </a:p>
          <a:p>
            <a:pPr lvl="1">
              <a:lnSpc>
                <a:spcPct val="150000"/>
              </a:lnSpc>
            </a:pPr>
            <a:r>
              <a:rPr lang="en-GB" sz="2200" dirty="0">
                <a:latin typeface="Arial" panose="020B0604020202020204" pitchFamily="34" charset="0"/>
                <a:cs typeface="Arial" panose="020B0604020202020204" pitchFamily="34" charset="0"/>
              </a:rPr>
              <a:t>There must be a primary key for identification</a:t>
            </a:r>
          </a:p>
          <a:p>
            <a:pPr lvl="1">
              <a:lnSpc>
                <a:spcPct val="150000"/>
              </a:lnSpc>
            </a:pPr>
            <a:r>
              <a:rPr lang="en-GB" sz="2200" dirty="0">
                <a:latin typeface="Arial" panose="020B0604020202020204" pitchFamily="34" charset="0"/>
                <a:cs typeface="Arial" panose="020B0604020202020204" pitchFamily="34" charset="0"/>
              </a:rPr>
              <a:t>No duplicated rows or columns</a:t>
            </a:r>
          </a:p>
          <a:p>
            <a:pPr lvl="1">
              <a:lnSpc>
                <a:spcPct val="150000"/>
              </a:lnSpc>
            </a:pPr>
            <a:r>
              <a:rPr lang="en-GB" sz="2200" dirty="0">
                <a:latin typeface="Arial" panose="020B0604020202020204" pitchFamily="34" charset="0"/>
                <a:cs typeface="Arial" panose="020B0604020202020204" pitchFamily="34" charset="0"/>
              </a:rPr>
              <a:t>Each column must have only one value for each row in the table</a:t>
            </a:r>
            <a:endParaRPr lang="en-US" altLang="en-US" sz="2200" dirty="0">
              <a:latin typeface="Arial" panose="020B0604020202020204" pitchFamily="34" charset="0"/>
              <a:cs typeface="Arial" panose="020B0604020202020204" pitchFamily="34" charset="0"/>
            </a:endParaRPr>
          </a:p>
          <a:p>
            <a:pPr>
              <a:lnSpc>
                <a:spcPct val="150000"/>
              </a:lnSpc>
              <a:buFont typeface="Monotype Sorts" pitchFamily="2" charset="2"/>
              <a:buNone/>
            </a:pPr>
            <a:endParaRPr lang="en-US"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0681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3C598-9EE2-9D34-7A8E-3783E435E693}"/>
              </a:ext>
            </a:extLst>
          </p:cNvPr>
          <p:cNvSpPr>
            <a:spLocks noGrp="1"/>
          </p:cNvSpPr>
          <p:nvPr>
            <p:ph type="title"/>
          </p:nvPr>
        </p:nvSpPr>
        <p:spPr/>
        <p:txBody>
          <a:bodyPr/>
          <a:lstStyle/>
          <a:p>
            <a:r>
              <a:rPr lang="en-GB" noProof="0"/>
              <a:t>1 NF Example</a:t>
            </a:r>
          </a:p>
        </p:txBody>
      </p:sp>
      <p:graphicFrame>
        <p:nvGraphicFramePr>
          <p:cNvPr id="5" name="Content Placeholder 3">
            <a:extLst>
              <a:ext uri="{FF2B5EF4-FFF2-40B4-BE49-F238E27FC236}">
                <a16:creationId xmlns:a16="http://schemas.microsoft.com/office/drawing/2014/main" id="{14569B5D-BBDA-47A6-EF89-E5FEA94728B1}"/>
              </a:ext>
            </a:extLst>
          </p:cNvPr>
          <p:cNvGraphicFramePr>
            <a:graphicFrameLocks noGrp="1"/>
          </p:cNvGraphicFramePr>
          <p:nvPr>
            <p:ph sz="half" idx="1"/>
            <p:extLst>
              <p:ext uri="{D42A27DB-BD31-4B8C-83A1-F6EECF244321}">
                <p14:modId xmlns:p14="http://schemas.microsoft.com/office/powerpoint/2010/main" val="1976631537"/>
              </p:ext>
            </p:extLst>
          </p:nvPr>
        </p:nvGraphicFramePr>
        <p:xfrm>
          <a:off x="838200" y="1215827"/>
          <a:ext cx="10215279" cy="3095510"/>
        </p:xfrm>
        <a:graphic>
          <a:graphicData uri="http://schemas.openxmlformats.org/drawingml/2006/table">
            <a:tbl>
              <a:tblPr firstRow="1" firstCol="1" bandRow="1">
                <a:tableStyleId>{5C22544A-7EE6-4342-B048-85BDC9FD1C3A}</a:tableStyleId>
              </a:tblPr>
              <a:tblGrid>
                <a:gridCol w="1135031">
                  <a:extLst>
                    <a:ext uri="{9D8B030D-6E8A-4147-A177-3AD203B41FA5}">
                      <a16:colId xmlns:a16="http://schemas.microsoft.com/office/drawing/2014/main" val="76176956"/>
                    </a:ext>
                  </a:extLst>
                </a:gridCol>
                <a:gridCol w="1135031">
                  <a:extLst>
                    <a:ext uri="{9D8B030D-6E8A-4147-A177-3AD203B41FA5}">
                      <a16:colId xmlns:a16="http://schemas.microsoft.com/office/drawing/2014/main" val="931541630"/>
                    </a:ext>
                  </a:extLst>
                </a:gridCol>
                <a:gridCol w="1135031">
                  <a:extLst>
                    <a:ext uri="{9D8B030D-6E8A-4147-A177-3AD203B41FA5}">
                      <a16:colId xmlns:a16="http://schemas.microsoft.com/office/drawing/2014/main" val="4006795071"/>
                    </a:ext>
                  </a:extLst>
                </a:gridCol>
                <a:gridCol w="1135031">
                  <a:extLst>
                    <a:ext uri="{9D8B030D-6E8A-4147-A177-3AD203B41FA5}">
                      <a16:colId xmlns:a16="http://schemas.microsoft.com/office/drawing/2014/main" val="2773278715"/>
                    </a:ext>
                  </a:extLst>
                </a:gridCol>
                <a:gridCol w="1135031">
                  <a:extLst>
                    <a:ext uri="{9D8B030D-6E8A-4147-A177-3AD203B41FA5}">
                      <a16:colId xmlns:a16="http://schemas.microsoft.com/office/drawing/2014/main" val="1232636712"/>
                    </a:ext>
                  </a:extLst>
                </a:gridCol>
                <a:gridCol w="1135031">
                  <a:extLst>
                    <a:ext uri="{9D8B030D-6E8A-4147-A177-3AD203B41FA5}">
                      <a16:colId xmlns:a16="http://schemas.microsoft.com/office/drawing/2014/main" val="3596581597"/>
                    </a:ext>
                  </a:extLst>
                </a:gridCol>
                <a:gridCol w="1135031">
                  <a:extLst>
                    <a:ext uri="{9D8B030D-6E8A-4147-A177-3AD203B41FA5}">
                      <a16:colId xmlns:a16="http://schemas.microsoft.com/office/drawing/2014/main" val="458398929"/>
                    </a:ext>
                  </a:extLst>
                </a:gridCol>
                <a:gridCol w="1135031">
                  <a:extLst>
                    <a:ext uri="{9D8B030D-6E8A-4147-A177-3AD203B41FA5}">
                      <a16:colId xmlns:a16="http://schemas.microsoft.com/office/drawing/2014/main" val="1401028488"/>
                    </a:ext>
                  </a:extLst>
                </a:gridCol>
                <a:gridCol w="1135031">
                  <a:extLst>
                    <a:ext uri="{9D8B030D-6E8A-4147-A177-3AD203B41FA5}">
                      <a16:colId xmlns:a16="http://schemas.microsoft.com/office/drawing/2014/main" val="558945827"/>
                    </a:ext>
                  </a:extLst>
                </a:gridCol>
              </a:tblGrid>
              <a:tr h="426887">
                <a:tc>
                  <a:txBody>
                    <a:bodyPr/>
                    <a:lstStyle/>
                    <a:p>
                      <a:pPr marL="0" marR="0">
                        <a:lnSpc>
                          <a:spcPct val="107000"/>
                        </a:lnSpc>
                        <a:spcBef>
                          <a:spcPts val="0"/>
                        </a:spcBef>
                        <a:spcAft>
                          <a:spcPts val="1800"/>
                        </a:spcAft>
                      </a:pPr>
                      <a:r>
                        <a:rPr lang="en-US" sz="1400">
                          <a:effectLst/>
                        </a:rPr>
                        <a:t>Student Name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Fees Paid</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Date of Birth</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Program Name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400">
                          <a:effectLst/>
                        </a:rPr>
                        <a:t>Class 1</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Class 2</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Class 3</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Class 4</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Teacher Name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extLst>
                  <a:ext uri="{0D108BD9-81ED-4DB2-BD59-A6C34878D82A}">
                    <a16:rowId xmlns:a16="http://schemas.microsoft.com/office/drawing/2014/main" val="1383506315"/>
                  </a:ext>
                </a:extLst>
              </a:tr>
              <a:tr h="747098">
                <a:tc>
                  <a:txBody>
                    <a:bodyPr/>
                    <a:lstStyle/>
                    <a:p>
                      <a:pPr marL="0" marR="0">
                        <a:lnSpc>
                          <a:spcPct val="107000"/>
                        </a:lnSpc>
                        <a:spcBef>
                          <a:spcPts val="0"/>
                        </a:spcBef>
                        <a:spcAft>
                          <a:spcPts val="1800"/>
                        </a:spcAft>
                      </a:pPr>
                      <a:r>
                        <a:rPr lang="en-US" sz="1400">
                          <a:effectLst/>
                        </a:rPr>
                        <a:t>John Smith</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1800</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04-Aug-91</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Economics</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400">
                          <a:effectLst/>
                        </a:rPr>
                        <a:t>Economics 1 (Business)</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Biology 1 (Science)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James Peterson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extLst>
                  <a:ext uri="{0D108BD9-81ED-4DB2-BD59-A6C34878D82A}">
                    <a16:rowId xmlns:a16="http://schemas.microsoft.com/office/drawing/2014/main" val="842094989"/>
                  </a:ext>
                </a:extLst>
              </a:tr>
              <a:tr h="747098">
                <a:tc>
                  <a:txBody>
                    <a:bodyPr/>
                    <a:lstStyle/>
                    <a:p>
                      <a:pPr marL="0" marR="0">
                        <a:lnSpc>
                          <a:spcPct val="107000"/>
                        </a:lnSpc>
                        <a:spcBef>
                          <a:spcPts val="0"/>
                        </a:spcBef>
                        <a:spcAft>
                          <a:spcPts val="1800"/>
                        </a:spcAft>
                      </a:pPr>
                      <a:r>
                        <a:rPr lang="en-US" sz="1400">
                          <a:effectLst/>
                        </a:rPr>
                        <a:t>Maria Griffin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1500</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10-Sep-92</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dirty="0">
                          <a:effectLst/>
                        </a:rPr>
                        <a:t>Computer Science</a:t>
                      </a:r>
                      <a:endParaRPr lang="en-US" sz="14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400">
                          <a:effectLst/>
                        </a:rPr>
                        <a:t>Biology 1 (Science)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Business Intro (Business)</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Programming 2 (IT)</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James Peterson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extLst>
                  <a:ext uri="{0D108BD9-81ED-4DB2-BD59-A6C34878D82A}">
                    <a16:rowId xmlns:a16="http://schemas.microsoft.com/office/drawing/2014/main" val="1482776206"/>
                  </a:ext>
                </a:extLst>
              </a:tr>
              <a:tr h="424854">
                <a:tc>
                  <a:txBody>
                    <a:bodyPr/>
                    <a:lstStyle/>
                    <a:p>
                      <a:pPr marL="0" marR="0">
                        <a:lnSpc>
                          <a:spcPct val="107000"/>
                        </a:lnSpc>
                        <a:spcBef>
                          <a:spcPts val="0"/>
                        </a:spcBef>
                        <a:spcAft>
                          <a:spcPts val="1800"/>
                        </a:spcAft>
                      </a:pPr>
                      <a:r>
                        <a:rPr lang="en-US" sz="1400">
                          <a:effectLst/>
                        </a:rPr>
                        <a:t>Susan Johnson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2000</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13-Jan-91</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Medicine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400">
                          <a:effectLst/>
                        </a:rPr>
                        <a:t>Biology 2 (Science)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Sarah Francis</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extLst>
                  <a:ext uri="{0D108BD9-81ED-4DB2-BD59-A6C34878D82A}">
                    <a16:rowId xmlns:a16="http://schemas.microsoft.com/office/drawing/2014/main" val="1466916649"/>
                  </a:ext>
                </a:extLst>
              </a:tr>
              <a:tr h="523518">
                <a:tc>
                  <a:txBody>
                    <a:bodyPr/>
                    <a:lstStyle/>
                    <a:p>
                      <a:pPr marL="0" marR="0">
                        <a:lnSpc>
                          <a:spcPct val="107000"/>
                        </a:lnSpc>
                        <a:spcBef>
                          <a:spcPts val="0"/>
                        </a:spcBef>
                        <a:spcAft>
                          <a:spcPts val="1800"/>
                        </a:spcAft>
                      </a:pPr>
                      <a:r>
                        <a:rPr lang="en-US" sz="1400">
                          <a:effectLst/>
                        </a:rPr>
                        <a:t>Matt Long</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1400</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25-Apr-92</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a:effectLst/>
                        </a:rPr>
                        <a:t>Dentistry</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a:lnSpc>
                          <a:spcPct val="107000"/>
                        </a:lnSpc>
                      </a:pPr>
                      <a:endParaRPr lang="en-US" sz="1400">
                        <a:effectLst/>
                        <a:latin typeface="Arial" panose="020B0604020202020204" pitchFamily="34" charset="0"/>
                        <a:cs typeface="Arial" panose="020B0604020202020204" pitchFamily="34" charset="0"/>
                      </a:endParaRPr>
                    </a:p>
                  </a:txBody>
                  <a:tcPr marL="46201" marR="46201" marT="46201" marB="46201" anchor="ctr"/>
                </a:tc>
                <a:tc>
                  <a:txBody>
                    <a:bodyPr/>
                    <a:lstStyle/>
                    <a:p>
                      <a:pPr marL="0" marR="0">
                        <a:lnSpc>
                          <a:spcPct val="107000"/>
                        </a:lnSpc>
                        <a:spcBef>
                          <a:spcPts val="0"/>
                        </a:spcBef>
                        <a:spcAft>
                          <a:spcPts val="1800"/>
                        </a:spcAft>
                      </a:pPr>
                      <a:r>
                        <a:rPr lang="en-US" sz="1400" dirty="0">
                          <a:effectLst/>
                        </a:rPr>
                        <a:t>Shane </a:t>
                      </a:r>
                      <a:r>
                        <a:rPr lang="en-US" sz="1400" dirty="0" err="1">
                          <a:effectLst/>
                        </a:rPr>
                        <a:t>Cobson</a:t>
                      </a:r>
                      <a:endParaRPr lang="en-US" sz="1400" dirty="0">
                        <a:effectLst/>
                        <a:latin typeface="Arial" panose="020B0604020202020204" pitchFamily="34" charset="0"/>
                        <a:ea typeface="Calibri" panose="020F0502020204030204" pitchFamily="34" charset="0"/>
                        <a:cs typeface="Arial" panose="020B0604020202020204" pitchFamily="34" charset="0"/>
                      </a:endParaRPr>
                    </a:p>
                  </a:txBody>
                  <a:tcPr marL="46201" marR="46201" marT="46201" marB="46201" anchor="ctr"/>
                </a:tc>
                <a:extLst>
                  <a:ext uri="{0D108BD9-81ED-4DB2-BD59-A6C34878D82A}">
                    <a16:rowId xmlns:a16="http://schemas.microsoft.com/office/drawing/2014/main" val="2228804885"/>
                  </a:ext>
                </a:extLst>
              </a:tr>
            </a:tbl>
          </a:graphicData>
        </a:graphic>
      </p:graphicFrame>
      <p:sp>
        <p:nvSpPr>
          <p:cNvPr id="7" name="TextBox 6">
            <a:extLst>
              <a:ext uri="{FF2B5EF4-FFF2-40B4-BE49-F238E27FC236}">
                <a16:creationId xmlns:a16="http://schemas.microsoft.com/office/drawing/2014/main" id="{34828986-7FBE-619B-9179-AEE98B38AB7F}"/>
              </a:ext>
            </a:extLst>
          </p:cNvPr>
          <p:cNvSpPr txBox="1"/>
          <p:nvPr/>
        </p:nvSpPr>
        <p:spPr>
          <a:xfrm>
            <a:off x="838200" y="4512394"/>
            <a:ext cx="11497595" cy="1431161"/>
          </a:xfrm>
          <a:prstGeom prst="rect">
            <a:avLst/>
          </a:prstGeom>
          <a:noFill/>
        </p:spPr>
        <p:txBody>
          <a:bodyPr wrap="square">
            <a:spAutoFit/>
          </a:bodyPr>
          <a:lstStyle/>
          <a:p>
            <a:pPr marL="0" marR="0" fontAlgn="base">
              <a:spcBef>
                <a:spcPts val="0"/>
              </a:spcBef>
              <a:spcAft>
                <a:spcPts val="600"/>
              </a:spcAft>
            </a:pP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Does the combination of all columns make a unique row every single time?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fontAlgn="base">
              <a:spcBef>
                <a:spcPts val="0"/>
              </a:spcBef>
              <a:spcAft>
                <a:spcPts val="600"/>
              </a:spcAft>
            </a:pP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No. You could have people with the same name, classes etc. – might be rare, but could happen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spcBef>
                <a:spcPts val="0"/>
              </a:spcBef>
              <a:spcAft>
                <a:spcPts val="600"/>
              </a:spcAft>
            </a:pP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What field can be used to uniquely identify the row?</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fontAlgn="base">
              <a:spcBef>
                <a:spcPts val="0"/>
              </a:spcBef>
              <a:spcAft>
                <a:spcPts val="600"/>
              </a:spcAft>
            </a:pP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Is this the student name? No</a:t>
            </a:r>
            <a:r>
              <a:rPr lang="en-US"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Class? No, this isn’t unique either.  So we would need a </a:t>
            </a: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Primary Key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8194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E51BE-A9B1-8C5D-F02F-23B9E319BECE}"/>
              </a:ext>
            </a:extLst>
          </p:cNvPr>
          <p:cNvSpPr>
            <a:spLocks noGrp="1"/>
          </p:cNvSpPr>
          <p:nvPr>
            <p:ph type="title"/>
          </p:nvPr>
        </p:nvSpPr>
        <p:spPr/>
        <p:txBody>
          <a:bodyPr/>
          <a:lstStyle/>
          <a:p>
            <a:r>
              <a:rPr lang="en-US"/>
              <a:t>What can we do?</a:t>
            </a:r>
          </a:p>
        </p:txBody>
      </p:sp>
      <p:sp>
        <p:nvSpPr>
          <p:cNvPr id="3" name="Content Placeholder 2">
            <a:extLst>
              <a:ext uri="{FF2B5EF4-FFF2-40B4-BE49-F238E27FC236}">
                <a16:creationId xmlns:a16="http://schemas.microsoft.com/office/drawing/2014/main" id="{FCACCA83-9E4B-08BD-2B7C-EA5019CE14C0}"/>
              </a:ext>
            </a:extLst>
          </p:cNvPr>
          <p:cNvSpPr>
            <a:spLocks noGrp="1"/>
          </p:cNvSpPr>
          <p:nvPr>
            <p:ph sz="half" idx="1"/>
          </p:nvPr>
        </p:nvSpPr>
        <p:spPr/>
        <p:txBody>
          <a:bodyPr/>
          <a:lstStyle/>
          <a:p>
            <a:r>
              <a:rPr lang="en-US"/>
              <a:t>Use ID as primary key</a:t>
            </a:r>
          </a:p>
        </p:txBody>
      </p:sp>
      <p:graphicFrame>
        <p:nvGraphicFramePr>
          <p:cNvPr id="5" name="Table 4">
            <a:extLst>
              <a:ext uri="{FF2B5EF4-FFF2-40B4-BE49-F238E27FC236}">
                <a16:creationId xmlns:a16="http://schemas.microsoft.com/office/drawing/2014/main" id="{7E85B429-080C-ABAE-3D2D-68220C9A2D6C}"/>
              </a:ext>
            </a:extLst>
          </p:cNvPr>
          <p:cNvGraphicFramePr>
            <a:graphicFrameLocks/>
          </p:cNvGraphicFramePr>
          <p:nvPr>
            <p:extLst>
              <p:ext uri="{D42A27DB-BD31-4B8C-83A1-F6EECF244321}">
                <p14:modId xmlns:p14="http://schemas.microsoft.com/office/powerpoint/2010/main" val="2328291230"/>
              </p:ext>
            </p:extLst>
          </p:nvPr>
        </p:nvGraphicFramePr>
        <p:xfrm>
          <a:off x="5709304" y="1447024"/>
          <a:ext cx="3174688" cy="4079240"/>
        </p:xfrm>
        <a:graphic>
          <a:graphicData uri="http://schemas.openxmlformats.org/drawingml/2006/table">
            <a:tbl>
              <a:tblPr firstRow="1" bandRow="1">
                <a:tableStyleId>{5C22544A-7EE6-4342-B048-85BDC9FD1C3A}</a:tableStyleId>
              </a:tblPr>
              <a:tblGrid>
                <a:gridCol w="1587344">
                  <a:extLst>
                    <a:ext uri="{9D8B030D-6E8A-4147-A177-3AD203B41FA5}">
                      <a16:colId xmlns:a16="http://schemas.microsoft.com/office/drawing/2014/main" val="3781933739"/>
                    </a:ext>
                  </a:extLst>
                </a:gridCol>
                <a:gridCol w="1587344">
                  <a:extLst>
                    <a:ext uri="{9D8B030D-6E8A-4147-A177-3AD203B41FA5}">
                      <a16:colId xmlns:a16="http://schemas.microsoft.com/office/drawing/2014/main" val="3294005437"/>
                    </a:ext>
                  </a:extLst>
                </a:gridCol>
              </a:tblGrid>
              <a:tr h="370840">
                <a:tc>
                  <a:txBody>
                    <a:bodyPr/>
                    <a:lstStyle/>
                    <a:p>
                      <a:endParaRPr lang="en-US"/>
                    </a:p>
                  </a:txBody>
                  <a:tcPr/>
                </a:tc>
                <a:tc>
                  <a:txBody>
                    <a:bodyPr/>
                    <a:lstStyle/>
                    <a:p>
                      <a:endParaRPr lang="en-US"/>
                    </a:p>
                  </a:txBody>
                  <a:tcPr/>
                </a:tc>
                <a:extLst>
                  <a:ext uri="{0D108BD9-81ED-4DB2-BD59-A6C34878D82A}">
                    <a16:rowId xmlns:a16="http://schemas.microsoft.com/office/drawing/2014/main" val="4173634003"/>
                  </a:ext>
                </a:extLst>
              </a:tr>
              <a:tr h="370840">
                <a:tc>
                  <a:txBody>
                    <a:bodyPr/>
                    <a:lstStyle/>
                    <a:p>
                      <a:r>
                        <a:rPr lang="en-US"/>
                        <a:t>PK</a:t>
                      </a:r>
                    </a:p>
                  </a:txBody>
                  <a:tcPr/>
                </a:tc>
                <a:tc>
                  <a:txBody>
                    <a:bodyPr/>
                    <a:lstStyle/>
                    <a:p>
                      <a:r>
                        <a:rPr lang="en-US"/>
                        <a:t>ID</a:t>
                      </a:r>
                    </a:p>
                  </a:txBody>
                  <a:tcPr/>
                </a:tc>
                <a:extLst>
                  <a:ext uri="{0D108BD9-81ED-4DB2-BD59-A6C34878D82A}">
                    <a16:rowId xmlns:a16="http://schemas.microsoft.com/office/drawing/2014/main" val="145429540"/>
                  </a:ext>
                </a:extLst>
              </a:tr>
              <a:tr h="370840">
                <a:tc>
                  <a:txBody>
                    <a:bodyPr/>
                    <a:lstStyle/>
                    <a:p>
                      <a:endParaRPr lang="en-US"/>
                    </a:p>
                  </a:txBody>
                  <a:tcPr/>
                </a:tc>
                <a:tc>
                  <a:txBody>
                    <a:bodyPr/>
                    <a:lstStyle/>
                    <a:p>
                      <a:r>
                        <a:rPr lang="en-US"/>
                        <a:t>Name</a:t>
                      </a:r>
                    </a:p>
                  </a:txBody>
                  <a:tcPr/>
                </a:tc>
                <a:extLst>
                  <a:ext uri="{0D108BD9-81ED-4DB2-BD59-A6C34878D82A}">
                    <a16:rowId xmlns:a16="http://schemas.microsoft.com/office/drawing/2014/main" val="723998727"/>
                  </a:ext>
                </a:extLst>
              </a:tr>
              <a:tr h="370840">
                <a:tc>
                  <a:txBody>
                    <a:bodyPr/>
                    <a:lstStyle/>
                    <a:p>
                      <a:endParaRPr lang="en-US"/>
                    </a:p>
                  </a:txBody>
                  <a:tcPr/>
                </a:tc>
                <a:tc>
                  <a:txBody>
                    <a:bodyPr/>
                    <a:lstStyle/>
                    <a:p>
                      <a:r>
                        <a:rPr lang="en-US"/>
                        <a:t>Fees Paid</a:t>
                      </a:r>
                    </a:p>
                  </a:txBody>
                  <a:tcPr/>
                </a:tc>
                <a:extLst>
                  <a:ext uri="{0D108BD9-81ED-4DB2-BD59-A6C34878D82A}">
                    <a16:rowId xmlns:a16="http://schemas.microsoft.com/office/drawing/2014/main" val="2759761300"/>
                  </a:ext>
                </a:extLst>
              </a:tr>
              <a:tr h="370840">
                <a:tc>
                  <a:txBody>
                    <a:bodyPr/>
                    <a:lstStyle/>
                    <a:p>
                      <a:endParaRPr lang="en-US"/>
                    </a:p>
                  </a:txBody>
                  <a:tcPr/>
                </a:tc>
                <a:tc>
                  <a:txBody>
                    <a:bodyPr/>
                    <a:lstStyle/>
                    <a:p>
                      <a:r>
                        <a:rPr lang="en-US" err="1"/>
                        <a:t>DoB</a:t>
                      </a:r>
                      <a:endParaRPr lang="en-US"/>
                    </a:p>
                  </a:txBody>
                  <a:tcPr/>
                </a:tc>
                <a:extLst>
                  <a:ext uri="{0D108BD9-81ED-4DB2-BD59-A6C34878D82A}">
                    <a16:rowId xmlns:a16="http://schemas.microsoft.com/office/drawing/2014/main" val="2924893325"/>
                  </a:ext>
                </a:extLst>
              </a:tr>
              <a:tr h="370840">
                <a:tc>
                  <a:txBody>
                    <a:bodyPr/>
                    <a:lstStyle/>
                    <a:p>
                      <a:endParaRPr lang="en-US"/>
                    </a:p>
                  </a:txBody>
                  <a:tcPr/>
                </a:tc>
                <a:tc>
                  <a:txBody>
                    <a:bodyPr/>
                    <a:lstStyle/>
                    <a:p>
                      <a:r>
                        <a:rPr lang="en-US"/>
                        <a:t>Program Name</a:t>
                      </a:r>
                    </a:p>
                  </a:txBody>
                  <a:tcPr/>
                </a:tc>
                <a:extLst>
                  <a:ext uri="{0D108BD9-81ED-4DB2-BD59-A6C34878D82A}">
                    <a16:rowId xmlns:a16="http://schemas.microsoft.com/office/drawing/2014/main" val="3288737671"/>
                  </a:ext>
                </a:extLst>
              </a:tr>
              <a:tr h="370840">
                <a:tc>
                  <a:txBody>
                    <a:bodyPr/>
                    <a:lstStyle/>
                    <a:p>
                      <a:endParaRPr lang="en-US"/>
                    </a:p>
                  </a:txBody>
                  <a:tcPr/>
                </a:tc>
                <a:tc>
                  <a:txBody>
                    <a:bodyPr/>
                    <a:lstStyle/>
                    <a:p>
                      <a:r>
                        <a:rPr lang="en-US"/>
                        <a:t>Class 1</a:t>
                      </a:r>
                    </a:p>
                  </a:txBody>
                  <a:tcPr/>
                </a:tc>
                <a:extLst>
                  <a:ext uri="{0D108BD9-81ED-4DB2-BD59-A6C34878D82A}">
                    <a16:rowId xmlns:a16="http://schemas.microsoft.com/office/drawing/2014/main" val="1810273615"/>
                  </a:ext>
                </a:extLst>
              </a:tr>
              <a:tr h="370840">
                <a:tc>
                  <a:txBody>
                    <a:bodyPr/>
                    <a:lstStyle/>
                    <a:p>
                      <a:endParaRPr lang="en-US"/>
                    </a:p>
                  </a:txBody>
                  <a:tcPr/>
                </a:tc>
                <a:tc>
                  <a:txBody>
                    <a:bodyPr/>
                    <a:lstStyle/>
                    <a:p>
                      <a:r>
                        <a:rPr lang="en-US"/>
                        <a:t>Class 2</a:t>
                      </a:r>
                    </a:p>
                  </a:txBody>
                  <a:tcPr/>
                </a:tc>
                <a:extLst>
                  <a:ext uri="{0D108BD9-81ED-4DB2-BD59-A6C34878D82A}">
                    <a16:rowId xmlns:a16="http://schemas.microsoft.com/office/drawing/2014/main" val="1985990173"/>
                  </a:ext>
                </a:extLst>
              </a:tr>
              <a:tr h="370840">
                <a:tc>
                  <a:txBody>
                    <a:bodyPr/>
                    <a:lstStyle/>
                    <a:p>
                      <a:endParaRPr lang="en-US"/>
                    </a:p>
                  </a:txBody>
                  <a:tcPr/>
                </a:tc>
                <a:tc>
                  <a:txBody>
                    <a:bodyPr/>
                    <a:lstStyle/>
                    <a:p>
                      <a:r>
                        <a:rPr lang="en-US"/>
                        <a:t>Class 3</a:t>
                      </a:r>
                    </a:p>
                  </a:txBody>
                  <a:tcPr/>
                </a:tc>
                <a:extLst>
                  <a:ext uri="{0D108BD9-81ED-4DB2-BD59-A6C34878D82A}">
                    <a16:rowId xmlns:a16="http://schemas.microsoft.com/office/drawing/2014/main" val="2841100814"/>
                  </a:ext>
                </a:extLst>
              </a:tr>
              <a:tr h="370840">
                <a:tc>
                  <a:txBody>
                    <a:bodyPr/>
                    <a:lstStyle/>
                    <a:p>
                      <a:endParaRPr lang="en-US"/>
                    </a:p>
                  </a:txBody>
                  <a:tcPr/>
                </a:tc>
                <a:tc>
                  <a:txBody>
                    <a:bodyPr/>
                    <a:lstStyle/>
                    <a:p>
                      <a:r>
                        <a:rPr lang="en-US"/>
                        <a:t>Class 4</a:t>
                      </a:r>
                    </a:p>
                  </a:txBody>
                  <a:tcPr/>
                </a:tc>
                <a:extLst>
                  <a:ext uri="{0D108BD9-81ED-4DB2-BD59-A6C34878D82A}">
                    <a16:rowId xmlns:a16="http://schemas.microsoft.com/office/drawing/2014/main" val="3244992791"/>
                  </a:ext>
                </a:extLst>
              </a:tr>
              <a:tr h="370840">
                <a:tc>
                  <a:txBody>
                    <a:bodyPr/>
                    <a:lstStyle/>
                    <a:p>
                      <a:endParaRPr lang="en-US"/>
                    </a:p>
                  </a:txBody>
                  <a:tcPr/>
                </a:tc>
                <a:tc>
                  <a:txBody>
                    <a:bodyPr/>
                    <a:lstStyle/>
                    <a:p>
                      <a:r>
                        <a:rPr lang="en-US"/>
                        <a:t>Teacher Name</a:t>
                      </a:r>
                    </a:p>
                  </a:txBody>
                  <a:tcPr/>
                </a:tc>
                <a:extLst>
                  <a:ext uri="{0D108BD9-81ED-4DB2-BD59-A6C34878D82A}">
                    <a16:rowId xmlns:a16="http://schemas.microsoft.com/office/drawing/2014/main" val="2579486096"/>
                  </a:ext>
                </a:extLst>
              </a:tr>
            </a:tbl>
          </a:graphicData>
        </a:graphic>
      </p:graphicFrame>
      <p:sp>
        <p:nvSpPr>
          <p:cNvPr id="6" name="TextBox 5">
            <a:extLst>
              <a:ext uri="{FF2B5EF4-FFF2-40B4-BE49-F238E27FC236}">
                <a16:creationId xmlns:a16="http://schemas.microsoft.com/office/drawing/2014/main" id="{4B601D3E-0503-D480-C589-8ADB5FCFA03C}"/>
              </a:ext>
            </a:extLst>
          </p:cNvPr>
          <p:cNvSpPr txBox="1"/>
          <p:nvPr/>
        </p:nvSpPr>
        <p:spPr>
          <a:xfrm>
            <a:off x="9199162" y="2172610"/>
            <a:ext cx="4118138" cy="369332"/>
          </a:xfrm>
          <a:prstGeom prst="rect">
            <a:avLst/>
          </a:prstGeom>
          <a:noFill/>
        </p:spPr>
        <p:txBody>
          <a:bodyPr wrap="square" rtlCol="0">
            <a:spAutoFit/>
          </a:bodyPr>
          <a:lstStyle/>
          <a:p>
            <a:r>
              <a:rPr lang="en-US" b="1"/>
              <a:t>1NF Schema</a:t>
            </a:r>
          </a:p>
        </p:txBody>
      </p:sp>
      <p:sp>
        <p:nvSpPr>
          <p:cNvPr id="7" name="Arrow: Right 5">
            <a:extLst>
              <a:ext uri="{FF2B5EF4-FFF2-40B4-BE49-F238E27FC236}">
                <a16:creationId xmlns:a16="http://schemas.microsoft.com/office/drawing/2014/main" id="{51CB622B-1586-7F00-9148-00DEE88A7979}"/>
              </a:ext>
            </a:extLst>
          </p:cNvPr>
          <p:cNvSpPr/>
          <p:nvPr/>
        </p:nvSpPr>
        <p:spPr>
          <a:xfrm>
            <a:off x="2759819" y="3097330"/>
            <a:ext cx="2309721" cy="15284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Primary Key</a:t>
            </a:r>
          </a:p>
        </p:txBody>
      </p:sp>
    </p:spTree>
    <p:extLst>
      <p:ext uri="{BB962C8B-B14F-4D97-AF65-F5344CB8AC3E}">
        <p14:creationId xmlns:p14="http://schemas.microsoft.com/office/powerpoint/2010/main" val="1383185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CBB20-611A-AAFB-14E2-CDB3AB223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1E4B7-1354-73F2-0FE3-7CB2713F7F2F}"/>
              </a:ext>
            </a:extLst>
          </p:cNvPr>
          <p:cNvSpPr>
            <a:spLocks noGrp="1"/>
          </p:cNvSpPr>
          <p:nvPr>
            <p:ph type="title"/>
          </p:nvPr>
        </p:nvSpPr>
        <p:spPr>
          <a:xfrm>
            <a:off x="838200" y="2664572"/>
            <a:ext cx="10515600" cy="1325563"/>
          </a:xfrm>
        </p:spPr>
        <p:txBody>
          <a:bodyPr/>
          <a:lstStyle/>
          <a:p>
            <a:r>
              <a:rPr lang="en-GB" noProof="0"/>
              <a:t>Questions</a:t>
            </a:r>
          </a:p>
        </p:txBody>
      </p:sp>
    </p:spTree>
    <p:extLst>
      <p:ext uri="{BB962C8B-B14F-4D97-AF65-F5344CB8AC3E}">
        <p14:creationId xmlns:p14="http://schemas.microsoft.com/office/powerpoint/2010/main" val="2141879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174A-B54F-21D7-D23C-93E87E85F197}"/>
            </a:ext>
          </a:extLst>
        </p:cNvPr>
        <p:cNvGrpSpPr/>
        <p:nvPr/>
      </p:nvGrpSpPr>
      <p:grpSpPr>
        <a:xfrm>
          <a:off x="0" y="0"/>
          <a:ext cx="0" cy="0"/>
          <a:chOff x="0" y="0"/>
          <a:chExt cx="0" cy="0"/>
        </a:xfrm>
      </p:grpSpPr>
      <p:pic>
        <p:nvPicPr>
          <p:cNvPr id="4098" name="Picture 2" descr="Normalization in DBMS: 1NF, 2NF, 3NF, and BCNF [Examples]">
            <a:extLst>
              <a:ext uri="{FF2B5EF4-FFF2-40B4-BE49-F238E27FC236}">
                <a16:creationId xmlns:a16="http://schemas.microsoft.com/office/drawing/2014/main" id="{C838358D-C1F3-2EA9-B3BC-74CC53673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311" y="408543"/>
            <a:ext cx="10487377" cy="5899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72B98A6-6026-E022-CC92-F8DBB7D65952}"/>
              </a:ext>
            </a:extLst>
          </p:cNvPr>
          <p:cNvSpPr txBox="1"/>
          <p:nvPr/>
        </p:nvSpPr>
        <p:spPr>
          <a:xfrm>
            <a:off x="3358037" y="6382705"/>
            <a:ext cx="5475923" cy="369332"/>
          </a:xfrm>
          <a:prstGeom prst="rect">
            <a:avLst/>
          </a:prstGeom>
          <a:noFill/>
        </p:spPr>
        <p:txBody>
          <a:bodyPr wrap="none" rtlCol="0">
            <a:spAutoFit/>
          </a:bodyPr>
          <a:lstStyle/>
          <a:p>
            <a:r>
              <a:rPr lang="en-US" dirty="0"/>
              <a:t>Image from </a:t>
            </a:r>
            <a:r>
              <a:rPr lang="en-US" dirty="0">
                <a:hlinkClick r:id="rId3"/>
              </a:rPr>
              <a:t>https://hackr.io/blog/dbms-normalization</a:t>
            </a:r>
            <a:r>
              <a:rPr lang="en-US" dirty="0"/>
              <a:t> </a:t>
            </a:r>
          </a:p>
        </p:txBody>
      </p:sp>
      <p:sp>
        <p:nvSpPr>
          <p:cNvPr id="3" name="Rectangle 2">
            <a:extLst>
              <a:ext uri="{FF2B5EF4-FFF2-40B4-BE49-F238E27FC236}">
                <a16:creationId xmlns:a16="http://schemas.microsoft.com/office/drawing/2014/main" id="{166FE17D-C9C5-B8B6-9E9C-22423D368796}"/>
              </a:ext>
            </a:extLst>
          </p:cNvPr>
          <p:cNvSpPr/>
          <p:nvPr/>
        </p:nvSpPr>
        <p:spPr>
          <a:xfrm>
            <a:off x="3509682" y="1048871"/>
            <a:ext cx="1855694" cy="5123329"/>
          </a:xfrm>
          <a:prstGeom prst="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387633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8A31-F983-2806-AC67-CA7A72B6570C}"/>
              </a:ext>
            </a:extLst>
          </p:cNvPr>
          <p:cNvSpPr>
            <a:spLocks noGrp="1"/>
          </p:cNvSpPr>
          <p:nvPr>
            <p:ph type="title"/>
          </p:nvPr>
        </p:nvSpPr>
        <p:spPr/>
        <p:txBody>
          <a:bodyPr/>
          <a:lstStyle/>
          <a:p>
            <a:r>
              <a:rPr lang="en-GB"/>
              <a:t>Second</a:t>
            </a:r>
            <a:r>
              <a:rPr lang="en-GB" noProof="0"/>
              <a:t> Normal Form – 2 NF</a:t>
            </a:r>
          </a:p>
        </p:txBody>
      </p:sp>
      <p:sp>
        <p:nvSpPr>
          <p:cNvPr id="5" name="Content Placeholder 2">
            <a:extLst>
              <a:ext uri="{FF2B5EF4-FFF2-40B4-BE49-F238E27FC236}">
                <a16:creationId xmlns:a16="http://schemas.microsoft.com/office/drawing/2014/main" id="{D78D6DB1-866A-3BC5-2547-260B78102E11}"/>
              </a:ext>
            </a:extLst>
          </p:cNvPr>
          <p:cNvSpPr>
            <a:spLocks noGrp="1"/>
          </p:cNvSpPr>
          <p:nvPr>
            <p:ph sz="half" idx="1"/>
          </p:nvPr>
        </p:nvSpPr>
        <p:spPr>
          <a:xfrm>
            <a:off x="838200" y="2627312"/>
            <a:ext cx="10515600" cy="1603375"/>
          </a:xfrm>
        </p:spPr>
        <p:txBody>
          <a:bodyPr>
            <a:normAutofit/>
          </a:bodyPr>
          <a:lstStyle/>
          <a:p>
            <a:pPr marL="0" marR="0" indent="0" fontAlgn="base">
              <a:lnSpc>
                <a:spcPct val="107000"/>
              </a:lnSpc>
              <a:spcBef>
                <a:spcPts val="0"/>
              </a:spcBef>
              <a:spcAft>
                <a:spcPts val="1920"/>
              </a:spcAft>
              <a:buNone/>
            </a:pPr>
            <a:r>
              <a:rPr lang="en-US" sz="2200">
                <a:solidFill>
                  <a:srgbClr val="212529"/>
                </a:solidFill>
                <a:effectLst/>
                <a:latin typeface="Arial" panose="020B0604020202020204" pitchFamily="34" charset="0"/>
                <a:ea typeface="Times New Roman" panose="02020603050405020304" pitchFamily="18" charset="0"/>
                <a:cs typeface="Arial" panose="020B0604020202020204" pitchFamily="34" charset="0"/>
              </a:rPr>
              <a:t>The rule of second normal form on a database can be described as:</a:t>
            </a:r>
            <a:endParaRPr lang="en-US" sz="220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fontAlgn="base">
              <a:lnSpc>
                <a:spcPct val="107000"/>
              </a:lnSpc>
              <a:spcBef>
                <a:spcPts val="0"/>
              </a:spcBef>
              <a:spcAft>
                <a:spcPts val="0"/>
              </a:spcAft>
              <a:buFont typeface="+mj-lt"/>
              <a:buAutoNum type="arabicPeriod"/>
              <a:tabLst>
                <a:tab pos="457200" algn="l"/>
              </a:tabLst>
            </a:pPr>
            <a:r>
              <a:rPr lang="en-US" sz="2200">
                <a:solidFill>
                  <a:srgbClr val="212529"/>
                </a:solidFill>
                <a:effectLst/>
                <a:latin typeface="Arial" panose="020B0604020202020204" pitchFamily="34" charset="0"/>
                <a:ea typeface="Times New Roman" panose="02020603050405020304" pitchFamily="18" charset="0"/>
                <a:cs typeface="Arial" panose="020B0604020202020204" pitchFamily="34" charset="0"/>
              </a:rPr>
              <a:t>Fulfil the requirements of first normal form</a:t>
            </a:r>
            <a:endParaRPr lang="en-US" sz="2200">
              <a:solidFill>
                <a:srgbClr val="212529"/>
              </a:solidFill>
              <a:effectLst/>
              <a:latin typeface="Arial" panose="020B0604020202020204" pitchFamily="34" charset="0"/>
              <a:ea typeface="Calibri" panose="020F0502020204030204" pitchFamily="34" charset="0"/>
              <a:cs typeface="Arial" panose="020B0604020202020204" pitchFamily="34" charset="0"/>
            </a:endParaRPr>
          </a:p>
          <a:p>
            <a:pPr marL="342900" marR="0" lvl="0" indent="-342900" fontAlgn="base">
              <a:lnSpc>
                <a:spcPct val="107000"/>
              </a:lnSpc>
              <a:spcBef>
                <a:spcPts val="0"/>
              </a:spcBef>
              <a:spcAft>
                <a:spcPts val="0"/>
              </a:spcAft>
              <a:buFont typeface="+mj-lt"/>
              <a:buAutoNum type="arabicPeriod"/>
              <a:tabLst>
                <a:tab pos="457200" algn="l"/>
              </a:tabLst>
            </a:pPr>
            <a:r>
              <a:rPr lang="en-US" sz="2200">
                <a:solidFill>
                  <a:srgbClr val="212529"/>
                </a:solidFill>
                <a:effectLst/>
                <a:latin typeface="Arial" panose="020B0604020202020204" pitchFamily="34" charset="0"/>
                <a:ea typeface="Times New Roman" panose="02020603050405020304" pitchFamily="18" charset="0"/>
                <a:cs typeface="Arial" panose="020B0604020202020204" pitchFamily="34" charset="0"/>
              </a:rPr>
              <a:t>Each non-key attribute must be functionally dependent on the primary key</a:t>
            </a:r>
          </a:p>
          <a:p>
            <a:pPr marL="0" marR="0" lvl="0" indent="0" fontAlgn="base">
              <a:lnSpc>
                <a:spcPct val="107000"/>
              </a:lnSpc>
              <a:spcBef>
                <a:spcPts val="0"/>
              </a:spcBef>
              <a:spcAft>
                <a:spcPts val="0"/>
              </a:spcAft>
              <a:buNone/>
              <a:tabLst>
                <a:tab pos="457200" algn="l"/>
              </a:tabLst>
            </a:pPr>
            <a:endParaRPr lang="en-US" sz="2200">
              <a:solidFill>
                <a:srgbClr val="212529"/>
              </a:solidFill>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6195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F293-A4CF-9A6B-9EFF-A386C0595F01}"/>
              </a:ext>
            </a:extLst>
          </p:cNvPr>
          <p:cNvSpPr>
            <a:spLocks noGrp="1"/>
          </p:cNvSpPr>
          <p:nvPr>
            <p:ph type="title"/>
          </p:nvPr>
        </p:nvSpPr>
        <p:spPr/>
        <p:txBody>
          <a:bodyPr/>
          <a:lstStyle/>
          <a:p>
            <a:r>
              <a:rPr lang="en-US"/>
              <a:t>Functional Dependency</a:t>
            </a:r>
          </a:p>
        </p:txBody>
      </p:sp>
      <p:sp>
        <p:nvSpPr>
          <p:cNvPr id="3" name="Content Placeholder 2">
            <a:extLst>
              <a:ext uri="{FF2B5EF4-FFF2-40B4-BE49-F238E27FC236}">
                <a16:creationId xmlns:a16="http://schemas.microsoft.com/office/drawing/2014/main" id="{F1C103F9-6028-C1CB-3EB3-6EA08DE17A7C}"/>
              </a:ext>
            </a:extLst>
          </p:cNvPr>
          <p:cNvSpPr>
            <a:spLocks noGrp="1"/>
          </p:cNvSpPr>
          <p:nvPr>
            <p:ph sz="half" idx="1"/>
          </p:nvPr>
        </p:nvSpPr>
        <p:spPr>
          <a:xfrm>
            <a:off x="838200" y="2574084"/>
            <a:ext cx="10515600" cy="2074022"/>
          </a:xfrm>
        </p:spPr>
        <p:txBody>
          <a:bodyPr>
            <a:normAutofit fontScale="92500"/>
          </a:bodyPr>
          <a:lstStyle/>
          <a:p>
            <a:pPr>
              <a:lnSpc>
                <a:spcPct val="150000"/>
              </a:lnSpc>
            </a:pPr>
            <a:r>
              <a:rPr lang="en-GB" sz="2200" dirty="0">
                <a:latin typeface="Arial" panose="020B0604020202020204" pitchFamily="34" charset="0"/>
                <a:cs typeface="Arial" panose="020B0604020202020204" pitchFamily="34" charset="0"/>
              </a:rPr>
              <a:t>Functional dependency is a concept that specifies the </a:t>
            </a:r>
            <a:r>
              <a:rPr lang="en-GB" sz="2200" b="1" dirty="0">
                <a:solidFill>
                  <a:schemeClr val="accent1"/>
                </a:solidFill>
                <a:latin typeface="Arial" panose="020B0604020202020204" pitchFamily="34" charset="0"/>
                <a:cs typeface="Arial" panose="020B0604020202020204" pitchFamily="34" charset="0"/>
              </a:rPr>
              <a:t>relationship between two sets of attributes</a:t>
            </a:r>
            <a:r>
              <a:rPr lang="en-GB" sz="2200" dirty="0">
                <a:latin typeface="Arial" panose="020B0604020202020204" pitchFamily="34" charset="0"/>
                <a:cs typeface="Arial" panose="020B0604020202020204" pitchFamily="34" charset="0"/>
              </a:rPr>
              <a:t> where one attribute determines the value of another attribute.</a:t>
            </a:r>
          </a:p>
          <a:p>
            <a:pPr>
              <a:lnSpc>
                <a:spcPct val="150000"/>
              </a:lnSpc>
            </a:pPr>
            <a:r>
              <a:rPr lang="en-GB" sz="2200" dirty="0">
                <a:latin typeface="Arial" panose="020B0604020202020204" pitchFamily="34" charset="0"/>
                <a:cs typeface="Arial" panose="020B0604020202020204" pitchFamily="34" charset="0"/>
              </a:rPr>
              <a:t> It is denoted as </a:t>
            </a:r>
            <a:r>
              <a:rPr lang="en-GB" sz="2200" b="1" u="sng" dirty="0">
                <a:solidFill>
                  <a:schemeClr val="accent1"/>
                </a:solidFill>
                <a:latin typeface="Arial" panose="020B0604020202020204" pitchFamily="34" charset="0"/>
                <a:cs typeface="Arial" panose="020B0604020202020204" pitchFamily="34" charset="0"/>
              </a:rPr>
              <a:t>X → Y</a:t>
            </a:r>
            <a:r>
              <a:rPr lang="en-GB" sz="2200" dirty="0">
                <a:latin typeface="Arial" panose="020B0604020202020204" pitchFamily="34" charset="0"/>
                <a:cs typeface="Arial" panose="020B0604020202020204" pitchFamily="34" charset="0"/>
              </a:rPr>
              <a:t>, where the attribute set on the left side of the arrow</a:t>
            </a:r>
          </a:p>
          <a:p>
            <a:pPr marL="457200" lvl="1" indent="0">
              <a:lnSpc>
                <a:spcPct val="150000"/>
              </a:lnSpc>
              <a:buNone/>
            </a:pPr>
            <a:r>
              <a:rPr lang="en-GB" sz="2200" dirty="0">
                <a:latin typeface="Arial" panose="020B0604020202020204" pitchFamily="34" charset="0"/>
                <a:cs typeface="Arial" panose="020B0604020202020204" pitchFamily="34" charset="0"/>
              </a:rPr>
              <a:t>X is called </a:t>
            </a:r>
            <a:r>
              <a:rPr lang="en-GB" sz="2200" u="sng" dirty="0">
                <a:solidFill>
                  <a:schemeClr val="accent1"/>
                </a:solidFill>
                <a:latin typeface="Arial" panose="020B0604020202020204" pitchFamily="34" charset="0"/>
                <a:cs typeface="Arial" panose="020B0604020202020204" pitchFamily="34" charset="0"/>
              </a:rPr>
              <a:t>Determinant</a:t>
            </a:r>
            <a:r>
              <a:rPr lang="en-GB" sz="2200" dirty="0">
                <a:latin typeface="Arial" panose="020B0604020202020204" pitchFamily="34" charset="0"/>
                <a:cs typeface="Arial" panose="020B0604020202020204" pitchFamily="34" charset="0"/>
              </a:rPr>
              <a:t>, Y is called the </a:t>
            </a:r>
            <a:r>
              <a:rPr lang="en-GB" sz="2200" u="sng" dirty="0">
                <a:solidFill>
                  <a:schemeClr val="accent1"/>
                </a:solidFill>
                <a:latin typeface="Arial" panose="020B0604020202020204" pitchFamily="34" charset="0"/>
                <a:cs typeface="Arial" panose="020B0604020202020204" pitchFamily="34" charset="0"/>
              </a:rPr>
              <a:t>Dependent</a:t>
            </a:r>
            <a:r>
              <a:rPr lang="en-GB" sz="2200" dirty="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5308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F991D-F8F7-FD9A-30A0-95B96BADDBAC}"/>
              </a:ext>
            </a:extLst>
          </p:cNvPr>
          <p:cNvSpPr>
            <a:spLocks noGrp="1"/>
          </p:cNvSpPr>
          <p:nvPr>
            <p:ph type="title"/>
          </p:nvPr>
        </p:nvSpPr>
        <p:spPr>
          <a:xfrm>
            <a:off x="838200" y="227771"/>
            <a:ext cx="10515600" cy="1325563"/>
          </a:xfrm>
        </p:spPr>
        <p:txBody>
          <a:bodyPr/>
          <a:lstStyle/>
          <a:p>
            <a:r>
              <a:rPr lang="en-US" dirty="0"/>
              <a:t>Functional Dependency Example</a:t>
            </a:r>
          </a:p>
        </p:txBody>
      </p:sp>
      <p:sp>
        <p:nvSpPr>
          <p:cNvPr id="6" name="TextBox 5">
            <a:extLst>
              <a:ext uri="{FF2B5EF4-FFF2-40B4-BE49-F238E27FC236}">
                <a16:creationId xmlns:a16="http://schemas.microsoft.com/office/drawing/2014/main" id="{D30E1557-B6E9-4754-8460-BA0243708473}"/>
              </a:ext>
            </a:extLst>
          </p:cNvPr>
          <p:cNvSpPr txBox="1"/>
          <p:nvPr/>
        </p:nvSpPr>
        <p:spPr>
          <a:xfrm>
            <a:off x="667869" y="3862007"/>
            <a:ext cx="11187953" cy="369332"/>
          </a:xfrm>
          <a:prstGeom prst="rect">
            <a:avLst/>
          </a:prstGeom>
          <a:noFill/>
        </p:spPr>
        <p:txBody>
          <a:bodyPr wrap="square">
            <a:spAutoFit/>
          </a:bodyPr>
          <a:lstStyle/>
          <a:p>
            <a:pPr marL="0" marR="0" fontAlgn="base">
              <a:spcBef>
                <a:spcPts val="0"/>
              </a:spcBef>
              <a:spcAft>
                <a:spcPts val="600"/>
              </a:spcAft>
            </a:pPr>
            <a:r>
              <a:rPr lang="en-US" dirty="0">
                <a:solidFill>
                  <a:srgbClr val="212529"/>
                </a:solidFill>
                <a:effectLst/>
                <a:latin typeface="Arial" panose="020B0604020202020204" pitchFamily="34" charset="0"/>
                <a:ea typeface="Times New Roman" panose="02020603050405020304" pitchFamily="18" charset="0"/>
                <a:cs typeface="Arial" panose="020B0604020202020204" pitchFamily="34" charset="0"/>
              </a:rPr>
              <a:t>The primary key is student ID, which represents the student. Let’s look at each column:</a:t>
            </a:r>
            <a:endParaRPr lang="en-US" dirty="0">
              <a:effectLst/>
              <a:latin typeface="Arial" panose="020B060402020202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07C6C364-BEFC-9085-59E7-35B577464F2B}"/>
              </a:ext>
            </a:extLst>
          </p:cNvPr>
          <p:cNvSpPr txBox="1"/>
          <p:nvPr/>
        </p:nvSpPr>
        <p:spPr>
          <a:xfrm>
            <a:off x="941294" y="4222021"/>
            <a:ext cx="1959767" cy="2031325"/>
          </a:xfrm>
          <a:prstGeom prst="rect">
            <a:avLst/>
          </a:prstGeom>
          <a:noFill/>
        </p:spPr>
        <p:txBody>
          <a:bodyPr wrap="none" rtlCol="0">
            <a:spAutoFit/>
          </a:bodyPr>
          <a:lstStyle/>
          <a:p>
            <a:pPr marL="285750" indent="-285750">
              <a:buFont typeface="Arial" panose="020B0604020202020204" pitchFamily="34" charset="0"/>
              <a:buChar char="•"/>
            </a:pPr>
            <a:r>
              <a:rPr lang="en-US" dirty="0"/>
              <a:t>Student Name</a:t>
            </a:r>
          </a:p>
          <a:p>
            <a:pPr marL="285750" indent="-285750">
              <a:buFont typeface="Arial" panose="020B0604020202020204" pitchFamily="34" charset="0"/>
              <a:buChar char="•"/>
            </a:pPr>
            <a:r>
              <a:rPr lang="en-US" dirty="0"/>
              <a:t>Fees Paid</a:t>
            </a:r>
          </a:p>
          <a:p>
            <a:pPr marL="285750" indent="-285750">
              <a:buFont typeface="Arial" panose="020B0604020202020204" pitchFamily="34" charset="0"/>
              <a:buChar char="•"/>
            </a:pPr>
            <a:r>
              <a:rPr lang="en-US" dirty="0"/>
              <a:t>Program Name</a:t>
            </a:r>
          </a:p>
          <a:p>
            <a:pPr marL="285750" indent="-285750">
              <a:buFont typeface="Arial" panose="020B0604020202020204" pitchFamily="34" charset="0"/>
              <a:buChar char="•"/>
            </a:pPr>
            <a:r>
              <a:rPr lang="en-US" dirty="0"/>
              <a:t>Class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Class 2</a:t>
            </a:r>
          </a:p>
          <a:p>
            <a:pPr marL="285750" indent="-285750">
              <a:buFont typeface="Arial" panose="020B0604020202020204" pitchFamily="34" charset="0"/>
              <a:buChar char="•"/>
            </a:pPr>
            <a:r>
              <a:rPr lang="en-US" dirty="0"/>
              <a:t>Class 3</a:t>
            </a:r>
          </a:p>
        </p:txBody>
      </p:sp>
      <p:sp>
        <p:nvSpPr>
          <p:cNvPr id="8" name="TextBox 7">
            <a:extLst>
              <a:ext uri="{FF2B5EF4-FFF2-40B4-BE49-F238E27FC236}">
                <a16:creationId xmlns:a16="http://schemas.microsoft.com/office/drawing/2014/main" id="{5912DAC6-33CC-7740-C16C-C3BBDC0A0FD4}"/>
              </a:ext>
            </a:extLst>
          </p:cNvPr>
          <p:cNvSpPr txBox="1"/>
          <p:nvPr/>
        </p:nvSpPr>
        <p:spPr>
          <a:xfrm>
            <a:off x="2715097" y="4231339"/>
            <a:ext cx="8959245" cy="338554"/>
          </a:xfrm>
          <a:prstGeom prst="rect">
            <a:avLst/>
          </a:prstGeom>
          <a:noFill/>
        </p:spPr>
        <p:txBody>
          <a:bodyPr wrap="square" rtlCol="0">
            <a:spAutoFit/>
          </a:bodyPr>
          <a:lstStyle/>
          <a:p>
            <a:r>
              <a:rPr lang="en-US" sz="1600" dirty="0">
                <a:solidFill>
                  <a:schemeClr val="accent1"/>
                </a:solidFill>
                <a:latin typeface="Arial" panose="020B0604020202020204" pitchFamily="34" charset="0"/>
                <a:ea typeface="Times New Roman" panose="02020603050405020304" pitchFamily="18" charset="0"/>
                <a:cs typeface="Arial" panose="020B0604020202020204" pitchFamily="34" charset="0"/>
              </a:rPr>
              <a:t>Yes, this is dependent on the primary key. A different student ID means a different student name.</a:t>
            </a:r>
            <a:endParaRPr lang="en-US" sz="1600" dirty="0">
              <a:solidFill>
                <a:schemeClr val="accent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42E025A7-A0C4-4E92-135A-F306527BEC8A}"/>
              </a:ext>
            </a:extLst>
          </p:cNvPr>
          <p:cNvSpPr txBox="1"/>
          <p:nvPr/>
        </p:nvSpPr>
        <p:spPr>
          <a:xfrm>
            <a:off x="2209345" y="4529970"/>
            <a:ext cx="7931530" cy="338554"/>
          </a:xfrm>
          <a:prstGeom prst="rect">
            <a:avLst/>
          </a:prstGeom>
          <a:noFill/>
        </p:spPr>
        <p:txBody>
          <a:bodyPr wrap="none" rtlCol="0">
            <a:spAutoFit/>
          </a:bodyPr>
          <a:lstStyle/>
          <a:p>
            <a:r>
              <a:rPr lang="en-US" sz="1600" dirty="0">
                <a:solidFill>
                  <a:schemeClr val="accent1"/>
                </a:solidFill>
                <a:latin typeface="Arial" panose="020B0604020202020204" pitchFamily="34" charset="0"/>
                <a:ea typeface="Times New Roman" panose="02020603050405020304" pitchFamily="18" charset="0"/>
                <a:cs typeface="Arial" panose="020B0604020202020204" pitchFamily="34" charset="0"/>
              </a:rPr>
              <a:t>Yes, this is dependent on the primary key. Each fees paid value is for a single student.</a:t>
            </a:r>
            <a:endParaRPr lang="en-US" sz="1600" dirty="0">
              <a:solidFill>
                <a:schemeClr val="accent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9BA3D8F-9C56-10B4-550F-F26E02806CD0}"/>
              </a:ext>
            </a:extLst>
          </p:cNvPr>
          <p:cNvSpPr txBox="1"/>
          <p:nvPr/>
        </p:nvSpPr>
        <p:spPr>
          <a:xfrm>
            <a:off x="2715097" y="4803092"/>
            <a:ext cx="5346335" cy="338554"/>
          </a:xfrm>
          <a:prstGeom prst="rect">
            <a:avLst/>
          </a:prstGeom>
          <a:noFill/>
        </p:spPr>
        <p:txBody>
          <a:bodyPr wrap="none" rtlCol="0">
            <a:spAutoFit/>
          </a:bodyPr>
          <a:lstStyle/>
          <a:p>
            <a:r>
              <a:rPr lang="en-US" sz="1600" dirty="0">
                <a:solidFill>
                  <a:schemeClr val="accent1"/>
                </a:solidFill>
                <a:latin typeface="Arial" panose="020B0604020202020204" pitchFamily="34" charset="0"/>
                <a:ea typeface="Times New Roman" panose="02020603050405020304" pitchFamily="18" charset="0"/>
                <a:cs typeface="Arial" panose="020B0604020202020204" pitchFamily="34" charset="0"/>
              </a:rPr>
              <a:t>No, the program name is not dependent on the student.</a:t>
            </a:r>
            <a:endParaRPr lang="en-US" sz="1600" dirty="0">
              <a:solidFill>
                <a:schemeClr val="accent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E959B18-1B47-4F4F-45E1-551E07BADE7A}"/>
              </a:ext>
            </a:extLst>
          </p:cNvPr>
          <p:cNvSpPr txBox="1"/>
          <p:nvPr/>
        </p:nvSpPr>
        <p:spPr>
          <a:xfrm>
            <a:off x="1925618" y="5101723"/>
            <a:ext cx="8089750" cy="584775"/>
          </a:xfrm>
          <a:prstGeom prst="rect">
            <a:avLst/>
          </a:prstGeom>
          <a:noFill/>
        </p:spPr>
        <p:txBody>
          <a:bodyPr wrap="square" rtlCol="0">
            <a:spAutoFit/>
          </a:bodyPr>
          <a:lstStyle/>
          <a:p>
            <a:r>
              <a:rPr lang="en-US" sz="1600" dirty="0">
                <a:solidFill>
                  <a:schemeClr val="accent1"/>
                </a:solidFill>
                <a:latin typeface="Arial" panose="020B0604020202020204" pitchFamily="34" charset="0"/>
                <a:ea typeface="Times New Roman" panose="02020603050405020304" pitchFamily="18" charset="0"/>
                <a:cs typeface="Arial" panose="020B0604020202020204" pitchFamily="34" charset="0"/>
              </a:rPr>
              <a:t>No, this column is not dependent on the student. More than one student can be enrolled in one class.  If the class is removed, the student stays etc.</a:t>
            </a:r>
            <a:endParaRPr lang="en-US" sz="1600" dirty="0">
              <a:solidFill>
                <a:schemeClr val="accent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0B20EB06-C16A-D374-037B-856E698303AB}"/>
              </a:ext>
            </a:extLst>
          </p:cNvPr>
          <p:cNvSpPr txBox="1"/>
          <p:nvPr/>
        </p:nvSpPr>
        <p:spPr>
          <a:xfrm>
            <a:off x="1954650" y="5707958"/>
            <a:ext cx="4015843" cy="338554"/>
          </a:xfrm>
          <a:prstGeom prst="rect">
            <a:avLst/>
          </a:prstGeom>
          <a:noFill/>
        </p:spPr>
        <p:txBody>
          <a:bodyPr wrap="none" rtlCol="0">
            <a:spAutoFit/>
          </a:bodyPr>
          <a:lstStyle/>
          <a:p>
            <a:r>
              <a:rPr lang="en-US" sz="1600" dirty="0">
                <a:solidFill>
                  <a:schemeClr val="accent1"/>
                </a:solidFill>
                <a:latin typeface="Arial" panose="020B0604020202020204" pitchFamily="34" charset="0"/>
                <a:ea typeface="Times New Roman" panose="02020603050405020304" pitchFamily="18" charset="0"/>
                <a:cs typeface="Arial" panose="020B0604020202020204" pitchFamily="34" charset="0"/>
              </a:rPr>
              <a:t>As above, more than one class is allowed.</a:t>
            </a:r>
            <a:endParaRPr lang="en-US" sz="1600" dirty="0">
              <a:solidFill>
                <a:schemeClr val="accent1"/>
              </a:solidFill>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13" name="Table 12">
            <a:extLst>
              <a:ext uri="{FF2B5EF4-FFF2-40B4-BE49-F238E27FC236}">
                <a16:creationId xmlns:a16="http://schemas.microsoft.com/office/drawing/2014/main" id="{57427BFF-1B5C-26E8-44FC-EDC6EB693E0E}"/>
              </a:ext>
            </a:extLst>
          </p:cNvPr>
          <p:cNvGraphicFramePr>
            <a:graphicFrameLocks noGrp="1"/>
          </p:cNvGraphicFramePr>
          <p:nvPr>
            <p:extLst>
              <p:ext uri="{D42A27DB-BD31-4B8C-83A1-F6EECF244321}">
                <p14:modId xmlns:p14="http://schemas.microsoft.com/office/powerpoint/2010/main" val="741019967"/>
              </p:ext>
            </p:extLst>
          </p:nvPr>
        </p:nvGraphicFramePr>
        <p:xfrm>
          <a:off x="941294" y="1337328"/>
          <a:ext cx="10058398" cy="2468691"/>
        </p:xfrm>
        <a:graphic>
          <a:graphicData uri="http://schemas.openxmlformats.org/drawingml/2006/table">
            <a:tbl>
              <a:tblPr firstRow="1" firstCol="1" bandRow="1">
                <a:tableStyleId>{5C22544A-7EE6-4342-B048-85BDC9FD1C3A}</a:tableStyleId>
              </a:tblPr>
              <a:tblGrid>
                <a:gridCol w="824960">
                  <a:extLst>
                    <a:ext uri="{9D8B030D-6E8A-4147-A177-3AD203B41FA5}">
                      <a16:colId xmlns:a16="http://schemas.microsoft.com/office/drawing/2014/main" val="3284696212"/>
                    </a:ext>
                  </a:extLst>
                </a:gridCol>
                <a:gridCol w="1455031">
                  <a:extLst>
                    <a:ext uri="{9D8B030D-6E8A-4147-A177-3AD203B41FA5}">
                      <a16:colId xmlns:a16="http://schemas.microsoft.com/office/drawing/2014/main" val="2893453708"/>
                    </a:ext>
                  </a:extLst>
                </a:gridCol>
                <a:gridCol w="1208076">
                  <a:extLst>
                    <a:ext uri="{9D8B030D-6E8A-4147-A177-3AD203B41FA5}">
                      <a16:colId xmlns:a16="http://schemas.microsoft.com/office/drawing/2014/main" val="2691879750"/>
                    </a:ext>
                  </a:extLst>
                </a:gridCol>
                <a:gridCol w="2259589">
                  <a:extLst>
                    <a:ext uri="{9D8B030D-6E8A-4147-A177-3AD203B41FA5}">
                      <a16:colId xmlns:a16="http://schemas.microsoft.com/office/drawing/2014/main" val="2854855451"/>
                    </a:ext>
                  </a:extLst>
                </a:gridCol>
                <a:gridCol w="1436914">
                  <a:extLst>
                    <a:ext uri="{9D8B030D-6E8A-4147-A177-3AD203B41FA5}">
                      <a16:colId xmlns:a16="http://schemas.microsoft.com/office/drawing/2014/main" val="202677306"/>
                    </a:ext>
                  </a:extLst>
                </a:gridCol>
                <a:gridCol w="1436914">
                  <a:extLst>
                    <a:ext uri="{9D8B030D-6E8A-4147-A177-3AD203B41FA5}">
                      <a16:colId xmlns:a16="http://schemas.microsoft.com/office/drawing/2014/main" val="3220100862"/>
                    </a:ext>
                  </a:extLst>
                </a:gridCol>
                <a:gridCol w="1436914">
                  <a:extLst>
                    <a:ext uri="{9D8B030D-6E8A-4147-A177-3AD203B41FA5}">
                      <a16:colId xmlns:a16="http://schemas.microsoft.com/office/drawing/2014/main" val="3908029904"/>
                    </a:ext>
                  </a:extLst>
                </a:gridCol>
              </a:tblGrid>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Student 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dirty="0">
                          <a:effectLst/>
                          <a:latin typeface="Arial" panose="020B0604020202020204" pitchFamily="34" charset="0"/>
                          <a:cs typeface="Arial" panose="020B0604020202020204" pitchFamily="34" charset="0"/>
                        </a:rPr>
                        <a:t>Student Name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Fees Paid</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 Name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Class 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29086813"/>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John Smith</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36307149"/>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Maria Griffin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500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Computer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Business Intro</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Programming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484856787"/>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Susan Johnson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400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Medicine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898396646"/>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Matt Long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850</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Dentistry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a:effectLst/>
                        <a:latin typeface="Arial" panose="020B0604020202020204" pitchFamily="34" charset="0"/>
                        <a:cs typeface="Arial" panose="020B0604020202020204" pitchFamily="34" charset="0"/>
                      </a:endParaRPr>
                    </a:p>
                  </a:txBody>
                  <a:tcPr marL="47625" marR="47625" marT="47625" marB="47625" anchor="ctr"/>
                </a:tc>
                <a:tc>
                  <a:txBody>
                    <a:bodyPr/>
                    <a:lstStyle/>
                    <a:p>
                      <a:pPr>
                        <a:lnSpc>
                          <a:spcPct val="107000"/>
                        </a:lnSpc>
                      </a:pPr>
                      <a:endParaRPr lang="en-US" sz="1600" dirty="0">
                        <a:effectLst/>
                        <a:latin typeface="Arial" panose="020B060402020202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05073605"/>
                  </a:ext>
                </a:extLst>
              </a:tr>
            </a:tbl>
          </a:graphicData>
        </a:graphic>
      </p:graphicFrame>
    </p:spTree>
    <p:extLst>
      <p:ext uri="{BB962C8B-B14F-4D97-AF65-F5344CB8AC3E}">
        <p14:creationId xmlns:p14="http://schemas.microsoft.com/office/powerpoint/2010/main" val="191572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4498D-CD30-A39B-AFA3-42A59D817A4E}"/>
              </a:ext>
            </a:extLst>
          </p:cNvPr>
          <p:cNvSpPr>
            <a:spLocks noGrp="1"/>
          </p:cNvSpPr>
          <p:nvPr>
            <p:ph type="title"/>
          </p:nvPr>
        </p:nvSpPr>
        <p:spPr/>
        <p:txBody>
          <a:bodyPr/>
          <a:lstStyle/>
          <a:p>
            <a:r>
              <a:rPr lang="en-GB" noProof="0"/>
              <a:t>2 NF Example</a:t>
            </a:r>
          </a:p>
        </p:txBody>
      </p:sp>
      <p:graphicFrame>
        <p:nvGraphicFramePr>
          <p:cNvPr id="5" name="Table 4">
            <a:extLst>
              <a:ext uri="{FF2B5EF4-FFF2-40B4-BE49-F238E27FC236}">
                <a16:creationId xmlns:a16="http://schemas.microsoft.com/office/drawing/2014/main" id="{A2A890EA-D19E-52ED-90E7-0D5EE4D99132}"/>
              </a:ext>
            </a:extLst>
          </p:cNvPr>
          <p:cNvGraphicFramePr>
            <a:graphicFrameLocks noGrp="1"/>
          </p:cNvGraphicFramePr>
          <p:nvPr>
            <p:extLst>
              <p:ext uri="{D42A27DB-BD31-4B8C-83A1-F6EECF244321}">
                <p14:modId xmlns:p14="http://schemas.microsoft.com/office/powerpoint/2010/main" val="1259981283"/>
              </p:ext>
            </p:extLst>
          </p:nvPr>
        </p:nvGraphicFramePr>
        <p:xfrm>
          <a:off x="633996" y="1999001"/>
          <a:ext cx="4650697" cy="3741027"/>
        </p:xfrm>
        <a:graphic>
          <a:graphicData uri="http://schemas.openxmlformats.org/drawingml/2006/table">
            <a:tbl>
              <a:tblPr firstRow="1" firstCol="1" bandRow="1">
                <a:tableStyleId>{5C22544A-7EE6-4342-B048-85BDC9FD1C3A}</a:tableStyleId>
              </a:tblPr>
              <a:tblGrid>
                <a:gridCol w="1062672">
                  <a:extLst>
                    <a:ext uri="{9D8B030D-6E8A-4147-A177-3AD203B41FA5}">
                      <a16:colId xmlns:a16="http://schemas.microsoft.com/office/drawing/2014/main" val="1156842696"/>
                    </a:ext>
                  </a:extLst>
                </a:gridCol>
                <a:gridCol w="1315508">
                  <a:extLst>
                    <a:ext uri="{9D8B030D-6E8A-4147-A177-3AD203B41FA5}">
                      <a16:colId xmlns:a16="http://schemas.microsoft.com/office/drawing/2014/main" val="3727685985"/>
                    </a:ext>
                  </a:extLst>
                </a:gridCol>
                <a:gridCol w="1060785">
                  <a:extLst>
                    <a:ext uri="{9D8B030D-6E8A-4147-A177-3AD203B41FA5}">
                      <a16:colId xmlns:a16="http://schemas.microsoft.com/office/drawing/2014/main" val="2292432956"/>
                    </a:ext>
                  </a:extLst>
                </a:gridCol>
                <a:gridCol w="1211732">
                  <a:extLst>
                    <a:ext uri="{9D8B030D-6E8A-4147-A177-3AD203B41FA5}">
                      <a16:colId xmlns:a16="http://schemas.microsoft.com/office/drawing/2014/main" val="6088898"/>
                    </a:ext>
                  </a:extLst>
                </a:gridCol>
              </a:tblGrid>
              <a:tr h="633183">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student ID</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student name</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fees paid</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date of birth</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2408258778"/>
                  </a:ext>
                </a:extLst>
              </a:tr>
              <a:tr h="776961">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John Smith</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04-Aug-91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3561651801"/>
                  </a:ext>
                </a:extLst>
              </a:tr>
              <a:tr h="776961">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Maria Griffin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400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10-Sep-92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816326382"/>
                  </a:ext>
                </a:extLst>
              </a:tr>
              <a:tr h="776961">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3</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Susan Johnson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800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13-Jan-91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1558084647"/>
                  </a:ext>
                </a:extLst>
              </a:tr>
              <a:tr h="776961">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4</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Matt Long</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600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25-Apr-92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1455951646"/>
                  </a:ext>
                </a:extLst>
              </a:tr>
            </a:tbl>
          </a:graphicData>
        </a:graphic>
      </p:graphicFrame>
      <p:graphicFrame>
        <p:nvGraphicFramePr>
          <p:cNvPr id="6" name="Table 5">
            <a:extLst>
              <a:ext uri="{FF2B5EF4-FFF2-40B4-BE49-F238E27FC236}">
                <a16:creationId xmlns:a16="http://schemas.microsoft.com/office/drawing/2014/main" id="{09B3D545-3A51-EBC2-FEA7-5566A6667352}"/>
              </a:ext>
            </a:extLst>
          </p:cNvPr>
          <p:cNvGraphicFramePr>
            <a:graphicFrameLocks noGrp="1"/>
          </p:cNvGraphicFramePr>
          <p:nvPr>
            <p:extLst>
              <p:ext uri="{D42A27DB-BD31-4B8C-83A1-F6EECF244321}">
                <p14:modId xmlns:p14="http://schemas.microsoft.com/office/powerpoint/2010/main" val="1910372119"/>
              </p:ext>
            </p:extLst>
          </p:nvPr>
        </p:nvGraphicFramePr>
        <p:xfrm>
          <a:off x="6790244" y="2816239"/>
          <a:ext cx="3191956" cy="1348740"/>
        </p:xfrm>
        <a:graphic>
          <a:graphicData uri="http://schemas.openxmlformats.org/drawingml/2006/table">
            <a:tbl>
              <a:tblPr firstRow="1" firstCol="1" bandRow="1">
                <a:tableStyleId>{5C22544A-7EE6-4342-B048-85BDC9FD1C3A}</a:tableStyleId>
              </a:tblPr>
              <a:tblGrid>
                <a:gridCol w="1595978">
                  <a:extLst>
                    <a:ext uri="{9D8B030D-6E8A-4147-A177-3AD203B41FA5}">
                      <a16:colId xmlns:a16="http://schemas.microsoft.com/office/drawing/2014/main" val="3887886098"/>
                    </a:ext>
                  </a:extLst>
                </a:gridCol>
                <a:gridCol w="1595978">
                  <a:extLst>
                    <a:ext uri="{9D8B030D-6E8A-4147-A177-3AD203B41FA5}">
                      <a16:colId xmlns:a16="http://schemas.microsoft.com/office/drawing/2014/main" val="3496301047"/>
                    </a:ext>
                  </a:extLst>
                </a:gridCol>
              </a:tblGrid>
              <a:tr h="0">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teacher ID</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teacher name</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773497057"/>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James Peterson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15581470"/>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Sarah Francis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93053414"/>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Shane </a:t>
                      </a:r>
                      <a:r>
                        <a:rPr lang="en-US" sz="1600" err="1">
                          <a:effectLst/>
                          <a:latin typeface="Arial" panose="020B0604020202020204" pitchFamily="34" charset="0"/>
                          <a:cs typeface="Arial" panose="020B0604020202020204" pitchFamily="34" charset="0"/>
                        </a:rPr>
                        <a:t>Cobson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96660153"/>
                  </a:ext>
                </a:extLst>
              </a:tr>
            </a:tbl>
          </a:graphicData>
        </a:graphic>
      </p:graphicFrame>
      <p:graphicFrame>
        <p:nvGraphicFramePr>
          <p:cNvPr id="7" name="Table 6">
            <a:extLst>
              <a:ext uri="{FF2B5EF4-FFF2-40B4-BE49-F238E27FC236}">
                <a16:creationId xmlns:a16="http://schemas.microsoft.com/office/drawing/2014/main" id="{F254114D-4CBC-A38B-DDCC-B033E9DA47C9}"/>
              </a:ext>
            </a:extLst>
          </p:cNvPr>
          <p:cNvGraphicFramePr>
            <a:graphicFrameLocks noGrp="1"/>
          </p:cNvGraphicFramePr>
          <p:nvPr>
            <p:extLst>
              <p:ext uri="{D42A27DB-BD31-4B8C-83A1-F6EECF244321}">
                <p14:modId xmlns:p14="http://schemas.microsoft.com/office/powerpoint/2010/main" val="3149655415"/>
              </p:ext>
            </p:extLst>
          </p:nvPr>
        </p:nvGraphicFramePr>
        <p:xfrm>
          <a:off x="7253460" y="365125"/>
          <a:ext cx="3683314" cy="2023110"/>
        </p:xfrm>
        <a:graphic>
          <a:graphicData uri="http://schemas.openxmlformats.org/drawingml/2006/table">
            <a:tbl>
              <a:tblPr firstRow="1" firstCol="1" bandRow="1">
                <a:tableStyleId>{5C22544A-7EE6-4342-B048-85BDC9FD1C3A}</a:tableStyleId>
              </a:tblPr>
              <a:tblGrid>
                <a:gridCol w="1148007">
                  <a:extLst>
                    <a:ext uri="{9D8B030D-6E8A-4147-A177-3AD203B41FA5}">
                      <a16:colId xmlns:a16="http://schemas.microsoft.com/office/drawing/2014/main" val="2058444653"/>
                    </a:ext>
                  </a:extLst>
                </a:gridCol>
                <a:gridCol w="2535307">
                  <a:extLst>
                    <a:ext uri="{9D8B030D-6E8A-4147-A177-3AD203B41FA5}">
                      <a16:colId xmlns:a16="http://schemas.microsoft.com/office/drawing/2014/main" val="473716951"/>
                    </a:ext>
                  </a:extLst>
                </a:gridCol>
              </a:tblGrid>
              <a:tr h="0">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class ID</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class name</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778340356"/>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 1 (Business)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073473317"/>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59630044"/>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Business Intro (Business)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144521438"/>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Programming 2 (IT)</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8287833"/>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5</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2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4030218897"/>
                  </a:ext>
                </a:extLst>
              </a:tr>
            </a:tbl>
          </a:graphicData>
        </a:graphic>
      </p:graphicFrame>
      <p:graphicFrame>
        <p:nvGraphicFramePr>
          <p:cNvPr id="8" name="Table 7">
            <a:extLst>
              <a:ext uri="{FF2B5EF4-FFF2-40B4-BE49-F238E27FC236}">
                <a16:creationId xmlns:a16="http://schemas.microsoft.com/office/drawing/2014/main" id="{2CA41778-4DE5-19C8-3081-508B02B1B7C3}"/>
              </a:ext>
            </a:extLst>
          </p:cNvPr>
          <p:cNvGraphicFramePr>
            <a:graphicFrameLocks noGrp="1"/>
          </p:cNvGraphicFramePr>
          <p:nvPr>
            <p:extLst>
              <p:ext uri="{D42A27DB-BD31-4B8C-83A1-F6EECF244321}">
                <p14:modId xmlns:p14="http://schemas.microsoft.com/office/powerpoint/2010/main" val="4162945205"/>
              </p:ext>
            </p:extLst>
          </p:nvPr>
        </p:nvGraphicFramePr>
        <p:xfrm>
          <a:off x="6096000" y="4579606"/>
          <a:ext cx="3197654" cy="1899890"/>
        </p:xfrm>
        <a:graphic>
          <a:graphicData uri="http://schemas.openxmlformats.org/drawingml/2006/table">
            <a:tbl>
              <a:tblPr firstRow="1" firstCol="1" bandRow="1">
                <a:tableStyleId>{5C22544A-7EE6-4342-B048-85BDC9FD1C3A}</a:tableStyleId>
              </a:tblPr>
              <a:tblGrid>
                <a:gridCol w="1194042">
                  <a:extLst>
                    <a:ext uri="{9D8B030D-6E8A-4147-A177-3AD203B41FA5}">
                      <a16:colId xmlns:a16="http://schemas.microsoft.com/office/drawing/2014/main" val="1652016192"/>
                    </a:ext>
                  </a:extLst>
                </a:gridCol>
                <a:gridCol w="2003612">
                  <a:extLst>
                    <a:ext uri="{9D8B030D-6E8A-4147-A177-3AD203B41FA5}">
                      <a16:colId xmlns:a16="http://schemas.microsoft.com/office/drawing/2014/main" val="433832638"/>
                    </a:ext>
                  </a:extLst>
                </a:gridCol>
              </a:tblGrid>
              <a:tr h="542842">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program ID</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program name</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436826834"/>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Computer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134497170"/>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Dentistry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090603692"/>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675680401"/>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Medicine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003306371"/>
                  </a:ext>
                </a:extLst>
              </a:tr>
            </a:tbl>
          </a:graphicData>
        </a:graphic>
      </p:graphicFrame>
      <p:sp>
        <p:nvSpPr>
          <p:cNvPr id="9" name="TextBox 8">
            <a:extLst>
              <a:ext uri="{FF2B5EF4-FFF2-40B4-BE49-F238E27FC236}">
                <a16:creationId xmlns:a16="http://schemas.microsoft.com/office/drawing/2014/main" id="{825B2549-6470-31DF-58FF-28E31E7EEA68}"/>
              </a:ext>
            </a:extLst>
          </p:cNvPr>
          <p:cNvSpPr txBox="1"/>
          <p:nvPr/>
        </p:nvSpPr>
        <p:spPr>
          <a:xfrm>
            <a:off x="456088" y="5959796"/>
            <a:ext cx="5639912" cy="369332"/>
          </a:xfrm>
          <a:prstGeom prst="rect">
            <a:avLst/>
          </a:prstGeom>
          <a:noFill/>
        </p:spPr>
        <p:txBody>
          <a:bodyPr wrap="square" rtlCol="0">
            <a:spAutoFit/>
          </a:bodyPr>
          <a:lstStyle/>
          <a:p>
            <a:r>
              <a:rPr lang="en-US"/>
              <a:t>But how do we connect all the data?</a:t>
            </a:r>
          </a:p>
        </p:txBody>
      </p:sp>
    </p:spTree>
    <p:extLst>
      <p:ext uri="{BB962C8B-B14F-4D97-AF65-F5344CB8AC3E}">
        <p14:creationId xmlns:p14="http://schemas.microsoft.com/office/powerpoint/2010/main" val="58587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4725E8-8C7B-F8A3-7E3E-B8CC5F35484D}"/>
              </a:ext>
            </a:extLst>
          </p:cNvPr>
          <p:cNvSpPr>
            <a:spLocks noGrp="1"/>
          </p:cNvSpPr>
          <p:nvPr>
            <p:ph type="title"/>
          </p:nvPr>
        </p:nvSpPr>
        <p:spPr>
          <a:xfrm>
            <a:off x="640080" y="316879"/>
            <a:ext cx="10058400" cy="614448"/>
          </a:xfrm>
        </p:spPr>
        <p:txBody>
          <a:bodyPr>
            <a:normAutofit fontScale="90000"/>
          </a:bodyPr>
          <a:lstStyle/>
          <a:p>
            <a:r>
              <a:rPr lang="en-US">
                <a:latin typeface="Arial" panose="020B0604020202020204" pitchFamily="34" charset="0"/>
                <a:cs typeface="Arial" panose="020B0604020202020204" pitchFamily="34" charset="0"/>
              </a:rPr>
              <a:t>Foreign Keys</a:t>
            </a:r>
          </a:p>
        </p:txBody>
      </p:sp>
      <p:graphicFrame>
        <p:nvGraphicFramePr>
          <p:cNvPr id="5" name="Table 4">
            <a:extLst>
              <a:ext uri="{FF2B5EF4-FFF2-40B4-BE49-F238E27FC236}">
                <a16:creationId xmlns:a16="http://schemas.microsoft.com/office/drawing/2014/main" id="{D31971AE-18A3-2BF4-C6DB-997CC7BBEE17}"/>
              </a:ext>
            </a:extLst>
          </p:cNvPr>
          <p:cNvGraphicFramePr>
            <a:graphicFrameLocks noGrp="1"/>
          </p:cNvGraphicFramePr>
          <p:nvPr>
            <p:extLst>
              <p:ext uri="{D42A27DB-BD31-4B8C-83A1-F6EECF244321}">
                <p14:modId xmlns:p14="http://schemas.microsoft.com/office/powerpoint/2010/main" val="3208724188"/>
              </p:ext>
            </p:extLst>
          </p:nvPr>
        </p:nvGraphicFramePr>
        <p:xfrm>
          <a:off x="206908" y="1999001"/>
          <a:ext cx="5889092" cy="4357349"/>
        </p:xfrm>
        <a:graphic>
          <a:graphicData uri="http://schemas.openxmlformats.org/drawingml/2006/table">
            <a:tbl>
              <a:tblPr firstRow="1" firstCol="1" bandRow="1">
                <a:tableStyleId>{5C22544A-7EE6-4342-B048-85BDC9FD1C3A}</a:tableStyleId>
              </a:tblPr>
              <a:tblGrid>
                <a:gridCol w="756041">
                  <a:extLst>
                    <a:ext uri="{9D8B030D-6E8A-4147-A177-3AD203B41FA5}">
                      <a16:colId xmlns:a16="http://schemas.microsoft.com/office/drawing/2014/main" val="1156842696"/>
                    </a:ext>
                  </a:extLst>
                </a:gridCol>
                <a:gridCol w="1094451">
                  <a:extLst>
                    <a:ext uri="{9D8B030D-6E8A-4147-A177-3AD203B41FA5}">
                      <a16:colId xmlns:a16="http://schemas.microsoft.com/office/drawing/2014/main" val="813037691"/>
                    </a:ext>
                  </a:extLst>
                </a:gridCol>
                <a:gridCol w="1447717">
                  <a:extLst>
                    <a:ext uri="{9D8B030D-6E8A-4147-A177-3AD203B41FA5}">
                      <a16:colId xmlns:a16="http://schemas.microsoft.com/office/drawing/2014/main" val="3727685985"/>
                    </a:ext>
                  </a:extLst>
                </a:gridCol>
                <a:gridCol w="1209395">
                  <a:extLst>
                    <a:ext uri="{9D8B030D-6E8A-4147-A177-3AD203B41FA5}">
                      <a16:colId xmlns:a16="http://schemas.microsoft.com/office/drawing/2014/main" val="2292432956"/>
                    </a:ext>
                  </a:extLst>
                </a:gridCol>
                <a:gridCol w="1381488">
                  <a:extLst>
                    <a:ext uri="{9D8B030D-6E8A-4147-A177-3AD203B41FA5}">
                      <a16:colId xmlns:a16="http://schemas.microsoft.com/office/drawing/2014/main" val="6088898"/>
                    </a:ext>
                  </a:extLst>
                </a:gridCol>
              </a:tblGrid>
              <a:tr h="846257">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student ID</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kern="1200">
                          <a:solidFill>
                            <a:schemeClr val="bg1"/>
                          </a:solidFill>
                          <a:effectLst/>
                          <a:latin typeface="Arial" panose="020B0604020202020204" pitchFamily="34" charset="0"/>
                          <a:cs typeface="Arial" panose="020B0604020202020204" pitchFamily="34" charset="0"/>
                        </a:rPr>
                        <a:t>program ID</a:t>
                      </a:r>
                      <a:endParaRPr lang="en-US" sz="1600" b="1" i="0" u="none" strike="noStrike" kern="1200">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student name</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fees paid</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1" u="none" strike="noStrike">
                          <a:solidFill>
                            <a:schemeClr val="bg1"/>
                          </a:solidFill>
                          <a:effectLst/>
                          <a:latin typeface="Arial" panose="020B0604020202020204" pitchFamily="34" charset="0"/>
                          <a:cs typeface="Arial" panose="020B0604020202020204" pitchFamily="34" charset="0"/>
                        </a:rPr>
                        <a:t>date of birth</a:t>
                      </a:r>
                      <a:endParaRPr lang="en-US" sz="1600" b="0" i="0" u="none" strike="noStrike">
                        <a:solidFill>
                          <a:schemeClr val="bg1"/>
                        </a:solidFill>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2408258778"/>
                  </a:ext>
                </a:extLst>
              </a:tr>
              <a:tr h="877773">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3</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John Smith</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04-Aug-91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3561651801"/>
                  </a:ext>
                </a:extLst>
              </a:tr>
              <a:tr h="877773">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Maria Griffin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400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10-Sep-92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816326382"/>
                  </a:ext>
                </a:extLst>
              </a:tr>
              <a:tr h="877773">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3</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4</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Susan Johnson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800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13-Jan-91</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1558084647"/>
                  </a:ext>
                </a:extLst>
              </a:tr>
              <a:tr h="877773">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4</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Matt Long</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600</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25-Apr-92</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extLst>
                  <a:ext uri="{0D108BD9-81ED-4DB2-BD59-A6C34878D82A}">
                    <a16:rowId xmlns:a16="http://schemas.microsoft.com/office/drawing/2014/main" val="1455951646"/>
                  </a:ext>
                </a:extLst>
              </a:tr>
            </a:tbl>
          </a:graphicData>
        </a:graphic>
      </p:graphicFrame>
      <p:graphicFrame>
        <p:nvGraphicFramePr>
          <p:cNvPr id="7" name="Table 6">
            <a:extLst>
              <a:ext uri="{FF2B5EF4-FFF2-40B4-BE49-F238E27FC236}">
                <a16:creationId xmlns:a16="http://schemas.microsoft.com/office/drawing/2014/main" id="{7DCB12A3-3168-E288-FAC5-D8403A1EA308}"/>
              </a:ext>
            </a:extLst>
          </p:cNvPr>
          <p:cNvGraphicFramePr>
            <a:graphicFrameLocks noGrp="1"/>
          </p:cNvGraphicFramePr>
          <p:nvPr>
            <p:extLst>
              <p:ext uri="{D42A27DB-BD31-4B8C-83A1-F6EECF244321}">
                <p14:modId xmlns:p14="http://schemas.microsoft.com/office/powerpoint/2010/main" val="4177342778"/>
              </p:ext>
            </p:extLst>
          </p:nvPr>
        </p:nvGraphicFramePr>
        <p:xfrm>
          <a:off x="7258172" y="2785110"/>
          <a:ext cx="2969474" cy="1609662"/>
        </p:xfrm>
        <a:graphic>
          <a:graphicData uri="http://schemas.openxmlformats.org/drawingml/2006/table">
            <a:tbl>
              <a:tblPr firstRow="1" firstCol="1" bandRow="1">
                <a:tableStyleId>{5C22544A-7EE6-4342-B048-85BDC9FD1C3A}</a:tableStyleId>
              </a:tblPr>
              <a:tblGrid>
                <a:gridCol w="1074199">
                  <a:extLst>
                    <a:ext uri="{9D8B030D-6E8A-4147-A177-3AD203B41FA5}">
                      <a16:colId xmlns:a16="http://schemas.microsoft.com/office/drawing/2014/main" val="3887886098"/>
                    </a:ext>
                  </a:extLst>
                </a:gridCol>
                <a:gridCol w="1895275">
                  <a:extLst>
                    <a:ext uri="{9D8B030D-6E8A-4147-A177-3AD203B41FA5}">
                      <a16:colId xmlns:a16="http://schemas.microsoft.com/office/drawing/2014/main" val="3496301047"/>
                    </a:ext>
                  </a:extLst>
                </a:gridCol>
              </a:tblGrid>
              <a:tr h="0">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teacher ID</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teacher name</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773497057"/>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James Peterson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15581470"/>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Sarah Francis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93053414"/>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Shane </a:t>
                      </a:r>
                      <a:r>
                        <a:rPr lang="en-US" sz="1600" err="1">
                          <a:effectLst/>
                          <a:latin typeface="Arial" panose="020B0604020202020204" pitchFamily="34" charset="0"/>
                          <a:cs typeface="Arial" panose="020B0604020202020204" pitchFamily="34" charset="0"/>
                        </a:rPr>
                        <a:t>Cobson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96660153"/>
                  </a:ext>
                </a:extLst>
              </a:tr>
            </a:tbl>
          </a:graphicData>
        </a:graphic>
      </p:graphicFrame>
      <p:graphicFrame>
        <p:nvGraphicFramePr>
          <p:cNvPr id="8" name="Table 7">
            <a:extLst>
              <a:ext uri="{FF2B5EF4-FFF2-40B4-BE49-F238E27FC236}">
                <a16:creationId xmlns:a16="http://schemas.microsoft.com/office/drawing/2014/main" id="{DB0D4058-F20A-F663-293E-4B5AA05DF716}"/>
              </a:ext>
            </a:extLst>
          </p:cNvPr>
          <p:cNvGraphicFramePr>
            <a:graphicFrameLocks noGrp="1"/>
          </p:cNvGraphicFramePr>
          <p:nvPr>
            <p:extLst>
              <p:ext uri="{D42A27DB-BD31-4B8C-83A1-F6EECF244321}">
                <p14:modId xmlns:p14="http://schemas.microsoft.com/office/powerpoint/2010/main" val="2952751905"/>
              </p:ext>
            </p:extLst>
          </p:nvPr>
        </p:nvGraphicFramePr>
        <p:xfrm>
          <a:off x="7868606" y="410085"/>
          <a:ext cx="3683314" cy="2023110"/>
        </p:xfrm>
        <a:graphic>
          <a:graphicData uri="http://schemas.openxmlformats.org/drawingml/2006/table">
            <a:tbl>
              <a:tblPr firstRow="1" firstCol="1" bandRow="1">
                <a:tableStyleId>{5C22544A-7EE6-4342-B048-85BDC9FD1C3A}</a:tableStyleId>
              </a:tblPr>
              <a:tblGrid>
                <a:gridCol w="1148007">
                  <a:extLst>
                    <a:ext uri="{9D8B030D-6E8A-4147-A177-3AD203B41FA5}">
                      <a16:colId xmlns:a16="http://schemas.microsoft.com/office/drawing/2014/main" val="2058444653"/>
                    </a:ext>
                  </a:extLst>
                </a:gridCol>
                <a:gridCol w="2535307">
                  <a:extLst>
                    <a:ext uri="{9D8B030D-6E8A-4147-A177-3AD203B41FA5}">
                      <a16:colId xmlns:a16="http://schemas.microsoft.com/office/drawing/2014/main" val="473716951"/>
                    </a:ext>
                  </a:extLst>
                </a:gridCol>
              </a:tblGrid>
              <a:tr h="0">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class ID</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class name</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778340356"/>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 1 (Business)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073473317"/>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1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59630044"/>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Business Intro (Business)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144521438"/>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Programming 2 (IT)</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8287833"/>
                  </a:ext>
                </a:extLst>
              </a:tr>
              <a:tr h="0">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5</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Biology 2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4030218897"/>
                  </a:ext>
                </a:extLst>
              </a:tr>
            </a:tbl>
          </a:graphicData>
        </a:graphic>
      </p:graphicFrame>
      <p:sp>
        <p:nvSpPr>
          <p:cNvPr id="10" name="Speech Bubble: Rectangle 1">
            <a:extLst>
              <a:ext uri="{FF2B5EF4-FFF2-40B4-BE49-F238E27FC236}">
                <a16:creationId xmlns:a16="http://schemas.microsoft.com/office/drawing/2014/main" id="{FB676B92-925F-B293-9FBE-C8230C36E18E}"/>
              </a:ext>
            </a:extLst>
          </p:cNvPr>
          <p:cNvSpPr/>
          <p:nvPr/>
        </p:nvSpPr>
        <p:spPr>
          <a:xfrm>
            <a:off x="898990" y="985391"/>
            <a:ext cx="1292881" cy="483504"/>
          </a:xfrm>
          <a:prstGeom prst="wedgeRectCallout">
            <a:avLst>
              <a:gd name="adj1" fmla="val -6620"/>
              <a:gd name="adj2" fmla="val 210775"/>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4020202020204" pitchFamily="34" charset="0"/>
                <a:cs typeface="Arial" panose="020B0604020202020204" pitchFamily="34" charset="0"/>
              </a:rPr>
              <a:t>Foreign key</a:t>
            </a:r>
          </a:p>
        </p:txBody>
      </p:sp>
      <p:graphicFrame>
        <p:nvGraphicFramePr>
          <p:cNvPr id="11" name="Table 10">
            <a:extLst>
              <a:ext uri="{FF2B5EF4-FFF2-40B4-BE49-F238E27FC236}">
                <a16:creationId xmlns:a16="http://schemas.microsoft.com/office/drawing/2014/main" id="{3124C154-F2D5-60D1-5E37-E88B09C69BD7}"/>
              </a:ext>
            </a:extLst>
          </p:cNvPr>
          <p:cNvGraphicFramePr>
            <a:graphicFrameLocks noGrp="1"/>
          </p:cNvGraphicFramePr>
          <p:nvPr>
            <p:extLst>
              <p:ext uri="{D42A27DB-BD31-4B8C-83A1-F6EECF244321}">
                <p14:modId xmlns:p14="http://schemas.microsoft.com/office/powerpoint/2010/main" val="2588467646"/>
              </p:ext>
            </p:extLst>
          </p:nvPr>
        </p:nvGraphicFramePr>
        <p:xfrm>
          <a:off x="6484229" y="4592983"/>
          <a:ext cx="3197654" cy="1899890"/>
        </p:xfrm>
        <a:graphic>
          <a:graphicData uri="http://schemas.openxmlformats.org/drawingml/2006/table">
            <a:tbl>
              <a:tblPr firstRow="1" firstCol="1" bandRow="1">
                <a:tableStyleId>{5C22544A-7EE6-4342-B048-85BDC9FD1C3A}</a:tableStyleId>
              </a:tblPr>
              <a:tblGrid>
                <a:gridCol w="1194042">
                  <a:extLst>
                    <a:ext uri="{9D8B030D-6E8A-4147-A177-3AD203B41FA5}">
                      <a16:colId xmlns:a16="http://schemas.microsoft.com/office/drawing/2014/main" val="1652016192"/>
                    </a:ext>
                  </a:extLst>
                </a:gridCol>
                <a:gridCol w="2003612">
                  <a:extLst>
                    <a:ext uri="{9D8B030D-6E8A-4147-A177-3AD203B41FA5}">
                      <a16:colId xmlns:a16="http://schemas.microsoft.com/office/drawing/2014/main" val="433832638"/>
                    </a:ext>
                  </a:extLst>
                </a:gridCol>
              </a:tblGrid>
              <a:tr h="542842">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program ID</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b="1">
                          <a:solidFill>
                            <a:schemeClr val="bg1"/>
                          </a:solidFill>
                          <a:effectLst/>
                          <a:latin typeface="Arial" panose="020B0604020202020204" pitchFamily="34" charset="0"/>
                          <a:cs typeface="Arial" panose="020B0604020202020204" pitchFamily="34" charset="0"/>
                        </a:rPr>
                        <a:t>program name</a:t>
                      </a:r>
                      <a:endParaRPr lang="en-US"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436826834"/>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Computer Science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134497170"/>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Dentistry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090603692"/>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3</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Economics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675680401"/>
                  </a:ext>
                </a:extLst>
              </a:tr>
              <a:tr h="339262">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1800"/>
                        </a:spcAft>
                      </a:pPr>
                      <a:r>
                        <a:rPr lang="en-US" sz="1600">
                          <a:effectLst/>
                          <a:latin typeface="Arial" panose="020B0604020202020204" pitchFamily="34" charset="0"/>
                          <a:cs typeface="Arial" panose="020B0604020202020204" pitchFamily="34" charset="0"/>
                        </a:rPr>
                        <a:t>Medicine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003306371"/>
                  </a:ext>
                </a:extLst>
              </a:tr>
            </a:tbl>
          </a:graphicData>
        </a:graphic>
      </p:graphicFrame>
    </p:spTree>
    <p:extLst>
      <p:ext uri="{BB962C8B-B14F-4D97-AF65-F5344CB8AC3E}">
        <p14:creationId xmlns:p14="http://schemas.microsoft.com/office/powerpoint/2010/main" val="1450567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998A-90F2-C589-80AA-6C35394225DC}"/>
              </a:ext>
            </a:extLst>
          </p:cNvPr>
          <p:cNvSpPr>
            <a:spLocks noGrp="1"/>
          </p:cNvSpPr>
          <p:nvPr>
            <p:ph type="title"/>
          </p:nvPr>
        </p:nvSpPr>
        <p:spPr/>
        <p:txBody>
          <a:bodyPr/>
          <a:lstStyle/>
          <a:p>
            <a:r>
              <a:rPr lang="en-US"/>
              <a:t>How to manage the other tables?</a:t>
            </a:r>
          </a:p>
        </p:txBody>
      </p:sp>
      <p:sp>
        <p:nvSpPr>
          <p:cNvPr id="6" name="Content Placeholder 3">
            <a:extLst>
              <a:ext uri="{FF2B5EF4-FFF2-40B4-BE49-F238E27FC236}">
                <a16:creationId xmlns:a16="http://schemas.microsoft.com/office/drawing/2014/main" id="{78825A1D-24F9-4D73-3299-3AEEBDDADB57}"/>
              </a:ext>
            </a:extLst>
          </p:cNvPr>
          <p:cNvSpPr txBox="1">
            <a:spLocks/>
          </p:cNvSpPr>
          <p:nvPr/>
        </p:nvSpPr>
        <p:spPr>
          <a:xfrm>
            <a:off x="849351" y="1184774"/>
            <a:ext cx="5836920" cy="51715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200" dirty="0">
                <a:latin typeface="Arial" panose="020B0604020202020204" pitchFamily="34" charset="0"/>
                <a:cs typeface="Arial" panose="020B0604020202020204" pitchFamily="34" charset="0"/>
              </a:rPr>
              <a:t>Questions:</a:t>
            </a:r>
          </a:p>
          <a:p>
            <a:pPr>
              <a:lnSpc>
                <a:spcPct val="100000"/>
              </a:lnSpc>
            </a:pPr>
            <a:r>
              <a:rPr lang="en-US" sz="2200" dirty="0">
                <a:latin typeface="Arial" panose="020B0604020202020204" pitchFamily="34" charset="0"/>
                <a:cs typeface="Arial" panose="020B0604020202020204" pitchFamily="34" charset="0"/>
              </a:rPr>
              <a:t>How are teachers related to others?</a:t>
            </a:r>
          </a:p>
          <a:p>
            <a:pPr lvl="1">
              <a:lnSpc>
                <a:spcPct val="100000"/>
              </a:lnSpc>
            </a:pPr>
            <a:r>
              <a:rPr lang="en-US" sz="2000" dirty="0">
                <a:latin typeface="Arial" panose="020B0604020202020204" pitchFamily="34" charset="0"/>
                <a:cs typeface="Arial" panose="020B0604020202020204" pitchFamily="34" charset="0"/>
              </a:rPr>
              <a:t>A student can have one teacher for all classes</a:t>
            </a:r>
          </a:p>
          <a:p>
            <a:pPr lvl="1">
              <a:lnSpc>
                <a:spcPct val="100000"/>
              </a:lnSpc>
            </a:pPr>
            <a:r>
              <a:rPr lang="en-US" sz="2000" dirty="0">
                <a:latin typeface="Arial" panose="020B0604020202020204" pitchFamily="34" charset="0"/>
                <a:cs typeface="Arial" panose="020B0604020202020204" pitchFamily="34" charset="0"/>
              </a:rPr>
              <a:t>A subject could have a single teacher that teaches that specific class</a:t>
            </a:r>
          </a:p>
          <a:p>
            <a:pPr lvl="1">
              <a:lnSpc>
                <a:spcPct val="100000"/>
              </a:lnSpc>
            </a:pPr>
            <a:r>
              <a:rPr lang="en-US" sz="2000" dirty="0">
                <a:latin typeface="Arial" panose="020B0604020202020204" pitchFamily="34" charset="0"/>
                <a:cs typeface="Arial" panose="020B0604020202020204" pitchFamily="34" charset="0"/>
              </a:rPr>
              <a:t>Program could have a teacher that teaches all classes for the program</a:t>
            </a:r>
          </a:p>
          <a:p>
            <a:pPr lvl="1">
              <a:lnSpc>
                <a:spcPct val="100000"/>
              </a:lnSpc>
            </a:pPr>
            <a:r>
              <a:rPr lang="en-US" sz="2000" dirty="0">
                <a:latin typeface="Arial" panose="020B0604020202020204" pitchFamily="34" charset="0"/>
                <a:cs typeface="Arial" panose="020B0604020202020204" pitchFamily="34" charset="0"/>
              </a:rPr>
              <a:t>Multiple teachers could teach a particular class</a:t>
            </a:r>
          </a:p>
          <a:p>
            <a:pPr>
              <a:lnSpc>
                <a:spcPct val="100000"/>
              </a:lnSpc>
            </a:pPr>
            <a:r>
              <a:rPr lang="en-US" sz="2200" dirty="0">
                <a:latin typeface="Arial" panose="020B0604020202020204" pitchFamily="34" charset="0"/>
                <a:cs typeface="Arial" panose="020B0604020202020204" pitchFamily="34" charset="0"/>
              </a:rPr>
              <a:t>Does a teacher  have many classes?</a:t>
            </a:r>
          </a:p>
          <a:p>
            <a:pPr>
              <a:lnSpc>
                <a:spcPct val="100000"/>
              </a:lnSpc>
            </a:pPr>
            <a:r>
              <a:rPr lang="en-US" sz="2200" dirty="0">
                <a:latin typeface="Arial" panose="020B0604020202020204" pitchFamily="34" charset="0"/>
                <a:cs typeface="Arial" panose="020B0604020202020204" pitchFamily="34" charset="0"/>
              </a:rPr>
              <a:t>Does a class have many teachers?</a:t>
            </a:r>
          </a:p>
        </p:txBody>
      </p:sp>
      <p:sp>
        <p:nvSpPr>
          <p:cNvPr id="8" name="TextBox 7">
            <a:extLst>
              <a:ext uri="{FF2B5EF4-FFF2-40B4-BE49-F238E27FC236}">
                <a16:creationId xmlns:a16="http://schemas.microsoft.com/office/drawing/2014/main" id="{F9C4E3C0-8E67-955B-AD56-EEAC72FCDF7F}"/>
              </a:ext>
            </a:extLst>
          </p:cNvPr>
          <p:cNvSpPr txBox="1"/>
          <p:nvPr/>
        </p:nvSpPr>
        <p:spPr>
          <a:xfrm>
            <a:off x="6468037" y="4156781"/>
            <a:ext cx="2793714" cy="369332"/>
          </a:xfrm>
          <a:prstGeom prst="rect">
            <a:avLst/>
          </a:prstGeom>
          <a:noFill/>
        </p:spPr>
        <p:txBody>
          <a:bodyPr wrap="none" rtlCol="0">
            <a:spAutoFit/>
          </a:bodyPr>
          <a:lstStyle/>
          <a:p>
            <a:r>
              <a:rPr lang="en-US" dirty="0">
                <a:solidFill>
                  <a:schemeClr val="accent1"/>
                </a:solidFill>
              </a:rPr>
              <a:t>Many to many relationship</a:t>
            </a:r>
          </a:p>
        </p:txBody>
      </p:sp>
      <p:sp>
        <p:nvSpPr>
          <p:cNvPr id="9" name="TextBox 8">
            <a:extLst>
              <a:ext uri="{FF2B5EF4-FFF2-40B4-BE49-F238E27FC236}">
                <a16:creationId xmlns:a16="http://schemas.microsoft.com/office/drawing/2014/main" id="{60FE760D-32E7-2889-3BB2-E2702B4784CE}"/>
              </a:ext>
            </a:extLst>
          </p:cNvPr>
          <p:cNvSpPr txBox="1"/>
          <p:nvPr/>
        </p:nvSpPr>
        <p:spPr>
          <a:xfrm>
            <a:off x="5928697" y="4820384"/>
            <a:ext cx="527645" cy="369332"/>
          </a:xfrm>
          <a:prstGeom prst="rect">
            <a:avLst/>
          </a:prstGeom>
          <a:noFill/>
        </p:spPr>
        <p:txBody>
          <a:bodyPr wrap="none" rtlCol="0">
            <a:spAutoFit/>
          </a:bodyPr>
          <a:lstStyle/>
          <a:p>
            <a:r>
              <a:rPr lang="en-US" dirty="0">
                <a:solidFill>
                  <a:schemeClr val="accent1"/>
                </a:solidFill>
              </a:rPr>
              <a:t>Yes</a:t>
            </a:r>
          </a:p>
        </p:txBody>
      </p:sp>
      <p:sp>
        <p:nvSpPr>
          <p:cNvPr id="10" name="TextBox 9">
            <a:extLst>
              <a:ext uri="{FF2B5EF4-FFF2-40B4-BE49-F238E27FC236}">
                <a16:creationId xmlns:a16="http://schemas.microsoft.com/office/drawing/2014/main" id="{2DF609E1-FFC6-E27F-5307-939282D33FB9}"/>
              </a:ext>
            </a:extLst>
          </p:cNvPr>
          <p:cNvSpPr txBox="1"/>
          <p:nvPr/>
        </p:nvSpPr>
        <p:spPr>
          <a:xfrm>
            <a:off x="5528342" y="5303894"/>
            <a:ext cx="4891339" cy="369332"/>
          </a:xfrm>
          <a:prstGeom prst="rect">
            <a:avLst/>
          </a:prstGeom>
          <a:noFill/>
        </p:spPr>
        <p:txBody>
          <a:bodyPr wrap="none" rtlCol="0">
            <a:spAutoFit/>
          </a:bodyPr>
          <a:lstStyle/>
          <a:p>
            <a:r>
              <a:rPr lang="en-US" dirty="0">
                <a:solidFill>
                  <a:schemeClr val="accent1"/>
                </a:solidFill>
              </a:rPr>
              <a:t>Possibly, yes but also some classes have only 1.</a:t>
            </a:r>
          </a:p>
        </p:txBody>
      </p:sp>
    </p:spTree>
    <p:extLst>
      <p:ext uri="{BB962C8B-B14F-4D97-AF65-F5344CB8AC3E}">
        <p14:creationId xmlns:p14="http://schemas.microsoft.com/office/powerpoint/2010/main" val="3579621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3213-9E37-607E-E7DA-78CFAEB87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B5BD7-A445-338F-C430-D9B3B969837C}"/>
              </a:ext>
            </a:extLst>
          </p:cNvPr>
          <p:cNvSpPr>
            <a:spLocks noGrp="1"/>
          </p:cNvSpPr>
          <p:nvPr>
            <p:ph type="title"/>
          </p:nvPr>
        </p:nvSpPr>
        <p:spPr>
          <a:xfrm>
            <a:off x="838200" y="2664572"/>
            <a:ext cx="10515600" cy="1325563"/>
          </a:xfrm>
        </p:spPr>
        <p:txBody>
          <a:bodyPr/>
          <a:lstStyle/>
          <a:p>
            <a:r>
              <a:rPr lang="en-GB" noProof="0"/>
              <a:t>Questions</a:t>
            </a:r>
          </a:p>
        </p:txBody>
      </p:sp>
    </p:spTree>
    <p:extLst>
      <p:ext uri="{BB962C8B-B14F-4D97-AF65-F5344CB8AC3E}">
        <p14:creationId xmlns:p14="http://schemas.microsoft.com/office/powerpoint/2010/main" val="3358523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0CD45-E9F0-3FAD-0584-1A3A0DCFA1D6}"/>
            </a:ext>
          </a:extLst>
        </p:cNvPr>
        <p:cNvGrpSpPr/>
        <p:nvPr/>
      </p:nvGrpSpPr>
      <p:grpSpPr>
        <a:xfrm>
          <a:off x="0" y="0"/>
          <a:ext cx="0" cy="0"/>
          <a:chOff x="0" y="0"/>
          <a:chExt cx="0" cy="0"/>
        </a:xfrm>
      </p:grpSpPr>
      <p:pic>
        <p:nvPicPr>
          <p:cNvPr id="4098" name="Picture 2" descr="Normalization in DBMS: 1NF, 2NF, 3NF, and BCNF [Examples]">
            <a:extLst>
              <a:ext uri="{FF2B5EF4-FFF2-40B4-BE49-F238E27FC236}">
                <a16:creationId xmlns:a16="http://schemas.microsoft.com/office/drawing/2014/main" id="{0570392C-02D7-06A6-AD66-6D915E694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311" y="408543"/>
            <a:ext cx="10487377" cy="5899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4C619D-5C20-B908-3098-A04B707FE10C}"/>
              </a:ext>
            </a:extLst>
          </p:cNvPr>
          <p:cNvSpPr txBox="1"/>
          <p:nvPr/>
        </p:nvSpPr>
        <p:spPr>
          <a:xfrm>
            <a:off x="3224562" y="6352143"/>
            <a:ext cx="5475923" cy="369332"/>
          </a:xfrm>
          <a:prstGeom prst="rect">
            <a:avLst/>
          </a:prstGeom>
          <a:noFill/>
        </p:spPr>
        <p:txBody>
          <a:bodyPr wrap="none" rtlCol="0">
            <a:spAutoFit/>
          </a:bodyPr>
          <a:lstStyle/>
          <a:p>
            <a:r>
              <a:rPr lang="en-US" dirty="0"/>
              <a:t>Image from </a:t>
            </a:r>
            <a:r>
              <a:rPr lang="en-US" dirty="0">
                <a:hlinkClick r:id="rId3"/>
              </a:rPr>
              <a:t>https://hackr.io/blog/dbms-normalization</a:t>
            </a:r>
            <a:r>
              <a:rPr lang="en-US" dirty="0"/>
              <a:t> </a:t>
            </a:r>
          </a:p>
        </p:txBody>
      </p:sp>
      <p:sp>
        <p:nvSpPr>
          <p:cNvPr id="3" name="Rectangle 2">
            <a:extLst>
              <a:ext uri="{FF2B5EF4-FFF2-40B4-BE49-F238E27FC236}">
                <a16:creationId xmlns:a16="http://schemas.microsoft.com/office/drawing/2014/main" id="{8221DF30-1317-E950-F703-80B612C60395}"/>
              </a:ext>
            </a:extLst>
          </p:cNvPr>
          <p:cNvSpPr/>
          <p:nvPr/>
        </p:nvSpPr>
        <p:spPr>
          <a:xfrm>
            <a:off x="5391515" y="1048871"/>
            <a:ext cx="1855694" cy="5123329"/>
          </a:xfrm>
          <a:prstGeom prst="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57440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F8F0D-0A33-55CF-A6FE-D1B22511FBF4}"/>
              </a:ext>
            </a:extLst>
          </p:cNvPr>
          <p:cNvSpPr>
            <a:spLocks noGrp="1"/>
          </p:cNvSpPr>
          <p:nvPr>
            <p:ph type="title"/>
          </p:nvPr>
        </p:nvSpPr>
        <p:spPr/>
        <p:txBody>
          <a:bodyPr/>
          <a:lstStyle/>
          <a:p>
            <a:r>
              <a:rPr lang="en-GB"/>
              <a:t>Third</a:t>
            </a:r>
            <a:r>
              <a:rPr lang="en-GB" baseline="30000"/>
              <a:t> </a:t>
            </a:r>
            <a:r>
              <a:rPr lang="en-GB"/>
              <a:t>Normal Form – 3NF</a:t>
            </a:r>
            <a:endParaRPr lang="en-GB" noProof="0"/>
          </a:p>
        </p:txBody>
      </p:sp>
      <p:sp>
        <p:nvSpPr>
          <p:cNvPr id="5" name="Content Placeholder 2">
            <a:extLst>
              <a:ext uri="{FF2B5EF4-FFF2-40B4-BE49-F238E27FC236}">
                <a16:creationId xmlns:a16="http://schemas.microsoft.com/office/drawing/2014/main" id="{EC45855B-D577-B2E0-6AD5-A69EAD3B68B2}"/>
              </a:ext>
            </a:extLst>
          </p:cNvPr>
          <p:cNvSpPr>
            <a:spLocks noGrp="1"/>
          </p:cNvSpPr>
          <p:nvPr>
            <p:ph sz="half" idx="1"/>
          </p:nvPr>
        </p:nvSpPr>
        <p:spPr/>
        <p:txBody>
          <a:bodyPr>
            <a:normAutofit/>
          </a:bodyPr>
          <a:lstStyle/>
          <a:p>
            <a:pPr marL="0" indent="0">
              <a:lnSpc>
                <a:spcPct val="150000"/>
              </a:lnSpc>
              <a:buNone/>
            </a:pPr>
            <a:r>
              <a:rPr lang="en-US" sz="2200">
                <a:latin typeface="Arial" panose="020B0604020202020204" pitchFamily="34" charset="0"/>
                <a:cs typeface="Arial" panose="020B0604020202020204" pitchFamily="34" charset="0"/>
              </a:rPr>
              <a:t>Third normal form is the final stage of the most common normalization process. The rule for this is:</a:t>
            </a:r>
          </a:p>
          <a:p>
            <a:pPr lvl="1">
              <a:lnSpc>
                <a:spcPct val="150000"/>
              </a:lnSpc>
            </a:pPr>
            <a:r>
              <a:rPr lang="en-US" sz="2200">
                <a:latin typeface="Arial" panose="020B0604020202020204" pitchFamily="34" charset="0"/>
                <a:cs typeface="Arial" panose="020B0604020202020204" pitchFamily="34" charset="0"/>
              </a:rPr>
              <a:t>Fulfils the requirements of 2NF (thus also 1NF)</a:t>
            </a:r>
          </a:p>
          <a:p>
            <a:pPr lvl="1">
              <a:lnSpc>
                <a:spcPct val="150000"/>
              </a:lnSpc>
            </a:pPr>
            <a:r>
              <a:rPr lang="en-US" sz="2200">
                <a:latin typeface="Arial" panose="020B0604020202020204" pitchFamily="34" charset="0"/>
                <a:cs typeface="Arial" panose="020B0604020202020204" pitchFamily="34" charset="0"/>
              </a:rPr>
              <a:t>Has </a:t>
            </a:r>
            <a:r>
              <a:rPr lang="en-US" sz="2200">
                <a:solidFill>
                  <a:schemeClr val="accent1"/>
                </a:solidFill>
                <a:latin typeface="Arial" panose="020B0604020202020204" pitchFamily="34" charset="0"/>
                <a:cs typeface="Arial" panose="020B0604020202020204" pitchFamily="34" charset="0"/>
              </a:rPr>
              <a:t>no transitive functional dependency</a:t>
            </a:r>
          </a:p>
          <a:p>
            <a:pPr>
              <a:lnSpc>
                <a:spcPct val="150000"/>
              </a:lnSpc>
            </a:pP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8808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C4B5-384F-A8C2-8F9D-5E9DCB104BB7}"/>
              </a:ext>
            </a:extLst>
          </p:cNvPr>
          <p:cNvSpPr>
            <a:spLocks noGrp="1"/>
          </p:cNvSpPr>
          <p:nvPr>
            <p:ph type="title"/>
          </p:nvPr>
        </p:nvSpPr>
        <p:spPr/>
        <p:txBody>
          <a:bodyPr/>
          <a:lstStyle/>
          <a:p>
            <a:r>
              <a:rPr lang="en-US"/>
              <a:t>Transitive Functional Dependency</a:t>
            </a:r>
          </a:p>
        </p:txBody>
      </p:sp>
      <p:sp>
        <p:nvSpPr>
          <p:cNvPr id="3" name="Content Placeholder 2">
            <a:extLst>
              <a:ext uri="{FF2B5EF4-FFF2-40B4-BE49-F238E27FC236}">
                <a16:creationId xmlns:a16="http://schemas.microsoft.com/office/drawing/2014/main" id="{16397CC6-560E-0DDA-839F-EEE24B2A1D55}"/>
              </a:ext>
            </a:extLst>
          </p:cNvPr>
          <p:cNvSpPr>
            <a:spLocks noGrp="1"/>
          </p:cNvSpPr>
          <p:nvPr>
            <p:ph sz="half" idx="1"/>
          </p:nvPr>
        </p:nvSpPr>
        <p:spPr>
          <a:xfrm>
            <a:off x="838200" y="2764541"/>
            <a:ext cx="4742328" cy="1625694"/>
          </a:xfrm>
        </p:spPr>
        <p:txBody>
          <a:bodyPr>
            <a:normAutofit/>
          </a:bodyPr>
          <a:lstStyle/>
          <a:p>
            <a:pPr marL="0" indent="0">
              <a:lnSpc>
                <a:spcPct val="100000"/>
              </a:lnSpc>
              <a:buNone/>
            </a:pPr>
            <a:r>
              <a:rPr lang="en-US" sz="2200">
                <a:latin typeface="Arial" panose="020B0604020202020204" pitchFamily="34" charset="0"/>
                <a:cs typeface="Arial" panose="020B0604020202020204" pitchFamily="34" charset="0"/>
              </a:rPr>
              <a:t>Every attribute that is </a:t>
            </a:r>
            <a:r>
              <a:rPr lang="en-US" sz="2200" u="sng">
                <a:solidFill>
                  <a:schemeClr val="accent1"/>
                </a:solidFill>
                <a:latin typeface="Arial" panose="020B0604020202020204" pitchFamily="34" charset="0"/>
                <a:cs typeface="Arial" panose="020B0604020202020204" pitchFamily="34" charset="0"/>
              </a:rPr>
              <a:t>not</a:t>
            </a:r>
            <a:r>
              <a:rPr lang="en-US" sz="2200">
                <a:latin typeface="Arial" panose="020B0604020202020204" pitchFamily="34" charset="0"/>
                <a:cs typeface="Arial" panose="020B0604020202020204" pitchFamily="34" charset="0"/>
              </a:rPr>
              <a:t> the primary key must depend on the primary key and the primary key only.</a:t>
            </a:r>
          </a:p>
          <a:p>
            <a:pPr>
              <a:lnSpc>
                <a:spcPct val="100000"/>
              </a:lnSpc>
            </a:pPr>
            <a:endParaRPr lang="en-US" sz="2200"/>
          </a:p>
        </p:txBody>
      </p:sp>
      <p:sp>
        <p:nvSpPr>
          <p:cNvPr id="6" name="Rectangle 5">
            <a:extLst>
              <a:ext uri="{FF2B5EF4-FFF2-40B4-BE49-F238E27FC236}">
                <a16:creationId xmlns:a16="http://schemas.microsoft.com/office/drawing/2014/main" id="{AFFB638E-D1A7-174C-8A55-0CDBEFDDD5FB}"/>
              </a:ext>
            </a:extLst>
          </p:cNvPr>
          <p:cNvSpPr/>
          <p:nvPr/>
        </p:nvSpPr>
        <p:spPr>
          <a:xfrm>
            <a:off x="6096002" y="1599759"/>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A</a:t>
            </a:r>
          </a:p>
        </p:txBody>
      </p:sp>
      <p:sp>
        <p:nvSpPr>
          <p:cNvPr id="7" name="Rectangle 6">
            <a:extLst>
              <a:ext uri="{FF2B5EF4-FFF2-40B4-BE49-F238E27FC236}">
                <a16:creationId xmlns:a16="http://schemas.microsoft.com/office/drawing/2014/main" id="{EF2325BE-D6BB-8DA8-3789-E683AD6FAE68}"/>
              </a:ext>
            </a:extLst>
          </p:cNvPr>
          <p:cNvSpPr/>
          <p:nvPr/>
        </p:nvSpPr>
        <p:spPr>
          <a:xfrm>
            <a:off x="6096001" y="3480024"/>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C</a:t>
            </a:r>
          </a:p>
        </p:txBody>
      </p:sp>
      <p:sp>
        <p:nvSpPr>
          <p:cNvPr id="8" name="Rectangle 7">
            <a:extLst>
              <a:ext uri="{FF2B5EF4-FFF2-40B4-BE49-F238E27FC236}">
                <a16:creationId xmlns:a16="http://schemas.microsoft.com/office/drawing/2014/main" id="{BD7E6C66-0AD8-A867-268C-C24B8E193CAC}"/>
              </a:ext>
            </a:extLst>
          </p:cNvPr>
          <p:cNvSpPr/>
          <p:nvPr/>
        </p:nvSpPr>
        <p:spPr>
          <a:xfrm>
            <a:off x="6096001" y="2568117"/>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B</a:t>
            </a:r>
          </a:p>
        </p:txBody>
      </p:sp>
      <p:cxnSp>
        <p:nvCxnSpPr>
          <p:cNvPr id="9" name="Straight Arrow Connector 8">
            <a:extLst>
              <a:ext uri="{FF2B5EF4-FFF2-40B4-BE49-F238E27FC236}">
                <a16:creationId xmlns:a16="http://schemas.microsoft.com/office/drawing/2014/main" id="{DB5C2551-D2D2-6B9F-3A71-587A48E252CC}"/>
              </a:ext>
            </a:extLst>
          </p:cNvPr>
          <p:cNvCxnSpPr>
            <a:stCxn id="6" idx="2"/>
            <a:endCxn id="8" idx="0"/>
          </p:cNvCxnSpPr>
          <p:nvPr/>
        </p:nvCxnSpPr>
        <p:spPr>
          <a:xfrm flipH="1">
            <a:off x="6736749" y="2140390"/>
            <a:ext cx="1" cy="427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4394D71-C0C2-EF56-4948-C49D3F41EA7C}"/>
              </a:ext>
            </a:extLst>
          </p:cNvPr>
          <p:cNvCxnSpPr>
            <a:stCxn id="8" idx="2"/>
            <a:endCxn id="7" idx="0"/>
          </p:cNvCxnSpPr>
          <p:nvPr/>
        </p:nvCxnSpPr>
        <p:spPr>
          <a:xfrm>
            <a:off x="6736749" y="3108748"/>
            <a:ext cx="0" cy="37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3E3ED6-A727-BDE3-870D-091FF6C39697}"/>
              </a:ext>
            </a:extLst>
          </p:cNvPr>
          <p:cNvSpPr txBox="1"/>
          <p:nvPr/>
        </p:nvSpPr>
        <p:spPr>
          <a:xfrm>
            <a:off x="6823517" y="2196841"/>
            <a:ext cx="1968963" cy="369332"/>
          </a:xfrm>
          <a:prstGeom prst="rect">
            <a:avLst/>
          </a:prstGeom>
          <a:noFill/>
        </p:spPr>
        <p:txBody>
          <a:bodyPr wrap="square" rtlCol="0">
            <a:spAutoFit/>
          </a:bodyPr>
          <a:lstStyle/>
          <a:p>
            <a:r>
              <a:rPr lang="en-US"/>
              <a:t>A determines B</a:t>
            </a:r>
          </a:p>
        </p:txBody>
      </p:sp>
      <p:sp>
        <p:nvSpPr>
          <p:cNvPr id="12" name="TextBox 11">
            <a:extLst>
              <a:ext uri="{FF2B5EF4-FFF2-40B4-BE49-F238E27FC236}">
                <a16:creationId xmlns:a16="http://schemas.microsoft.com/office/drawing/2014/main" id="{D3DEB768-E542-179A-5E63-162DFBC6CD42}"/>
              </a:ext>
            </a:extLst>
          </p:cNvPr>
          <p:cNvSpPr txBox="1"/>
          <p:nvPr/>
        </p:nvSpPr>
        <p:spPr>
          <a:xfrm>
            <a:off x="6895824" y="3109720"/>
            <a:ext cx="1968963" cy="369332"/>
          </a:xfrm>
          <a:prstGeom prst="rect">
            <a:avLst/>
          </a:prstGeom>
          <a:noFill/>
        </p:spPr>
        <p:txBody>
          <a:bodyPr wrap="square" rtlCol="0">
            <a:spAutoFit/>
          </a:bodyPr>
          <a:lstStyle/>
          <a:p>
            <a:r>
              <a:rPr lang="en-US"/>
              <a:t>B determines C</a:t>
            </a:r>
          </a:p>
        </p:txBody>
      </p:sp>
      <p:sp>
        <p:nvSpPr>
          <p:cNvPr id="13" name="Rectangle 12">
            <a:extLst>
              <a:ext uri="{FF2B5EF4-FFF2-40B4-BE49-F238E27FC236}">
                <a16:creationId xmlns:a16="http://schemas.microsoft.com/office/drawing/2014/main" id="{D78250D8-8EA9-FFD8-02F6-5DA93EFC0D20}"/>
              </a:ext>
            </a:extLst>
          </p:cNvPr>
          <p:cNvSpPr/>
          <p:nvPr/>
        </p:nvSpPr>
        <p:spPr>
          <a:xfrm>
            <a:off x="6096001" y="4441223"/>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A</a:t>
            </a:r>
          </a:p>
        </p:txBody>
      </p:sp>
      <p:cxnSp>
        <p:nvCxnSpPr>
          <p:cNvPr id="14" name="Straight Arrow Connector 13">
            <a:extLst>
              <a:ext uri="{FF2B5EF4-FFF2-40B4-BE49-F238E27FC236}">
                <a16:creationId xmlns:a16="http://schemas.microsoft.com/office/drawing/2014/main" id="{1B0F2791-89E3-7F9F-C65D-B35A0845FB44}"/>
              </a:ext>
            </a:extLst>
          </p:cNvPr>
          <p:cNvCxnSpPr>
            <a:stCxn id="13" idx="2"/>
          </p:cNvCxnSpPr>
          <p:nvPr/>
        </p:nvCxnSpPr>
        <p:spPr>
          <a:xfrm flipH="1">
            <a:off x="6736748" y="4981854"/>
            <a:ext cx="1" cy="427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E0695A7-83B4-1B84-8924-589943116F22}"/>
              </a:ext>
            </a:extLst>
          </p:cNvPr>
          <p:cNvSpPr txBox="1"/>
          <p:nvPr/>
        </p:nvSpPr>
        <p:spPr>
          <a:xfrm>
            <a:off x="6823516" y="5038305"/>
            <a:ext cx="1968963" cy="369332"/>
          </a:xfrm>
          <a:prstGeom prst="rect">
            <a:avLst/>
          </a:prstGeom>
          <a:noFill/>
        </p:spPr>
        <p:txBody>
          <a:bodyPr wrap="square" rtlCol="0">
            <a:spAutoFit/>
          </a:bodyPr>
          <a:lstStyle/>
          <a:p>
            <a:r>
              <a:rPr lang="en-US"/>
              <a:t>A determines B</a:t>
            </a:r>
          </a:p>
        </p:txBody>
      </p:sp>
      <p:sp>
        <p:nvSpPr>
          <p:cNvPr id="16" name="Rectangle 15">
            <a:extLst>
              <a:ext uri="{FF2B5EF4-FFF2-40B4-BE49-F238E27FC236}">
                <a16:creationId xmlns:a16="http://schemas.microsoft.com/office/drawing/2014/main" id="{A139F349-18E8-552B-5F73-FF96FFB80AE1}"/>
              </a:ext>
            </a:extLst>
          </p:cNvPr>
          <p:cNvSpPr/>
          <p:nvPr/>
        </p:nvSpPr>
        <p:spPr>
          <a:xfrm>
            <a:off x="8912617" y="4393390"/>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B</a:t>
            </a:r>
          </a:p>
        </p:txBody>
      </p:sp>
      <p:cxnSp>
        <p:nvCxnSpPr>
          <p:cNvPr id="17" name="Straight Arrow Connector 16">
            <a:extLst>
              <a:ext uri="{FF2B5EF4-FFF2-40B4-BE49-F238E27FC236}">
                <a16:creationId xmlns:a16="http://schemas.microsoft.com/office/drawing/2014/main" id="{CE9CBD9F-2047-F050-A791-550BB83F32EA}"/>
              </a:ext>
            </a:extLst>
          </p:cNvPr>
          <p:cNvCxnSpPr>
            <a:stCxn id="16" idx="2"/>
          </p:cNvCxnSpPr>
          <p:nvPr/>
        </p:nvCxnSpPr>
        <p:spPr>
          <a:xfrm flipH="1">
            <a:off x="9553364" y="4934021"/>
            <a:ext cx="1" cy="427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DFDA524-4CC0-F750-A801-E096B719719C}"/>
              </a:ext>
            </a:extLst>
          </p:cNvPr>
          <p:cNvSpPr txBox="1"/>
          <p:nvPr/>
        </p:nvSpPr>
        <p:spPr>
          <a:xfrm>
            <a:off x="9640132" y="4990472"/>
            <a:ext cx="1968963" cy="369332"/>
          </a:xfrm>
          <a:prstGeom prst="rect">
            <a:avLst/>
          </a:prstGeom>
          <a:noFill/>
        </p:spPr>
        <p:txBody>
          <a:bodyPr wrap="square" rtlCol="0">
            <a:spAutoFit/>
          </a:bodyPr>
          <a:lstStyle/>
          <a:p>
            <a:r>
              <a:rPr lang="en-US"/>
              <a:t>B determines C</a:t>
            </a:r>
          </a:p>
        </p:txBody>
      </p:sp>
      <p:pic>
        <p:nvPicPr>
          <p:cNvPr id="19" name="Graphic 18" descr="Close with solid fill">
            <a:extLst>
              <a:ext uri="{FF2B5EF4-FFF2-40B4-BE49-F238E27FC236}">
                <a16:creationId xmlns:a16="http://schemas.microsoft.com/office/drawing/2014/main" id="{890B3E17-3CC1-BDEB-7BD2-B8814DF2D5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81472" y="2040637"/>
            <a:ext cx="914400" cy="914400"/>
          </a:xfrm>
          <a:prstGeom prst="rect">
            <a:avLst/>
          </a:prstGeom>
        </p:spPr>
      </p:pic>
      <p:pic>
        <p:nvPicPr>
          <p:cNvPr id="20" name="Graphic 19" descr="Checkmark with solid fill">
            <a:extLst>
              <a:ext uri="{FF2B5EF4-FFF2-40B4-BE49-F238E27FC236}">
                <a16:creationId xmlns:a16="http://schemas.microsoft.com/office/drawing/2014/main" id="{858BFEFF-4720-B309-F6E6-C9ED85C76F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85749" y="3984023"/>
            <a:ext cx="914400" cy="914400"/>
          </a:xfrm>
          <a:prstGeom prst="rect">
            <a:avLst/>
          </a:prstGeom>
        </p:spPr>
      </p:pic>
      <p:sp>
        <p:nvSpPr>
          <p:cNvPr id="21" name="Rectangle 20">
            <a:extLst>
              <a:ext uri="{FF2B5EF4-FFF2-40B4-BE49-F238E27FC236}">
                <a16:creationId xmlns:a16="http://schemas.microsoft.com/office/drawing/2014/main" id="{782F188F-F752-226D-7DFC-25CAB3AE541A}"/>
              </a:ext>
            </a:extLst>
          </p:cNvPr>
          <p:cNvSpPr/>
          <p:nvPr/>
        </p:nvSpPr>
        <p:spPr>
          <a:xfrm>
            <a:off x="6096000" y="5464088"/>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B</a:t>
            </a:r>
          </a:p>
        </p:txBody>
      </p:sp>
      <p:sp>
        <p:nvSpPr>
          <p:cNvPr id="22" name="Rectangle 21">
            <a:extLst>
              <a:ext uri="{FF2B5EF4-FFF2-40B4-BE49-F238E27FC236}">
                <a16:creationId xmlns:a16="http://schemas.microsoft.com/office/drawing/2014/main" id="{B9CA74F6-EC32-9A7A-A904-3A4D57C92F0F}"/>
              </a:ext>
            </a:extLst>
          </p:cNvPr>
          <p:cNvSpPr/>
          <p:nvPr/>
        </p:nvSpPr>
        <p:spPr>
          <a:xfrm>
            <a:off x="8912616" y="5416255"/>
            <a:ext cx="1281495" cy="5406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C</a:t>
            </a:r>
          </a:p>
        </p:txBody>
      </p:sp>
    </p:spTree>
    <p:extLst>
      <p:ext uri="{BB962C8B-B14F-4D97-AF65-F5344CB8AC3E}">
        <p14:creationId xmlns:p14="http://schemas.microsoft.com/office/powerpoint/2010/main" val="1047559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DC4C4-4C12-7ADE-FCB8-B230CE04D3BE}"/>
              </a:ext>
            </a:extLst>
          </p:cNvPr>
          <p:cNvSpPr>
            <a:spLocks noGrp="1"/>
          </p:cNvSpPr>
          <p:nvPr>
            <p:ph type="title"/>
          </p:nvPr>
        </p:nvSpPr>
        <p:spPr/>
        <p:txBody>
          <a:bodyPr/>
          <a:lstStyle/>
          <a:p>
            <a:r>
              <a:rPr lang="en-US"/>
              <a:t>Transitive Functional Dependency Example</a:t>
            </a:r>
          </a:p>
        </p:txBody>
      </p:sp>
      <p:graphicFrame>
        <p:nvGraphicFramePr>
          <p:cNvPr id="5" name="Table 4">
            <a:extLst>
              <a:ext uri="{FF2B5EF4-FFF2-40B4-BE49-F238E27FC236}">
                <a16:creationId xmlns:a16="http://schemas.microsoft.com/office/drawing/2014/main" id="{412EFC1E-7002-F62A-9E73-FBFDBA20563B}"/>
              </a:ext>
            </a:extLst>
          </p:cNvPr>
          <p:cNvGraphicFramePr>
            <a:graphicFrameLocks noGrp="1"/>
          </p:cNvGraphicFramePr>
          <p:nvPr>
            <p:extLst>
              <p:ext uri="{D42A27DB-BD31-4B8C-83A1-F6EECF244321}">
                <p14:modId xmlns:p14="http://schemas.microsoft.com/office/powerpoint/2010/main" val="2606357349"/>
              </p:ext>
            </p:extLst>
          </p:nvPr>
        </p:nvGraphicFramePr>
        <p:xfrm>
          <a:off x="1927411" y="1618634"/>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305095457"/>
                    </a:ext>
                  </a:extLst>
                </a:gridCol>
                <a:gridCol w="2032000">
                  <a:extLst>
                    <a:ext uri="{9D8B030D-6E8A-4147-A177-3AD203B41FA5}">
                      <a16:colId xmlns:a16="http://schemas.microsoft.com/office/drawing/2014/main" val="3504777790"/>
                    </a:ext>
                  </a:extLst>
                </a:gridCol>
                <a:gridCol w="2032000">
                  <a:extLst>
                    <a:ext uri="{9D8B030D-6E8A-4147-A177-3AD203B41FA5}">
                      <a16:colId xmlns:a16="http://schemas.microsoft.com/office/drawing/2014/main" val="1533084694"/>
                    </a:ext>
                  </a:extLst>
                </a:gridCol>
                <a:gridCol w="2032000">
                  <a:extLst>
                    <a:ext uri="{9D8B030D-6E8A-4147-A177-3AD203B41FA5}">
                      <a16:colId xmlns:a16="http://schemas.microsoft.com/office/drawing/2014/main" val="565564491"/>
                    </a:ext>
                  </a:extLst>
                </a:gridCol>
              </a:tblGrid>
              <a:tr h="370840">
                <a:tc>
                  <a:txBody>
                    <a:bodyPr/>
                    <a:lstStyle/>
                    <a:p>
                      <a:r>
                        <a:rPr lang="en-US"/>
                        <a:t>Student ID</a:t>
                      </a:r>
                    </a:p>
                  </a:txBody>
                  <a:tcPr/>
                </a:tc>
                <a:tc>
                  <a:txBody>
                    <a:bodyPr/>
                    <a:lstStyle/>
                    <a:p>
                      <a:r>
                        <a:rPr lang="en-US"/>
                        <a:t>Name</a:t>
                      </a:r>
                    </a:p>
                  </a:txBody>
                  <a:tcPr/>
                </a:tc>
                <a:tc>
                  <a:txBody>
                    <a:bodyPr/>
                    <a:lstStyle/>
                    <a:p>
                      <a:r>
                        <a:rPr lang="en-US"/>
                        <a:t>City</a:t>
                      </a:r>
                    </a:p>
                  </a:txBody>
                  <a:tcPr/>
                </a:tc>
                <a:tc>
                  <a:txBody>
                    <a:bodyPr/>
                    <a:lstStyle/>
                    <a:p>
                      <a:r>
                        <a:rPr lang="en-US"/>
                        <a:t>Postcode</a:t>
                      </a:r>
                    </a:p>
                  </a:txBody>
                  <a:tcPr/>
                </a:tc>
                <a:extLst>
                  <a:ext uri="{0D108BD9-81ED-4DB2-BD59-A6C34878D82A}">
                    <a16:rowId xmlns:a16="http://schemas.microsoft.com/office/drawing/2014/main" val="1115419851"/>
                  </a:ext>
                </a:extLst>
              </a:tr>
              <a:tr h="370840">
                <a:tc>
                  <a:txBody>
                    <a:bodyPr/>
                    <a:lstStyle/>
                    <a:p>
                      <a:r>
                        <a:rPr lang="en-US" dirty="0"/>
                        <a:t>1</a:t>
                      </a:r>
                    </a:p>
                  </a:txBody>
                  <a:tcP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John Smith</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a:t>London</a:t>
                      </a:r>
                    </a:p>
                  </a:txBody>
                  <a:tcPr/>
                </a:tc>
                <a:tc>
                  <a:txBody>
                    <a:bodyPr/>
                    <a:lstStyle/>
                    <a:p>
                      <a:r>
                        <a:rPr lang="en-US"/>
                        <a:t>LXY1Y</a:t>
                      </a:r>
                    </a:p>
                  </a:txBody>
                  <a:tcPr/>
                </a:tc>
                <a:extLst>
                  <a:ext uri="{0D108BD9-81ED-4DB2-BD59-A6C34878D82A}">
                    <a16:rowId xmlns:a16="http://schemas.microsoft.com/office/drawing/2014/main" val="3916405494"/>
                  </a:ext>
                </a:extLst>
              </a:tr>
              <a:tr h="370840">
                <a:tc>
                  <a:txBody>
                    <a:bodyPr/>
                    <a:lstStyle/>
                    <a:p>
                      <a:r>
                        <a:rPr lang="en-US"/>
                        <a:t>2</a:t>
                      </a:r>
                    </a:p>
                  </a:txBody>
                  <a:tcP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Maria Griffin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a:t>Birmingham</a:t>
                      </a:r>
                    </a:p>
                  </a:txBody>
                  <a:tcPr/>
                </a:tc>
                <a:tc>
                  <a:txBody>
                    <a:bodyPr/>
                    <a:lstStyle/>
                    <a:p>
                      <a:r>
                        <a:rPr lang="en-US"/>
                        <a:t>B4GXZ</a:t>
                      </a:r>
                    </a:p>
                  </a:txBody>
                  <a:tcPr/>
                </a:tc>
                <a:extLst>
                  <a:ext uri="{0D108BD9-81ED-4DB2-BD59-A6C34878D82A}">
                    <a16:rowId xmlns:a16="http://schemas.microsoft.com/office/drawing/2014/main" val="3071253768"/>
                  </a:ext>
                </a:extLst>
              </a:tr>
              <a:tr h="370840">
                <a:tc>
                  <a:txBody>
                    <a:bodyPr/>
                    <a:lstStyle/>
                    <a:p>
                      <a:r>
                        <a:rPr lang="en-US"/>
                        <a:t>3</a:t>
                      </a:r>
                    </a:p>
                  </a:txBody>
                  <a:tcP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Susan Johnson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a:t>Amsterdam</a:t>
                      </a:r>
                    </a:p>
                  </a:txBody>
                  <a:tcPr/>
                </a:tc>
                <a:tc>
                  <a:txBody>
                    <a:bodyPr/>
                    <a:lstStyle/>
                    <a:p>
                      <a:r>
                        <a:rPr lang="en-US"/>
                        <a:t>8FP9K</a:t>
                      </a:r>
                    </a:p>
                  </a:txBody>
                  <a:tcPr/>
                </a:tc>
                <a:extLst>
                  <a:ext uri="{0D108BD9-81ED-4DB2-BD59-A6C34878D82A}">
                    <a16:rowId xmlns:a16="http://schemas.microsoft.com/office/drawing/2014/main" val="1777390957"/>
                  </a:ext>
                </a:extLst>
              </a:tr>
              <a:tr h="370840">
                <a:tc>
                  <a:txBody>
                    <a:bodyPr/>
                    <a:lstStyle/>
                    <a:p>
                      <a:r>
                        <a:rPr lang="en-US"/>
                        <a:t>4</a:t>
                      </a:r>
                    </a:p>
                  </a:txBody>
                  <a:tcPr/>
                </a:tc>
                <a:tc>
                  <a:txBody>
                    <a:bodyPr/>
                    <a:lstStyle/>
                    <a:p>
                      <a:pPr marL="0" marR="0" algn="l" fontAlgn="ctr">
                        <a:lnSpc>
                          <a:spcPct val="107000"/>
                        </a:lnSpc>
                        <a:spcBef>
                          <a:spcPts val="0"/>
                        </a:spcBef>
                        <a:spcAft>
                          <a:spcPts val="1800"/>
                        </a:spcAft>
                      </a:pPr>
                      <a:r>
                        <a:rPr lang="en-US" sz="1600" b="0" u="none" strike="noStrike">
                          <a:effectLst/>
                          <a:latin typeface="Arial" panose="020B0604020202020204" pitchFamily="34" charset="0"/>
                          <a:cs typeface="Arial" panose="020B0604020202020204" pitchFamily="34" charset="0"/>
                        </a:rPr>
                        <a:t>Matt Long</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a:t>Vienna</a:t>
                      </a:r>
                    </a:p>
                  </a:txBody>
                  <a:tcPr/>
                </a:tc>
                <a:tc>
                  <a:txBody>
                    <a:bodyPr/>
                    <a:lstStyle/>
                    <a:p>
                      <a:r>
                        <a:rPr lang="en-US" dirty="0"/>
                        <a:t>8901K</a:t>
                      </a:r>
                    </a:p>
                  </a:txBody>
                  <a:tcPr/>
                </a:tc>
                <a:extLst>
                  <a:ext uri="{0D108BD9-81ED-4DB2-BD59-A6C34878D82A}">
                    <a16:rowId xmlns:a16="http://schemas.microsoft.com/office/drawing/2014/main" val="397067494"/>
                  </a:ext>
                </a:extLst>
              </a:tr>
            </a:tbl>
          </a:graphicData>
        </a:graphic>
      </p:graphicFrame>
      <p:sp>
        <p:nvSpPr>
          <p:cNvPr id="6" name="Speech Bubble: Rectangle 1">
            <a:extLst>
              <a:ext uri="{FF2B5EF4-FFF2-40B4-BE49-F238E27FC236}">
                <a16:creationId xmlns:a16="http://schemas.microsoft.com/office/drawing/2014/main" id="{E8593618-1024-17D1-98EE-6311FB9B972C}"/>
              </a:ext>
            </a:extLst>
          </p:cNvPr>
          <p:cNvSpPr/>
          <p:nvPr/>
        </p:nvSpPr>
        <p:spPr>
          <a:xfrm>
            <a:off x="355419" y="1296139"/>
            <a:ext cx="1292881" cy="644990"/>
          </a:xfrm>
          <a:prstGeom prst="wedgeRectCallout">
            <a:avLst>
              <a:gd name="adj1" fmla="val 70677"/>
              <a:gd name="adj2" fmla="val 23736"/>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Primary key</a:t>
            </a:r>
          </a:p>
        </p:txBody>
      </p:sp>
      <p:sp>
        <p:nvSpPr>
          <p:cNvPr id="9" name="TextBox 8">
            <a:extLst>
              <a:ext uri="{FF2B5EF4-FFF2-40B4-BE49-F238E27FC236}">
                <a16:creationId xmlns:a16="http://schemas.microsoft.com/office/drawing/2014/main" id="{285DA184-FB8B-F26B-2FF1-B76EC2D1F4B8}"/>
              </a:ext>
            </a:extLst>
          </p:cNvPr>
          <p:cNvSpPr txBox="1"/>
          <p:nvPr/>
        </p:nvSpPr>
        <p:spPr>
          <a:xfrm>
            <a:off x="762000" y="3701260"/>
            <a:ext cx="11125201" cy="2246769"/>
          </a:xfrm>
          <a:prstGeom prst="rect">
            <a:avLst/>
          </a:prstGeom>
          <a:noFill/>
        </p:spPr>
        <p:txBody>
          <a:bodyPr wrap="square" rtlCol="0">
            <a:spAutoFit/>
          </a:bodyPr>
          <a:lstStyle/>
          <a:p>
            <a:pPr marL="285750" indent="-285750" fontAlgn="base">
              <a:buFont typeface="Arial" panose="020B0604020202020204" pitchFamily="34" charset="0"/>
              <a:buChar char="•"/>
            </a:pPr>
            <a:r>
              <a:rPr lang="en-GB" sz="2000" dirty="0">
                <a:latin typeface="Arial" panose="020B0604020202020204" pitchFamily="34" charset="0"/>
                <a:cs typeface="Arial" panose="020B0604020202020204" pitchFamily="34" charset="0"/>
              </a:rPr>
              <a:t>Here the primary key is </a:t>
            </a:r>
            <a:r>
              <a:rPr lang="en-GB" sz="2000" b="1" dirty="0">
                <a:latin typeface="Arial" panose="020B0604020202020204" pitchFamily="34" charset="0"/>
                <a:cs typeface="Arial" panose="020B0604020202020204" pitchFamily="34" charset="0"/>
              </a:rPr>
              <a:t>Student ID, </a:t>
            </a:r>
            <a:r>
              <a:rPr lang="en-GB" sz="2000" dirty="0">
                <a:latin typeface="Arial" panose="020B0604020202020204" pitchFamily="34" charset="0"/>
                <a:cs typeface="Arial" panose="020B0604020202020204" pitchFamily="34" charset="0"/>
              </a:rPr>
              <a:t>but we can identify the </a:t>
            </a:r>
            <a:r>
              <a:rPr lang="en-GB" sz="2000" b="1" dirty="0">
                <a:latin typeface="Arial" panose="020B0604020202020204" pitchFamily="34" charset="0"/>
                <a:cs typeface="Arial" panose="020B0604020202020204" pitchFamily="34" charset="0"/>
              </a:rPr>
              <a:t>City</a:t>
            </a:r>
            <a:r>
              <a:rPr lang="en-GB" sz="2000" dirty="0">
                <a:latin typeface="Arial" panose="020B0604020202020204" pitchFamily="34" charset="0"/>
                <a:cs typeface="Arial" panose="020B0604020202020204" pitchFamily="34" charset="0"/>
              </a:rPr>
              <a:t> using </a:t>
            </a:r>
            <a:r>
              <a:rPr lang="en-GB" sz="2000" b="1" dirty="0">
                <a:latin typeface="Arial" panose="020B0604020202020204" pitchFamily="34" charset="0"/>
                <a:cs typeface="Arial" panose="020B0604020202020204" pitchFamily="34" charset="0"/>
              </a:rPr>
              <a:t>Postcode</a:t>
            </a:r>
            <a:r>
              <a:rPr lang="en-GB" sz="2000" dirty="0">
                <a:latin typeface="Arial" panose="020B0604020202020204" pitchFamily="34" charset="0"/>
                <a:cs typeface="Arial" panose="020B0604020202020204" pitchFamily="34" charset="0"/>
              </a:rPr>
              <a:t>, where </a:t>
            </a:r>
            <a:r>
              <a:rPr lang="en-GB" sz="2000" b="1" dirty="0">
                <a:latin typeface="Arial" panose="020B0604020202020204" pitchFamily="34" charset="0"/>
                <a:cs typeface="Arial" panose="020B0604020202020204" pitchFamily="34" charset="0"/>
              </a:rPr>
              <a:t>City</a:t>
            </a:r>
            <a:r>
              <a:rPr lang="en-GB" sz="2000" dirty="0">
                <a:latin typeface="Arial" panose="020B0604020202020204" pitchFamily="34" charset="0"/>
                <a:cs typeface="Arial" panose="020B0604020202020204" pitchFamily="34" charset="0"/>
              </a:rPr>
              <a:t> and </a:t>
            </a:r>
            <a:r>
              <a:rPr lang="en-GB" sz="2000" b="1" dirty="0">
                <a:latin typeface="Arial" panose="020B0604020202020204" pitchFamily="34" charset="0"/>
                <a:cs typeface="Arial" panose="020B0604020202020204" pitchFamily="34" charset="0"/>
              </a:rPr>
              <a:t>Postcode</a:t>
            </a:r>
            <a:r>
              <a:rPr lang="en-GB" sz="2000" dirty="0">
                <a:latin typeface="Arial" panose="020B0604020202020204" pitchFamily="34" charset="0"/>
                <a:cs typeface="Arial" panose="020B0604020202020204" pitchFamily="34" charset="0"/>
              </a:rPr>
              <a:t> both are the primary key</a:t>
            </a:r>
          </a:p>
          <a:p>
            <a:pPr marL="285750" indent="-285750" fontAlgn="base">
              <a:buFont typeface="Arial" panose="020B0604020202020204" pitchFamily="34" charset="0"/>
              <a:buChar char="•"/>
            </a:pPr>
            <a:r>
              <a:rPr lang="en-GB" sz="2000" dirty="0">
                <a:latin typeface="Arial" panose="020B0604020202020204" pitchFamily="34" charset="0"/>
                <a:cs typeface="Arial" panose="020B0604020202020204" pitchFamily="34" charset="0"/>
              </a:rPr>
              <a:t>So here </a:t>
            </a:r>
            <a:r>
              <a:rPr lang="en-GB" sz="2000" b="1" dirty="0">
                <a:latin typeface="Arial" panose="020B0604020202020204" pitchFamily="34" charset="0"/>
                <a:cs typeface="Arial" panose="020B0604020202020204" pitchFamily="34" charset="0"/>
              </a:rPr>
              <a:t>Student ID→ City</a:t>
            </a:r>
            <a:r>
              <a:rPr lang="en-GB" sz="2000" dirty="0">
                <a:latin typeface="Arial" panose="020B0604020202020204" pitchFamily="34" charset="0"/>
                <a:cs typeface="Arial" panose="020B0604020202020204" pitchFamily="34" charset="0"/>
              </a:rPr>
              <a:t> and </a:t>
            </a:r>
            <a:r>
              <a:rPr lang="en-GB" sz="2000" b="1" dirty="0" err="1">
                <a:latin typeface="Arial" panose="020B0604020202020204" pitchFamily="34" charset="0"/>
                <a:cs typeface="Arial" panose="020B0604020202020204" pitchFamily="34" charset="0"/>
              </a:rPr>
              <a:t>City→Postcode</a:t>
            </a:r>
            <a:r>
              <a:rPr lang="en-GB" sz="2000" dirty="0">
                <a:latin typeface="Arial" panose="020B0604020202020204" pitchFamily="34" charset="0"/>
                <a:cs typeface="Arial" panose="020B0604020202020204" pitchFamily="34" charset="0"/>
              </a:rPr>
              <a:t> eventually resulting into </a:t>
            </a:r>
          </a:p>
          <a:p>
            <a:pPr fontAlgn="base"/>
            <a:r>
              <a:rPr lang="en-GB" sz="2000" b="1" dirty="0">
                <a:latin typeface="Arial" panose="020B0604020202020204" pitchFamily="34" charset="0"/>
                <a:cs typeface="Arial" panose="020B0604020202020204" pitchFamily="34" charset="0"/>
              </a:rPr>
              <a:t>				Student </a:t>
            </a:r>
            <a:r>
              <a:rPr lang="en-GB" sz="2000" b="1" dirty="0" err="1">
                <a:latin typeface="Arial" panose="020B0604020202020204" pitchFamily="34" charset="0"/>
                <a:cs typeface="Arial" panose="020B0604020202020204" pitchFamily="34" charset="0"/>
              </a:rPr>
              <a:t>ID→Postcode</a:t>
            </a:r>
            <a:endParaRPr lang="en-GB" sz="2000" b="1" dirty="0">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GB" sz="2000" dirty="0">
                <a:latin typeface="Arial" panose="020B0604020202020204" pitchFamily="34" charset="0"/>
                <a:cs typeface="Arial" panose="020B0604020202020204" pitchFamily="34" charset="0"/>
              </a:rPr>
              <a:t>We can find a non-primary attribute using another non-primary attribute.</a:t>
            </a:r>
          </a:p>
          <a:p>
            <a:pPr marL="285750" indent="-285750" fontAlgn="base">
              <a:buFont typeface="Arial" panose="020B0604020202020204" pitchFamily="34" charset="0"/>
              <a:buChar char="•"/>
            </a:pPr>
            <a:r>
              <a:rPr lang="en-GB" sz="2000" dirty="0">
                <a:latin typeface="Arial" panose="020B0604020202020204" pitchFamily="34" charset="0"/>
                <a:cs typeface="Arial" panose="020B0604020202020204" pitchFamily="34" charset="0"/>
              </a:rPr>
              <a:t>This type of functional dependency is known as </a:t>
            </a:r>
            <a:r>
              <a:rPr lang="en-GB" sz="2000" b="1" dirty="0">
                <a:latin typeface="Arial" panose="020B0604020202020204" pitchFamily="34" charset="0"/>
                <a:cs typeface="Arial" panose="020B0604020202020204" pitchFamily="34" charset="0"/>
              </a:rPr>
              <a:t>Transitive Dependency</a:t>
            </a:r>
            <a:endParaRPr lang="en-GB"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4796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DE9DF-4B45-2599-2D35-9F55A47A97C8}"/>
              </a:ext>
            </a:extLst>
          </p:cNvPr>
          <p:cNvSpPr>
            <a:spLocks noGrp="1"/>
          </p:cNvSpPr>
          <p:nvPr>
            <p:ph type="title"/>
          </p:nvPr>
        </p:nvSpPr>
        <p:spPr/>
        <p:txBody>
          <a:bodyPr/>
          <a:lstStyle/>
          <a:p>
            <a:r>
              <a:rPr lang="en-GB" noProof="0"/>
              <a:t>3 NF Example</a:t>
            </a:r>
          </a:p>
        </p:txBody>
      </p:sp>
      <p:graphicFrame>
        <p:nvGraphicFramePr>
          <p:cNvPr id="5" name="Table 5">
            <a:extLst>
              <a:ext uri="{FF2B5EF4-FFF2-40B4-BE49-F238E27FC236}">
                <a16:creationId xmlns:a16="http://schemas.microsoft.com/office/drawing/2014/main" id="{2375674B-5B41-D512-B55C-8EECA5731AE5}"/>
              </a:ext>
            </a:extLst>
          </p:cNvPr>
          <p:cNvGraphicFramePr>
            <a:graphicFrameLocks noGrp="1"/>
          </p:cNvGraphicFramePr>
          <p:nvPr>
            <p:ph sz="half" idx="1"/>
            <p:extLst>
              <p:ext uri="{D42A27DB-BD31-4B8C-83A1-F6EECF244321}">
                <p14:modId xmlns:p14="http://schemas.microsoft.com/office/powerpoint/2010/main" val="1028508713"/>
              </p:ext>
            </p:extLst>
          </p:nvPr>
        </p:nvGraphicFramePr>
        <p:xfrm>
          <a:off x="300349" y="1846263"/>
          <a:ext cx="5673413" cy="3143803"/>
        </p:xfrm>
        <a:graphic>
          <a:graphicData uri="http://schemas.openxmlformats.org/drawingml/2006/table">
            <a:tbl>
              <a:tblPr firstRow="1" bandRow="1">
                <a:tableStyleId>{5C22544A-7EE6-4342-B048-85BDC9FD1C3A}</a:tableStyleId>
              </a:tblPr>
              <a:tblGrid>
                <a:gridCol w="1356434">
                  <a:extLst>
                    <a:ext uri="{9D8B030D-6E8A-4147-A177-3AD203B41FA5}">
                      <a16:colId xmlns:a16="http://schemas.microsoft.com/office/drawing/2014/main" val="73718930"/>
                    </a:ext>
                  </a:extLst>
                </a:gridCol>
                <a:gridCol w="912930">
                  <a:extLst>
                    <a:ext uri="{9D8B030D-6E8A-4147-A177-3AD203B41FA5}">
                      <a16:colId xmlns:a16="http://schemas.microsoft.com/office/drawing/2014/main" val="3302760976"/>
                    </a:ext>
                  </a:extLst>
                </a:gridCol>
                <a:gridCol w="1134683">
                  <a:extLst>
                    <a:ext uri="{9D8B030D-6E8A-4147-A177-3AD203B41FA5}">
                      <a16:colId xmlns:a16="http://schemas.microsoft.com/office/drawing/2014/main" val="1871370037"/>
                    </a:ext>
                  </a:extLst>
                </a:gridCol>
                <a:gridCol w="1134683">
                  <a:extLst>
                    <a:ext uri="{9D8B030D-6E8A-4147-A177-3AD203B41FA5}">
                      <a16:colId xmlns:a16="http://schemas.microsoft.com/office/drawing/2014/main" val="431154076"/>
                    </a:ext>
                  </a:extLst>
                </a:gridCol>
                <a:gridCol w="1134683">
                  <a:extLst>
                    <a:ext uri="{9D8B030D-6E8A-4147-A177-3AD203B41FA5}">
                      <a16:colId xmlns:a16="http://schemas.microsoft.com/office/drawing/2014/main" val="463355242"/>
                    </a:ext>
                  </a:extLst>
                </a:gridCol>
              </a:tblGrid>
              <a:tr h="651215">
                <a:tc>
                  <a:txBody>
                    <a:bodyPr/>
                    <a:lstStyle/>
                    <a:p>
                      <a:r>
                        <a:rPr lang="en-US" sz="1600" err="1">
                          <a:latin typeface="Arial" panose="020B0604020202020204" pitchFamily="34" charset="0"/>
                          <a:cs typeface="Arial" panose="020B0604020202020204" pitchFamily="34" charset="0"/>
                        </a:rPr>
                        <a:t>Cust_ID</a:t>
                      </a:r>
                      <a:endParaRPr lang="en-US" sz="1600">
                        <a:latin typeface="Arial" panose="020B0604020202020204" pitchFamily="34" charset="0"/>
                        <a:cs typeface="Arial" panose="020B0604020202020204" pitchFamily="34" charset="0"/>
                      </a:endParaRPr>
                    </a:p>
                  </a:txBody>
                  <a:tcPr/>
                </a:tc>
                <a:tc>
                  <a:txBody>
                    <a:bodyPr/>
                    <a:lstStyle/>
                    <a:p>
                      <a:r>
                        <a:rPr lang="en-US" sz="1600">
                          <a:latin typeface="Arial" panose="020B0604020202020204" pitchFamily="34" charset="0"/>
                          <a:cs typeface="Arial" panose="020B0604020202020204" pitchFamily="34" charset="0"/>
                        </a:rPr>
                        <a:t>Name</a:t>
                      </a:r>
                    </a:p>
                  </a:txBody>
                  <a:tcPr/>
                </a:tc>
                <a:tc>
                  <a:txBody>
                    <a:bodyPr/>
                    <a:lstStyle/>
                    <a:p>
                      <a:r>
                        <a:rPr lang="en-US" sz="1600">
                          <a:latin typeface="Arial" panose="020B0604020202020204" pitchFamily="34" charset="0"/>
                          <a:cs typeface="Arial" panose="020B0604020202020204" pitchFamily="34" charset="0"/>
                        </a:rPr>
                        <a:t>Acct_</a:t>
                      </a:r>
                    </a:p>
                    <a:p>
                      <a:r>
                        <a:rPr lang="en-US" sz="1600">
                          <a:latin typeface="Arial" panose="020B0604020202020204" pitchFamily="34" charset="0"/>
                          <a:cs typeface="Arial" panose="020B0604020202020204" pitchFamily="34" charset="0"/>
                        </a:rPr>
                        <a:t>Number</a:t>
                      </a:r>
                    </a:p>
                  </a:txBody>
                  <a:tcPr/>
                </a:tc>
                <a:tc>
                  <a:txBody>
                    <a:bodyPr/>
                    <a:lstStyle/>
                    <a:p>
                      <a:r>
                        <a:rPr lang="en-US" sz="1600">
                          <a:latin typeface="Arial" panose="020B0604020202020204" pitchFamily="34" charset="0"/>
                          <a:cs typeface="Arial" panose="020B0604020202020204" pitchFamily="34" charset="0"/>
                        </a:rPr>
                        <a:t>Bank</a:t>
                      </a:r>
                    </a:p>
                    <a:p>
                      <a:r>
                        <a:rPr lang="en-US" sz="1600">
                          <a:latin typeface="Arial" panose="020B0604020202020204" pitchFamily="34" charset="0"/>
                          <a:cs typeface="Arial" panose="020B0604020202020204" pitchFamily="34" charset="0"/>
                        </a:rPr>
                        <a:t>Code</a:t>
                      </a:r>
                    </a:p>
                  </a:txBody>
                  <a:tcPr/>
                </a:tc>
                <a:tc>
                  <a:txBody>
                    <a:bodyPr/>
                    <a:lstStyle/>
                    <a:p>
                      <a:r>
                        <a:rPr lang="en-US" sz="1600">
                          <a:latin typeface="Arial" panose="020B0604020202020204" pitchFamily="34" charset="0"/>
                          <a:cs typeface="Arial" panose="020B0604020202020204" pitchFamily="34" charset="0"/>
                        </a:rPr>
                        <a:t>Bank Name</a:t>
                      </a:r>
                    </a:p>
                  </a:txBody>
                  <a:tcPr/>
                </a:tc>
                <a:extLst>
                  <a:ext uri="{0D108BD9-81ED-4DB2-BD59-A6C34878D82A}">
                    <a16:rowId xmlns:a16="http://schemas.microsoft.com/office/drawing/2014/main" val="3342753773"/>
                  </a:ext>
                </a:extLst>
              </a:tr>
              <a:tr h="534367">
                <a:tc>
                  <a:txBody>
                    <a:bodyPr/>
                    <a:lstStyle/>
                    <a:p>
                      <a:r>
                        <a:rPr lang="en-US" sz="1600">
                          <a:latin typeface="Arial" panose="020B0604020202020204" pitchFamily="34" charset="0"/>
                          <a:cs typeface="Arial" panose="020B0604020202020204" pitchFamily="34" charset="0"/>
                        </a:rPr>
                        <a:t>1</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John Smith</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200004</a:t>
                      </a:r>
                    </a:p>
                  </a:txBody>
                  <a:tcPr/>
                </a:tc>
                <a:tc>
                  <a:txBody>
                    <a:bodyPr/>
                    <a:lstStyle/>
                    <a:p>
                      <a:r>
                        <a:rPr lang="en-US" sz="1600">
                          <a:latin typeface="Arial" panose="020B0604020202020204" pitchFamily="34" charset="0"/>
                          <a:cs typeface="Arial" panose="020B0604020202020204" pitchFamily="34" charset="0"/>
                        </a:rPr>
                        <a:t>400</a:t>
                      </a:r>
                    </a:p>
                  </a:txBody>
                  <a:tcPr/>
                </a:tc>
                <a:tc>
                  <a:txBody>
                    <a:bodyPr/>
                    <a:lstStyle/>
                    <a:p>
                      <a:r>
                        <a:rPr lang="en-US" sz="1600">
                          <a:latin typeface="Arial" panose="020B0604020202020204" pitchFamily="34" charset="0"/>
                          <a:cs typeface="Arial" panose="020B0604020202020204" pitchFamily="34" charset="0"/>
                        </a:rPr>
                        <a:t>Chase</a:t>
                      </a:r>
                    </a:p>
                  </a:txBody>
                  <a:tcPr/>
                </a:tc>
                <a:extLst>
                  <a:ext uri="{0D108BD9-81ED-4DB2-BD59-A6C34878D82A}">
                    <a16:rowId xmlns:a16="http://schemas.microsoft.com/office/drawing/2014/main" val="4261082243"/>
                  </a:ext>
                </a:extLst>
              </a:tr>
              <a:tr h="534367">
                <a:tc>
                  <a:txBody>
                    <a:bodyPr/>
                    <a:lstStyle/>
                    <a:p>
                      <a:r>
                        <a:rPr lang="en-US" sz="1600">
                          <a:latin typeface="Arial" panose="020B0604020202020204" pitchFamily="34" charset="0"/>
                          <a:cs typeface="Arial" panose="020B0604020202020204" pitchFamily="34" charset="0"/>
                        </a:rPr>
                        <a:t>2</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Maria Griffin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545151</a:t>
                      </a:r>
                    </a:p>
                  </a:txBody>
                  <a:tcPr/>
                </a:tc>
                <a:tc>
                  <a:txBody>
                    <a:bodyPr/>
                    <a:lstStyle/>
                    <a:p>
                      <a:r>
                        <a:rPr lang="en-US" sz="1600">
                          <a:latin typeface="Arial" panose="020B0604020202020204" pitchFamily="34" charset="0"/>
                          <a:cs typeface="Arial" panose="020B0604020202020204" pitchFamily="34" charset="0"/>
                        </a:rPr>
                        <a:t>501</a:t>
                      </a:r>
                    </a:p>
                  </a:txBody>
                  <a:tcPr/>
                </a:tc>
                <a:tc>
                  <a:txBody>
                    <a:bodyPr/>
                    <a:lstStyle/>
                    <a:p>
                      <a:r>
                        <a:rPr lang="en-US" sz="1600">
                          <a:latin typeface="Arial" panose="020B0604020202020204" pitchFamily="34" charset="0"/>
                          <a:cs typeface="Arial" panose="020B0604020202020204" pitchFamily="34" charset="0"/>
                        </a:rPr>
                        <a:t>ESL</a:t>
                      </a:r>
                    </a:p>
                  </a:txBody>
                  <a:tcPr/>
                </a:tc>
                <a:extLst>
                  <a:ext uri="{0D108BD9-81ED-4DB2-BD59-A6C34878D82A}">
                    <a16:rowId xmlns:a16="http://schemas.microsoft.com/office/drawing/2014/main" val="2197385192"/>
                  </a:ext>
                </a:extLst>
              </a:tr>
              <a:tr h="534367">
                <a:tc>
                  <a:txBody>
                    <a:bodyPr/>
                    <a:lstStyle/>
                    <a:p>
                      <a:r>
                        <a:rPr lang="en-US" sz="1600">
                          <a:latin typeface="Arial" panose="020B0604020202020204" pitchFamily="34" charset="0"/>
                          <a:cs typeface="Arial" panose="020B0604020202020204" pitchFamily="34" charset="0"/>
                        </a:rPr>
                        <a:t>3</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Susan Johnson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353453</a:t>
                      </a:r>
                    </a:p>
                  </a:txBody>
                  <a:tcPr/>
                </a:tc>
                <a:tc>
                  <a:txBody>
                    <a:bodyPr/>
                    <a:lstStyle/>
                    <a:p>
                      <a:r>
                        <a:rPr lang="en-US" sz="1600">
                          <a:latin typeface="Arial" panose="020B0604020202020204" pitchFamily="34" charset="0"/>
                          <a:cs typeface="Arial" panose="020B0604020202020204" pitchFamily="34" charset="0"/>
                        </a:rPr>
                        <a:t>400</a:t>
                      </a:r>
                    </a:p>
                  </a:txBody>
                  <a:tcPr/>
                </a:tc>
                <a:tc>
                  <a:txBody>
                    <a:bodyPr/>
                    <a:lstStyle/>
                    <a:p>
                      <a:r>
                        <a:rPr lang="en-US" sz="1600">
                          <a:latin typeface="Arial" panose="020B0604020202020204" pitchFamily="34" charset="0"/>
                          <a:cs typeface="Arial" panose="020B0604020202020204" pitchFamily="34" charset="0"/>
                        </a:rPr>
                        <a:t>Chase</a:t>
                      </a:r>
                    </a:p>
                  </a:txBody>
                  <a:tcPr/>
                </a:tc>
                <a:extLst>
                  <a:ext uri="{0D108BD9-81ED-4DB2-BD59-A6C34878D82A}">
                    <a16:rowId xmlns:a16="http://schemas.microsoft.com/office/drawing/2014/main" val="2619357166"/>
                  </a:ext>
                </a:extLst>
              </a:tr>
              <a:tr h="377291">
                <a:tc>
                  <a:txBody>
                    <a:bodyPr/>
                    <a:lstStyle/>
                    <a:p>
                      <a:r>
                        <a:rPr lang="en-US" sz="1600">
                          <a:latin typeface="Arial" panose="020B0604020202020204" pitchFamily="34" charset="0"/>
                          <a:cs typeface="Arial" panose="020B0604020202020204" pitchFamily="34" charset="0"/>
                        </a:rPr>
                        <a:t>4</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Matt Long</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784234</a:t>
                      </a:r>
                    </a:p>
                  </a:txBody>
                  <a:tcPr/>
                </a:tc>
                <a:tc>
                  <a:txBody>
                    <a:bodyPr/>
                    <a:lstStyle/>
                    <a:p>
                      <a:r>
                        <a:rPr lang="en-US" sz="1600">
                          <a:latin typeface="Arial" panose="020B0604020202020204" pitchFamily="34" charset="0"/>
                          <a:cs typeface="Arial" panose="020B0604020202020204" pitchFamily="34" charset="0"/>
                        </a:rPr>
                        <a:t>303</a:t>
                      </a:r>
                    </a:p>
                  </a:txBody>
                  <a:tcPr/>
                </a:tc>
                <a:tc>
                  <a:txBody>
                    <a:bodyPr/>
                    <a:lstStyle/>
                    <a:p>
                      <a:r>
                        <a:rPr lang="en-US" sz="1600" err="1">
                          <a:latin typeface="Arial" panose="020B0604020202020204" pitchFamily="34" charset="0"/>
                          <a:cs typeface="Arial" panose="020B0604020202020204" pitchFamily="34" charset="0"/>
                        </a:rPr>
                        <a:t>BoA</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48112095"/>
                  </a:ext>
                </a:extLst>
              </a:tr>
            </a:tbl>
          </a:graphicData>
        </a:graphic>
      </p:graphicFrame>
      <p:graphicFrame>
        <p:nvGraphicFramePr>
          <p:cNvPr id="6" name="Table 6">
            <a:extLst>
              <a:ext uri="{FF2B5EF4-FFF2-40B4-BE49-F238E27FC236}">
                <a16:creationId xmlns:a16="http://schemas.microsoft.com/office/drawing/2014/main" id="{78D646F0-B88B-57B1-A91A-CFFFD808AC4C}"/>
              </a:ext>
            </a:extLst>
          </p:cNvPr>
          <p:cNvGraphicFramePr>
            <a:graphicFrameLocks/>
          </p:cNvGraphicFramePr>
          <p:nvPr>
            <p:extLst>
              <p:ext uri="{D42A27DB-BD31-4B8C-83A1-F6EECF244321}">
                <p14:modId xmlns:p14="http://schemas.microsoft.com/office/powerpoint/2010/main" val="2681746239"/>
              </p:ext>
            </p:extLst>
          </p:nvPr>
        </p:nvGraphicFramePr>
        <p:xfrm>
          <a:off x="7670520" y="1672335"/>
          <a:ext cx="2549244" cy="1691640"/>
        </p:xfrm>
        <a:graphic>
          <a:graphicData uri="http://schemas.openxmlformats.org/drawingml/2006/table">
            <a:tbl>
              <a:tblPr firstRow="1" bandRow="1">
                <a:tableStyleId>{5C22544A-7EE6-4342-B048-85BDC9FD1C3A}</a:tableStyleId>
              </a:tblPr>
              <a:tblGrid>
                <a:gridCol w="1010194">
                  <a:extLst>
                    <a:ext uri="{9D8B030D-6E8A-4147-A177-3AD203B41FA5}">
                      <a16:colId xmlns:a16="http://schemas.microsoft.com/office/drawing/2014/main" val="3546179144"/>
                    </a:ext>
                  </a:extLst>
                </a:gridCol>
                <a:gridCol w="1539050">
                  <a:extLst>
                    <a:ext uri="{9D8B030D-6E8A-4147-A177-3AD203B41FA5}">
                      <a16:colId xmlns:a16="http://schemas.microsoft.com/office/drawing/2014/main" val="3883888006"/>
                    </a:ext>
                  </a:extLst>
                </a:gridCol>
              </a:tblGrid>
              <a:tr h="370840">
                <a:tc>
                  <a:txBody>
                    <a:bodyPr/>
                    <a:lstStyle/>
                    <a:p>
                      <a:r>
                        <a:rPr lang="en-US" sz="1600">
                          <a:latin typeface="Arial" panose="020B0604020202020204" pitchFamily="34" charset="0"/>
                          <a:cs typeface="Arial" panose="020B0604020202020204" pitchFamily="34" charset="0"/>
                        </a:rPr>
                        <a:t>Bank Code</a:t>
                      </a:r>
                    </a:p>
                  </a:txBody>
                  <a:tcPr/>
                </a:tc>
                <a:tc>
                  <a:txBody>
                    <a:bodyPr/>
                    <a:lstStyle/>
                    <a:p>
                      <a:r>
                        <a:rPr lang="en-US" sz="1600"/>
                        <a:t>Bank Name</a:t>
                      </a:r>
                    </a:p>
                  </a:txBody>
                  <a:tcPr/>
                </a:tc>
                <a:extLst>
                  <a:ext uri="{0D108BD9-81ED-4DB2-BD59-A6C34878D82A}">
                    <a16:rowId xmlns:a16="http://schemas.microsoft.com/office/drawing/2014/main" val="3019248837"/>
                  </a:ext>
                </a:extLst>
              </a:tr>
              <a:tr h="370840">
                <a:tc>
                  <a:txBody>
                    <a:bodyPr/>
                    <a:lstStyle/>
                    <a:p>
                      <a:r>
                        <a:rPr lang="en-US" sz="1600">
                          <a:latin typeface="Arial" panose="020B0604020202020204" pitchFamily="34" charset="0"/>
                          <a:cs typeface="Arial" panose="020B0604020202020204" pitchFamily="34" charset="0"/>
                        </a:rPr>
                        <a:t>303</a:t>
                      </a:r>
                    </a:p>
                  </a:txBody>
                  <a:tcPr/>
                </a:tc>
                <a:tc>
                  <a:txBody>
                    <a:bodyPr/>
                    <a:lstStyle/>
                    <a:p>
                      <a:pPr marL="0" marR="0">
                        <a:lnSpc>
                          <a:spcPct val="107000"/>
                        </a:lnSpc>
                        <a:spcBef>
                          <a:spcPts val="0"/>
                        </a:spcBef>
                        <a:spcAft>
                          <a:spcPts val="1800"/>
                        </a:spcAft>
                      </a:pPr>
                      <a:r>
                        <a:rPr lang="en-US" sz="1600" err="1">
                          <a:effectLst/>
                        </a:rPr>
                        <a:t>BoA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3068025185"/>
                  </a:ext>
                </a:extLst>
              </a:tr>
              <a:tr h="370840">
                <a:tc>
                  <a:txBody>
                    <a:bodyPr/>
                    <a:lstStyle/>
                    <a:p>
                      <a:r>
                        <a:rPr lang="en-US" sz="1600">
                          <a:latin typeface="Arial" panose="020B0604020202020204" pitchFamily="34" charset="0"/>
                          <a:cs typeface="Arial" panose="020B0604020202020204" pitchFamily="34" charset="0"/>
                        </a:rPr>
                        <a:t>400</a:t>
                      </a:r>
                    </a:p>
                  </a:txBody>
                  <a:tcPr/>
                </a:tc>
                <a:tc>
                  <a:txBody>
                    <a:bodyPr/>
                    <a:lstStyle/>
                    <a:p>
                      <a:pPr marL="0" marR="0">
                        <a:lnSpc>
                          <a:spcPct val="107000"/>
                        </a:lnSpc>
                        <a:spcBef>
                          <a:spcPts val="0"/>
                        </a:spcBef>
                        <a:spcAft>
                          <a:spcPts val="1800"/>
                        </a:spcAft>
                      </a:pPr>
                      <a:r>
                        <a:rPr lang="en-US" sz="1600">
                          <a:effectLst/>
                        </a:rPr>
                        <a:t>Chase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2939273092"/>
                  </a:ext>
                </a:extLst>
              </a:tr>
              <a:tr h="370840">
                <a:tc>
                  <a:txBody>
                    <a:bodyPr/>
                    <a:lstStyle/>
                    <a:p>
                      <a:r>
                        <a:rPr lang="en-US" sz="1600">
                          <a:latin typeface="Arial" panose="020B0604020202020204" pitchFamily="34" charset="0"/>
                          <a:cs typeface="Arial" panose="020B0604020202020204" pitchFamily="34" charset="0"/>
                        </a:rPr>
                        <a:t>501</a:t>
                      </a:r>
                    </a:p>
                  </a:txBody>
                  <a:tcPr/>
                </a:tc>
                <a:tc>
                  <a:txBody>
                    <a:bodyPr/>
                    <a:lstStyle/>
                    <a:p>
                      <a:pPr marL="0" marR="0">
                        <a:lnSpc>
                          <a:spcPct val="107000"/>
                        </a:lnSpc>
                        <a:spcBef>
                          <a:spcPts val="0"/>
                        </a:spcBef>
                        <a:spcAft>
                          <a:spcPts val="1800"/>
                        </a:spcAft>
                      </a:pPr>
                      <a:r>
                        <a:rPr lang="en-US" sz="1600">
                          <a:effectLst/>
                        </a:rPr>
                        <a:t>ESL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nchor="ctr"/>
                </a:tc>
                <a:extLst>
                  <a:ext uri="{0D108BD9-81ED-4DB2-BD59-A6C34878D82A}">
                    <a16:rowId xmlns:a16="http://schemas.microsoft.com/office/drawing/2014/main" val="2586340061"/>
                  </a:ext>
                </a:extLst>
              </a:tr>
            </a:tbl>
          </a:graphicData>
        </a:graphic>
      </p:graphicFrame>
      <p:graphicFrame>
        <p:nvGraphicFramePr>
          <p:cNvPr id="7" name="Table 5">
            <a:extLst>
              <a:ext uri="{FF2B5EF4-FFF2-40B4-BE49-F238E27FC236}">
                <a16:creationId xmlns:a16="http://schemas.microsoft.com/office/drawing/2014/main" id="{82F1E147-5F95-9495-EB6B-CEA53DCC0D1F}"/>
              </a:ext>
            </a:extLst>
          </p:cNvPr>
          <p:cNvGraphicFramePr>
            <a:graphicFrameLocks/>
          </p:cNvGraphicFramePr>
          <p:nvPr>
            <p:extLst>
              <p:ext uri="{D42A27DB-BD31-4B8C-83A1-F6EECF244321}">
                <p14:modId xmlns:p14="http://schemas.microsoft.com/office/powerpoint/2010/main" val="1178132808"/>
              </p:ext>
            </p:extLst>
          </p:nvPr>
        </p:nvGraphicFramePr>
        <p:xfrm>
          <a:off x="6420740" y="3790223"/>
          <a:ext cx="5243095" cy="2568584"/>
        </p:xfrm>
        <a:graphic>
          <a:graphicData uri="http://schemas.openxmlformats.org/drawingml/2006/table">
            <a:tbl>
              <a:tblPr firstRow="1" bandRow="1">
                <a:tableStyleId>{5C22544A-7EE6-4342-B048-85BDC9FD1C3A}</a:tableStyleId>
              </a:tblPr>
              <a:tblGrid>
                <a:gridCol w="1176848">
                  <a:extLst>
                    <a:ext uri="{9D8B030D-6E8A-4147-A177-3AD203B41FA5}">
                      <a16:colId xmlns:a16="http://schemas.microsoft.com/office/drawing/2014/main" val="73718930"/>
                    </a:ext>
                  </a:extLst>
                </a:gridCol>
                <a:gridCol w="1190462">
                  <a:extLst>
                    <a:ext uri="{9D8B030D-6E8A-4147-A177-3AD203B41FA5}">
                      <a16:colId xmlns:a16="http://schemas.microsoft.com/office/drawing/2014/main" val="3302760976"/>
                    </a:ext>
                  </a:extLst>
                </a:gridCol>
                <a:gridCol w="1486735">
                  <a:extLst>
                    <a:ext uri="{9D8B030D-6E8A-4147-A177-3AD203B41FA5}">
                      <a16:colId xmlns:a16="http://schemas.microsoft.com/office/drawing/2014/main" val="1871370037"/>
                    </a:ext>
                  </a:extLst>
                </a:gridCol>
                <a:gridCol w="1389050">
                  <a:extLst>
                    <a:ext uri="{9D8B030D-6E8A-4147-A177-3AD203B41FA5}">
                      <a16:colId xmlns:a16="http://schemas.microsoft.com/office/drawing/2014/main" val="431154076"/>
                    </a:ext>
                  </a:extLst>
                </a:gridCol>
              </a:tblGrid>
              <a:tr h="553177">
                <a:tc>
                  <a:txBody>
                    <a:bodyPr/>
                    <a:lstStyle/>
                    <a:p>
                      <a:r>
                        <a:rPr lang="en-US" sz="1600" err="1">
                          <a:latin typeface="Arial" panose="020B0604020202020204" pitchFamily="34" charset="0"/>
                          <a:cs typeface="Arial" panose="020B0604020202020204" pitchFamily="34" charset="0"/>
                        </a:rPr>
                        <a:t>Cust_ID</a:t>
                      </a:r>
                      <a:endParaRPr lang="en-US" sz="1600">
                        <a:latin typeface="Arial" panose="020B0604020202020204" pitchFamily="34" charset="0"/>
                        <a:cs typeface="Arial" panose="020B0604020202020204" pitchFamily="34" charset="0"/>
                      </a:endParaRPr>
                    </a:p>
                  </a:txBody>
                  <a:tcPr/>
                </a:tc>
                <a:tc>
                  <a:txBody>
                    <a:bodyPr/>
                    <a:lstStyle/>
                    <a:p>
                      <a:r>
                        <a:rPr lang="en-US" sz="1600">
                          <a:latin typeface="Arial" panose="020B0604020202020204" pitchFamily="34" charset="0"/>
                          <a:cs typeface="Arial" panose="020B0604020202020204" pitchFamily="34" charset="0"/>
                        </a:rPr>
                        <a:t>Name</a:t>
                      </a:r>
                    </a:p>
                  </a:txBody>
                  <a:tcPr/>
                </a:tc>
                <a:tc>
                  <a:txBody>
                    <a:bodyPr/>
                    <a:lstStyle/>
                    <a:p>
                      <a:r>
                        <a:rPr lang="en-US" sz="1600">
                          <a:latin typeface="Arial" panose="020B0604020202020204" pitchFamily="34" charset="0"/>
                          <a:cs typeface="Arial" panose="020B0604020202020204" pitchFamily="34" charset="0"/>
                        </a:rPr>
                        <a:t>Acct_</a:t>
                      </a:r>
                    </a:p>
                    <a:p>
                      <a:r>
                        <a:rPr lang="en-US" sz="1600">
                          <a:latin typeface="Arial" panose="020B0604020202020204" pitchFamily="34" charset="0"/>
                          <a:cs typeface="Arial" panose="020B0604020202020204" pitchFamily="34" charset="0"/>
                        </a:rPr>
                        <a:t>Number</a:t>
                      </a:r>
                    </a:p>
                  </a:txBody>
                  <a:tcPr/>
                </a:tc>
                <a:tc>
                  <a:txBody>
                    <a:bodyPr/>
                    <a:lstStyle/>
                    <a:p>
                      <a:r>
                        <a:rPr lang="en-US" sz="1600">
                          <a:latin typeface="Arial" panose="020B0604020202020204" pitchFamily="34" charset="0"/>
                          <a:cs typeface="Arial" panose="020B0604020202020204" pitchFamily="34" charset="0"/>
                        </a:rPr>
                        <a:t>Bank</a:t>
                      </a:r>
                    </a:p>
                    <a:p>
                      <a:r>
                        <a:rPr lang="en-US" sz="1600">
                          <a:latin typeface="Arial" panose="020B0604020202020204" pitchFamily="34" charset="0"/>
                          <a:cs typeface="Arial" panose="020B0604020202020204" pitchFamily="34" charset="0"/>
                        </a:rPr>
                        <a:t>Code</a:t>
                      </a:r>
                    </a:p>
                  </a:txBody>
                  <a:tcPr/>
                </a:tc>
                <a:extLst>
                  <a:ext uri="{0D108BD9-81ED-4DB2-BD59-A6C34878D82A}">
                    <a16:rowId xmlns:a16="http://schemas.microsoft.com/office/drawing/2014/main" val="3342753773"/>
                  </a:ext>
                </a:extLst>
              </a:tr>
              <a:tr h="371585">
                <a:tc>
                  <a:txBody>
                    <a:bodyPr/>
                    <a:lstStyle/>
                    <a:p>
                      <a:r>
                        <a:rPr lang="en-US" sz="1600">
                          <a:latin typeface="Arial" panose="020B0604020202020204" pitchFamily="34" charset="0"/>
                          <a:cs typeface="Arial" panose="020B0604020202020204" pitchFamily="34" charset="0"/>
                        </a:rPr>
                        <a:t>1</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John Smith</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200004</a:t>
                      </a:r>
                    </a:p>
                  </a:txBody>
                  <a:tcPr/>
                </a:tc>
                <a:tc>
                  <a:txBody>
                    <a:bodyPr/>
                    <a:lstStyle/>
                    <a:p>
                      <a:r>
                        <a:rPr lang="en-US" sz="1600">
                          <a:latin typeface="Arial" panose="020B0604020202020204" pitchFamily="34" charset="0"/>
                          <a:cs typeface="Arial" panose="020B0604020202020204" pitchFamily="34" charset="0"/>
                        </a:rPr>
                        <a:t>400</a:t>
                      </a:r>
                    </a:p>
                  </a:txBody>
                  <a:tcPr/>
                </a:tc>
                <a:extLst>
                  <a:ext uri="{0D108BD9-81ED-4DB2-BD59-A6C34878D82A}">
                    <a16:rowId xmlns:a16="http://schemas.microsoft.com/office/drawing/2014/main" val="4261082243"/>
                  </a:ext>
                </a:extLst>
              </a:tr>
              <a:tr h="371585">
                <a:tc>
                  <a:txBody>
                    <a:bodyPr/>
                    <a:lstStyle/>
                    <a:p>
                      <a:r>
                        <a:rPr lang="en-US" sz="1600">
                          <a:latin typeface="Arial" panose="020B0604020202020204" pitchFamily="34" charset="0"/>
                          <a:cs typeface="Arial" panose="020B0604020202020204" pitchFamily="34" charset="0"/>
                        </a:rPr>
                        <a:t>2</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Maria Griffin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545151</a:t>
                      </a:r>
                    </a:p>
                  </a:txBody>
                  <a:tcPr/>
                </a:tc>
                <a:tc>
                  <a:txBody>
                    <a:bodyPr/>
                    <a:lstStyle/>
                    <a:p>
                      <a:r>
                        <a:rPr lang="en-US" sz="1600">
                          <a:latin typeface="Arial" panose="020B0604020202020204" pitchFamily="34" charset="0"/>
                          <a:cs typeface="Arial" panose="020B0604020202020204" pitchFamily="34" charset="0"/>
                        </a:rPr>
                        <a:t>501</a:t>
                      </a:r>
                    </a:p>
                  </a:txBody>
                  <a:tcPr/>
                </a:tc>
                <a:extLst>
                  <a:ext uri="{0D108BD9-81ED-4DB2-BD59-A6C34878D82A}">
                    <a16:rowId xmlns:a16="http://schemas.microsoft.com/office/drawing/2014/main" val="2197385192"/>
                  </a:ext>
                </a:extLst>
              </a:tr>
              <a:tr h="371585">
                <a:tc>
                  <a:txBody>
                    <a:bodyPr/>
                    <a:lstStyle/>
                    <a:p>
                      <a:r>
                        <a:rPr lang="en-US" sz="1600">
                          <a:latin typeface="Arial" panose="020B0604020202020204" pitchFamily="34" charset="0"/>
                          <a:cs typeface="Arial" panose="020B0604020202020204" pitchFamily="34" charset="0"/>
                        </a:rPr>
                        <a:t>3</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Susan Johnson</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353453</a:t>
                      </a:r>
                    </a:p>
                  </a:txBody>
                  <a:tcPr/>
                </a:tc>
                <a:tc>
                  <a:txBody>
                    <a:bodyPr/>
                    <a:lstStyle/>
                    <a:p>
                      <a:r>
                        <a:rPr lang="en-US" sz="1600">
                          <a:latin typeface="Arial" panose="020B0604020202020204" pitchFamily="34" charset="0"/>
                          <a:cs typeface="Arial" panose="020B0604020202020204" pitchFamily="34" charset="0"/>
                        </a:rPr>
                        <a:t>400</a:t>
                      </a:r>
                    </a:p>
                  </a:txBody>
                  <a:tcPr/>
                </a:tc>
                <a:extLst>
                  <a:ext uri="{0D108BD9-81ED-4DB2-BD59-A6C34878D82A}">
                    <a16:rowId xmlns:a16="http://schemas.microsoft.com/office/drawing/2014/main" val="2619357166"/>
                  </a:ext>
                </a:extLst>
              </a:tr>
              <a:tr h="371585">
                <a:tc>
                  <a:txBody>
                    <a:bodyPr/>
                    <a:lstStyle/>
                    <a:p>
                      <a:r>
                        <a:rPr lang="en-US" sz="1600">
                          <a:latin typeface="Arial" panose="020B0604020202020204" pitchFamily="34" charset="0"/>
                          <a:cs typeface="Arial" panose="020B0604020202020204" pitchFamily="34" charset="0"/>
                        </a:rPr>
                        <a:t>4</a:t>
                      </a:r>
                    </a:p>
                  </a:txBody>
                  <a:tcPr/>
                </a:tc>
                <a:tc>
                  <a:txBody>
                    <a:bodyPr/>
                    <a:lstStyle/>
                    <a:p>
                      <a:pPr marL="0" marR="0" algn="l" fontAlgn="ctr">
                        <a:lnSpc>
                          <a:spcPct val="107000"/>
                        </a:lnSpc>
                        <a:spcBef>
                          <a:spcPts val="0"/>
                        </a:spcBef>
                        <a:spcAft>
                          <a:spcPts val="1800"/>
                        </a:spcAft>
                      </a:pPr>
                      <a:r>
                        <a:rPr lang="en-US" sz="1600" b="0" i="0" u="none" strike="noStrike">
                          <a:effectLst/>
                          <a:latin typeface="Arial" panose="020B0604020202020204" pitchFamily="34" charset="0"/>
                          <a:ea typeface="Times New Roman" panose="02020603050405020304" pitchFamily="18" charset="0"/>
                          <a:cs typeface="Arial" panose="020B0604020202020204" pitchFamily="34" charset="0"/>
                        </a:rPr>
                        <a:t>Matt Long</a:t>
                      </a:r>
                      <a:endParaRPr lang="en-US" sz="1600" b="0" i="0" u="none" strike="noStrike">
                        <a:effectLst/>
                        <a:latin typeface="Arial" panose="020B0604020202020204" pitchFamily="34" charset="0"/>
                        <a:cs typeface="Arial" panose="020B0604020202020204" pitchFamily="34" charset="0"/>
                      </a:endParaRPr>
                    </a:p>
                  </a:txBody>
                  <a:tcPr marL="50652" marR="50652" marT="50652" marB="50652" anchor="ctr"/>
                </a:tc>
                <a:tc>
                  <a:txBody>
                    <a:bodyPr/>
                    <a:lstStyle/>
                    <a:p>
                      <a:r>
                        <a:rPr lang="en-US" sz="1600">
                          <a:latin typeface="Arial" panose="020B0604020202020204" pitchFamily="34" charset="0"/>
                          <a:cs typeface="Arial" panose="020B0604020202020204" pitchFamily="34" charset="0"/>
                        </a:rPr>
                        <a:t>784234</a:t>
                      </a:r>
                    </a:p>
                  </a:txBody>
                  <a:tcPr/>
                </a:tc>
                <a:tc>
                  <a:txBody>
                    <a:bodyPr/>
                    <a:lstStyle/>
                    <a:p>
                      <a:r>
                        <a:rPr lang="en-US" sz="1600">
                          <a:latin typeface="Arial" panose="020B0604020202020204" pitchFamily="34" charset="0"/>
                          <a:cs typeface="Arial" panose="020B0604020202020204" pitchFamily="34" charset="0"/>
                        </a:rPr>
                        <a:t>303</a:t>
                      </a:r>
                    </a:p>
                  </a:txBody>
                  <a:tcPr/>
                </a:tc>
                <a:extLst>
                  <a:ext uri="{0D108BD9-81ED-4DB2-BD59-A6C34878D82A}">
                    <a16:rowId xmlns:a16="http://schemas.microsoft.com/office/drawing/2014/main" val="3548112095"/>
                  </a:ext>
                </a:extLst>
              </a:tr>
            </a:tbl>
          </a:graphicData>
        </a:graphic>
      </p:graphicFrame>
      <p:sp>
        <p:nvSpPr>
          <p:cNvPr id="8" name="Arrow: Up 9">
            <a:extLst>
              <a:ext uri="{FF2B5EF4-FFF2-40B4-BE49-F238E27FC236}">
                <a16:creationId xmlns:a16="http://schemas.microsoft.com/office/drawing/2014/main" id="{67F1CCB7-AD29-1650-A4F2-5DDE7537BF57}"/>
              </a:ext>
            </a:extLst>
          </p:cNvPr>
          <p:cNvSpPr/>
          <p:nvPr/>
        </p:nvSpPr>
        <p:spPr>
          <a:xfrm>
            <a:off x="4821212" y="4828344"/>
            <a:ext cx="660771" cy="9130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10377A5-BD72-0CF6-0D00-0ECC3E6C7C0F}"/>
              </a:ext>
            </a:extLst>
          </p:cNvPr>
          <p:cNvSpPr txBox="1"/>
          <p:nvPr/>
        </p:nvSpPr>
        <p:spPr>
          <a:xfrm>
            <a:off x="3887890" y="5846544"/>
            <a:ext cx="2309361" cy="646331"/>
          </a:xfrm>
          <a:prstGeom prst="rect">
            <a:avLst/>
          </a:prstGeom>
          <a:noFill/>
        </p:spPr>
        <p:txBody>
          <a:bodyPr wrap="square" rtlCol="0">
            <a:spAutoFit/>
          </a:bodyPr>
          <a:lstStyle/>
          <a:p>
            <a:r>
              <a:rPr lang="en-US" b="1"/>
              <a:t>Bank Name </a:t>
            </a:r>
            <a:r>
              <a:rPr lang="en-US"/>
              <a:t>depends on </a:t>
            </a:r>
            <a:r>
              <a:rPr lang="en-US" b="1"/>
              <a:t>Bank Code</a:t>
            </a:r>
          </a:p>
        </p:txBody>
      </p:sp>
    </p:spTree>
    <p:extLst>
      <p:ext uri="{BB962C8B-B14F-4D97-AF65-F5344CB8AC3E}">
        <p14:creationId xmlns:p14="http://schemas.microsoft.com/office/powerpoint/2010/main" val="1770848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AC264-C763-AE8E-A052-72D43D2559FA}"/>
              </a:ext>
            </a:extLst>
          </p:cNvPr>
          <p:cNvSpPr>
            <a:spLocks noGrp="1"/>
          </p:cNvSpPr>
          <p:nvPr>
            <p:ph type="title"/>
          </p:nvPr>
        </p:nvSpPr>
        <p:spPr/>
        <p:txBody>
          <a:bodyPr/>
          <a:lstStyle/>
          <a:p>
            <a:r>
              <a:rPr lang="en-GB" noProof="0"/>
              <a:t>Summary</a:t>
            </a:r>
          </a:p>
        </p:txBody>
      </p:sp>
      <p:sp>
        <p:nvSpPr>
          <p:cNvPr id="5" name="Content Placeholder 2">
            <a:extLst>
              <a:ext uri="{FF2B5EF4-FFF2-40B4-BE49-F238E27FC236}">
                <a16:creationId xmlns:a16="http://schemas.microsoft.com/office/drawing/2014/main" id="{E735B9F8-6A04-8F91-AC76-B78586F7E516}"/>
              </a:ext>
            </a:extLst>
          </p:cNvPr>
          <p:cNvSpPr>
            <a:spLocks noGrp="1"/>
          </p:cNvSpPr>
          <p:nvPr>
            <p:ph sz="half" idx="1"/>
          </p:nvPr>
        </p:nvSpPr>
        <p:spPr>
          <a:xfrm>
            <a:off x="838200" y="1825625"/>
            <a:ext cx="10515600" cy="2302622"/>
          </a:xfrm>
        </p:spPr>
        <p:txBody>
          <a:bodyPr>
            <a:normAutofit/>
          </a:bodyPr>
          <a:lstStyle/>
          <a:p>
            <a:pPr marL="342900" indent="-342900">
              <a:buFont typeface="Arial" panose="020B0604020202020204" pitchFamily="34" charset="0"/>
              <a:buChar char="•"/>
            </a:pPr>
            <a:r>
              <a:rPr lang="en-GB" noProof="0" dirty="0"/>
              <a:t>What is normalisation?</a:t>
            </a:r>
          </a:p>
          <a:p>
            <a:pPr marL="342900" indent="-342900">
              <a:buFont typeface="Arial" panose="020B0604020202020204" pitchFamily="34" charset="0"/>
              <a:buChar char="•"/>
            </a:pPr>
            <a:r>
              <a:rPr lang="en-GB" noProof="0" dirty="0"/>
              <a:t>Why do we need normalisation?</a:t>
            </a:r>
          </a:p>
          <a:p>
            <a:pPr marL="342900" indent="-342900">
              <a:buFont typeface="Arial" panose="020B0604020202020204" pitchFamily="34" charset="0"/>
              <a:buChar char="•"/>
            </a:pPr>
            <a:r>
              <a:rPr lang="en-US" dirty="0"/>
              <a:t>Types of dependencies – functional and transitive</a:t>
            </a:r>
            <a:endParaRPr lang="en-GB" noProof="0" dirty="0"/>
          </a:p>
          <a:p>
            <a:pPr marL="342900" indent="-342900">
              <a:buFont typeface="Arial" panose="020B0604020202020204" pitchFamily="34" charset="0"/>
              <a:buChar char="•"/>
            </a:pPr>
            <a:r>
              <a:rPr lang="en-US" noProof="0" dirty="0"/>
              <a:t>Various </a:t>
            </a:r>
            <a:r>
              <a:rPr lang="en-US" dirty="0"/>
              <a:t>levels of </a:t>
            </a:r>
            <a:r>
              <a:rPr lang="en-US" dirty="0" err="1"/>
              <a:t>normalisation</a:t>
            </a:r>
            <a:r>
              <a:rPr lang="en-US" dirty="0"/>
              <a:t> and examples – 1NF, 2NF, 3NF</a:t>
            </a:r>
          </a:p>
          <a:p>
            <a:pPr marL="342900" indent="-342900">
              <a:buFont typeface="Arial" panose="020B0604020202020204" pitchFamily="34" charset="0"/>
              <a:buChar char="•"/>
            </a:pPr>
            <a:endParaRPr lang="en-GB" noProof="0" dirty="0"/>
          </a:p>
        </p:txBody>
      </p:sp>
    </p:spTree>
    <p:extLst>
      <p:ext uri="{BB962C8B-B14F-4D97-AF65-F5344CB8AC3E}">
        <p14:creationId xmlns:p14="http://schemas.microsoft.com/office/powerpoint/2010/main" val="620631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A710-0BB5-B3C5-BFCF-8FDEF24042CA}"/>
              </a:ext>
            </a:extLst>
          </p:cNvPr>
          <p:cNvSpPr>
            <a:spLocks noGrp="1"/>
          </p:cNvSpPr>
          <p:nvPr>
            <p:ph type="title"/>
          </p:nvPr>
        </p:nvSpPr>
        <p:spPr>
          <a:xfrm>
            <a:off x="675693" y="950750"/>
            <a:ext cx="1840411" cy="577340"/>
          </a:xfrm>
        </p:spPr>
        <p:txBody>
          <a:bodyPr>
            <a:normAutofit fontScale="90000"/>
          </a:bodyPr>
          <a:lstStyle/>
          <a:p>
            <a:r>
              <a:rPr lang="en-US" dirty="0"/>
              <a:t>Next Week</a:t>
            </a:r>
          </a:p>
        </p:txBody>
      </p:sp>
      <p:graphicFrame>
        <p:nvGraphicFramePr>
          <p:cNvPr id="5" name="Table 4">
            <a:extLst>
              <a:ext uri="{FF2B5EF4-FFF2-40B4-BE49-F238E27FC236}">
                <a16:creationId xmlns:a16="http://schemas.microsoft.com/office/drawing/2014/main" id="{47C0B34A-6DEF-FF9F-08A7-EDA88FE71930}"/>
              </a:ext>
            </a:extLst>
          </p:cNvPr>
          <p:cNvGraphicFramePr>
            <a:graphicFrameLocks noGrp="1"/>
          </p:cNvGraphicFramePr>
          <p:nvPr>
            <p:extLst>
              <p:ext uri="{D42A27DB-BD31-4B8C-83A1-F6EECF244321}">
                <p14:modId xmlns:p14="http://schemas.microsoft.com/office/powerpoint/2010/main" val="3601291251"/>
              </p:ext>
            </p:extLst>
          </p:nvPr>
        </p:nvGraphicFramePr>
        <p:xfrm>
          <a:off x="2602411" y="263671"/>
          <a:ext cx="9399181" cy="6275241"/>
        </p:xfrm>
        <a:graphic>
          <a:graphicData uri="http://schemas.openxmlformats.org/drawingml/2006/table">
            <a:tbl>
              <a:tblPr firstRow="1" bandRow="1">
                <a:tableStyleId>{5C22544A-7EE6-4342-B048-85BDC9FD1C3A}</a:tableStyleId>
              </a:tblPr>
              <a:tblGrid>
                <a:gridCol w="712411">
                  <a:extLst>
                    <a:ext uri="{9D8B030D-6E8A-4147-A177-3AD203B41FA5}">
                      <a16:colId xmlns:a16="http://schemas.microsoft.com/office/drawing/2014/main" val="3694587546"/>
                    </a:ext>
                  </a:extLst>
                </a:gridCol>
                <a:gridCol w="2320423">
                  <a:extLst>
                    <a:ext uri="{9D8B030D-6E8A-4147-A177-3AD203B41FA5}">
                      <a16:colId xmlns:a16="http://schemas.microsoft.com/office/drawing/2014/main" val="1946343675"/>
                    </a:ext>
                  </a:extLst>
                </a:gridCol>
                <a:gridCol w="1424821">
                  <a:extLst>
                    <a:ext uri="{9D8B030D-6E8A-4147-A177-3AD203B41FA5}">
                      <a16:colId xmlns:a16="http://schemas.microsoft.com/office/drawing/2014/main" val="2219019823"/>
                    </a:ext>
                  </a:extLst>
                </a:gridCol>
                <a:gridCol w="4941526">
                  <a:extLst>
                    <a:ext uri="{9D8B030D-6E8A-4147-A177-3AD203B41FA5}">
                      <a16:colId xmlns:a16="http://schemas.microsoft.com/office/drawing/2014/main" val="3697729728"/>
                    </a:ext>
                  </a:extLst>
                </a:gridCol>
              </a:tblGrid>
              <a:tr h="593377">
                <a:tc>
                  <a:txBody>
                    <a:bodyPr/>
                    <a:lstStyle/>
                    <a:p>
                      <a:pPr algn="ctr"/>
                      <a:r>
                        <a:rPr lang="en-US" sz="1600" dirty="0">
                          <a:latin typeface="+mn-lt"/>
                        </a:rPr>
                        <a:t>Week</a:t>
                      </a:r>
                    </a:p>
                  </a:txBody>
                  <a:tcPr anchor="ctr"/>
                </a:tc>
                <a:tc>
                  <a:txBody>
                    <a:bodyPr/>
                    <a:lstStyle/>
                    <a:p>
                      <a:pPr algn="ctr"/>
                      <a:r>
                        <a:rPr lang="en-US" sz="1600" dirty="0">
                          <a:latin typeface="+mn-lt"/>
                        </a:rPr>
                        <a:t>Lecture Dates (Edgbaston)</a:t>
                      </a:r>
                    </a:p>
                  </a:txBody>
                  <a:tcPr anchor="ctr"/>
                </a:tc>
                <a:tc>
                  <a:txBody>
                    <a:bodyPr/>
                    <a:lstStyle/>
                    <a:p>
                      <a:pPr algn="ctr"/>
                      <a:r>
                        <a:rPr lang="en-US" sz="1600" dirty="0">
                          <a:latin typeface="+mn-lt"/>
                        </a:rPr>
                        <a:t>Lab Dates (Edgbaston)</a:t>
                      </a:r>
                    </a:p>
                  </a:txBody>
                  <a:tcPr anchor="ctr"/>
                </a:tc>
                <a:tc>
                  <a:txBody>
                    <a:bodyPr/>
                    <a:lstStyle/>
                    <a:p>
                      <a:pPr algn="ctr"/>
                      <a:r>
                        <a:rPr lang="en-US" sz="1600" dirty="0">
                          <a:latin typeface="+mn-lt"/>
                        </a:rPr>
                        <a:t>Topic</a:t>
                      </a:r>
                    </a:p>
                  </a:txBody>
                  <a:tcPr anchor="ctr"/>
                </a:tc>
                <a:extLst>
                  <a:ext uri="{0D108BD9-81ED-4DB2-BD59-A6C34878D82A}">
                    <a16:rowId xmlns:a16="http://schemas.microsoft.com/office/drawing/2014/main" val="2302920893"/>
                  </a:ext>
                </a:extLst>
              </a:tr>
              <a:tr h="376219">
                <a:tc>
                  <a:txBody>
                    <a:bodyPr/>
                    <a:lstStyle/>
                    <a:p>
                      <a:pPr algn="ctr"/>
                      <a:r>
                        <a:rPr lang="en-US" sz="1600" dirty="0">
                          <a:latin typeface="+mn-lt"/>
                        </a:rPr>
                        <a:t>1</a:t>
                      </a:r>
                    </a:p>
                  </a:txBody>
                  <a:tcPr anchor="ctr"/>
                </a:tc>
                <a:tc rowSpan="12">
                  <a:txBody>
                    <a:bodyPr/>
                    <a:lstStyle/>
                    <a:p>
                      <a:pPr algn="ctr"/>
                      <a:r>
                        <a:rPr lang="en-US" sz="1600" dirty="0">
                          <a:latin typeface="+mn-lt"/>
                        </a:rPr>
                        <a:t>Group 1 - Wednesdays (10:00-12:00) </a:t>
                      </a:r>
                    </a:p>
                    <a:p>
                      <a:pPr algn="ctr"/>
                      <a:r>
                        <a:rPr lang="en-US" sz="1600" dirty="0">
                          <a:latin typeface="+mn-lt"/>
                        </a:rPr>
                        <a:t>Group 2 - Fridays</a:t>
                      </a:r>
                    </a:p>
                    <a:p>
                      <a:pPr algn="ctr"/>
                      <a:r>
                        <a:rPr lang="en-US" sz="1600" dirty="0">
                          <a:latin typeface="+mn-lt"/>
                        </a:rPr>
                        <a:t> (12:00-14:00)</a:t>
                      </a:r>
                    </a:p>
                  </a:txBody>
                  <a:tcPr anchor="ctr"/>
                </a:tc>
                <a:tc rowSpan="12">
                  <a:txBody>
                    <a:bodyPr/>
                    <a:lstStyle/>
                    <a:p>
                      <a:pPr algn="ctr"/>
                      <a:r>
                        <a:rPr lang="en-US" sz="1600" dirty="0">
                          <a:latin typeface="+mn-lt"/>
                        </a:rPr>
                        <a:t>Fridays </a:t>
                      </a:r>
                    </a:p>
                    <a:p>
                      <a:pPr algn="ctr"/>
                      <a:r>
                        <a:rPr lang="en-US" sz="1600" dirty="0">
                          <a:latin typeface="+mn-lt"/>
                        </a:rPr>
                        <a:t>(14:00-17:00)</a:t>
                      </a:r>
                    </a:p>
                  </a:txBody>
                  <a:tcPr anchor="ctr"/>
                </a:tc>
                <a:tc>
                  <a:txBody>
                    <a:bodyPr/>
                    <a:lstStyle/>
                    <a:p>
                      <a:pPr algn="l"/>
                      <a:r>
                        <a:rPr lang="en-US" sz="1600" dirty="0">
                          <a:latin typeface="+mn-lt"/>
                        </a:rPr>
                        <a:t>Introduction to databases;  Database design guidelines</a:t>
                      </a:r>
                    </a:p>
                  </a:txBody>
                  <a:tcPr/>
                </a:tc>
                <a:extLst>
                  <a:ext uri="{0D108BD9-81ED-4DB2-BD59-A6C34878D82A}">
                    <a16:rowId xmlns:a16="http://schemas.microsoft.com/office/drawing/2014/main" val="1280773942"/>
                  </a:ext>
                </a:extLst>
              </a:tr>
              <a:tr h="595423">
                <a:tc>
                  <a:txBody>
                    <a:bodyPr/>
                    <a:lstStyle/>
                    <a:p>
                      <a:pPr algn="ctr"/>
                      <a:r>
                        <a:rPr lang="en-US" sz="1600" dirty="0">
                          <a:latin typeface="+mn-lt"/>
                        </a:rPr>
                        <a:t>2</a:t>
                      </a:r>
                    </a:p>
                  </a:txBody>
                  <a:tcPr anchor="ctr"/>
                </a:tc>
                <a:tc vMerge="1">
                  <a:txBody>
                    <a:bodyPr/>
                    <a:lstStyle/>
                    <a:p>
                      <a:endParaRPr lang="en-US"/>
                    </a:p>
                  </a:txBody>
                  <a:tcPr/>
                </a:tc>
                <a:tc vMerge="1">
                  <a:txBody>
                    <a:bodyPr/>
                    <a:lstStyle/>
                    <a:p>
                      <a:endParaRPr lang="en-US"/>
                    </a:p>
                  </a:txBody>
                  <a:tcPr/>
                </a:tc>
                <a:tc rowSpan="2">
                  <a:txBody>
                    <a:bodyPr/>
                    <a:lstStyle/>
                    <a:p>
                      <a:pPr algn="l"/>
                      <a:r>
                        <a:rPr lang="en-US" sz="1600" dirty="0">
                          <a:latin typeface="+mn-lt"/>
                        </a:rPr>
                        <a:t>Database design, Entity relation (ER) modelling; Keys; </a:t>
                      </a:r>
                      <a:r>
                        <a:rPr lang="en-US" sz="1600" dirty="0" err="1">
                          <a:latin typeface="+mn-lt"/>
                        </a:rPr>
                        <a:t>Normalisation</a:t>
                      </a:r>
                      <a:r>
                        <a:rPr lang="en-US" sz="1600" dirty="0">
                          <a:latin typeface="+mn-lt"/>
                        </a:rPr>
                        <a:t>​ </a:t>
                      </a:r>
                    </a:p>
                  </a:txBody>
                  <a:tcPr/>
                </a:tc>
                <a:extLst>
                  <a:ext uri="{0D108BD9-81ED-4DB2-BD59-A6C34878D82A}">
                    <a16:rowId xmlns:a16="http://schemas.microsoft.com/office/drawing/2014/main" val="4211455715"/>
                  </a:ext>
                </a:extLst>
              </a:tr>
              <a:tr h="119358">
                <a:tc rowSpan="2">
                  <a:txBody>
                    <a:bodyPr/>
                    <a:lstStyle/>
                    <a:p>
                      <a:pPr algn="ctr"/>
                      <a:r>
                        <a:rPr lang="en-US" sz="1600" dirty="0">
                          <a:latin typeface="+mn-lt"/>
                        </a:rPr>
                        <a:t>3</a:t>
                      </a:r>
                    </a:p>
                  </a:txBody>
                  <a:tcPr anchor="ctr"/>
                </a:tc>
                <a:tc vMerge="1">
                  <a:txBody>
                    <a:bodyPr/>
                    <a:lstStyle/>
                    <a:p>
                      <a:endParaRPr lang="en-US"/>
                    </a:p>
                  </a:txBody>
                  <a:tcPr/>
                </a:tc>
                <a:tc vMerge="1">
                  <a:txBody>
                    <a:bodyPr/>
                    <a:lstStyle/>
                    <a:p>
                      <a:endParaRPr lang="en-US"/>
                    </a:p>
                  </a:txBody>
                  <a:tcPr/>
                </a:tc>
                <a:tc vMerge="1">
                  <a:txBody>
                    <a:bodyPr/>
                    <a:lstStyle/>
                    <a:p>
                      <a:pPr marL="0" marR="0" indent="0" algn="l" rtl="0" eaLnBrk="1" fontAlgn="auto" latinLnBrk="0" hangingPunct="1">
                        <a:lnSpc>
                          <a:spcPct val="100000"/>
                        </a:lnSpc>
                        <a:spcBef>
                          <a:spcPts val="0"/>
                        </a:spcBef>
                        <a:spcAft>
                          <a:spcPts val="0"/>
                        </a:spcAft>
                        <a:buClrTx/>
                        <a:buSzTx/>
                        <a:buFontTx/>
                        <a:buNone/>
                      </a:pPr>
                      <a:endParaRPr lang="en-US" sz="1600" dirty="0">
                        <a:latin typeface="+mn-lt"/>
                      </a:endParaRPr>
                    </a:p>
                  </a:txBody>
                  <a:tcPr/>
                </a:tc>
                <a:extLst>
                  <a:ext uri="{0D108BD9-81ED-4DB2-BD59-A6C34878D82A}">
                    <a16:rowId xmlns:a16="http://schemas.microsoft.com/office/drawing/2014/main" val="3816289384"/>
                  </a:ext>
                </a:extLst>
              </a:tr>
              <a:tr h="593377">
                <a:tc vMerge="1">
                  <a:txBody>
                    <a:bodyPr/>
                    <a:lstStyle/>
                    <a:p>
                      <a:pPr algn="ctr"/>
                      <a:r>
                        <a:rPr lang="en-US" sz="1600" dirty="0">
                          <a:latin typeface="+mn-lt"/>
                        </a:rPr>
                        <a:t>3</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kern="1200" dirty="0">
                          <a:solidFill>
                            <a:schemeClr val="dk1"/>
                          </a:solidFill>
                          <a:effectLst/>
                          <a:latin typeface="+mn-lt"/>
                          <a:ea typeface="+mn-ea"/>
                          <a:cs typeface="+mn-cs"/>
                        </a:rPr>
                        <a:t>Creating and populating databases; </a:t>
                      </a:r>
                      <a:r>
                        <a:rPr lang="en-US" sz="1600" b="0" i="0" u="none" strike="noStrike" kern="1200" noProof="0" dirty="0">
                          <a:solidFill>
                            <a:schemeClr val="dk1"/>
                          </a:solidFill>
                          <a:effectLst/>
                          <a:latin typeface="+mn-lt"/>
                        </a:rPr>
                        <a:t>PostgreSQL</a:t>
                      </a:r>
                    </a:p>
                  </a:txBody>
                  <a:tcPr/>
                </a:tc>
                <a:extLst>
                  <a:ext uri="{0D108BD9-81ED-4DB2-BD59-A6C34878D82A}">
                    <a16:rowId xmlns:a16="http://schemas.microsoft.com/office/drawing/2014/main" val="3022287852"/>
                  </a:ext>
                </a:extLst>
              </a:tr>
              <a:tr h="593377">
                <a:tc>
                  <a:txBody>
                    <a:bodyPr/>
                    <a:lstStyle/>
                    <a:p>
                      <a:pPr algn="ctr"/>
                      <a:r>
                        <a:rPr lang="en-US" sz="1600" dirty="0">
                          <a:latin typeface="+mn-lt"/>
                        </a:rPr>
                        <a:t>4</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algn="l"/>
                      <a:r>
                        <a:rPr lang="en-US" sz="1600" dirty="0">
                          <a:latin typeface="+mn-lt"/>
                        </a:rPr>
                        <a:t>SQL Querying – Operators, Ordering, Aggregation; NoSQL and Graph Databases</a:t>
                      </a:r>
                    </a:p>
                  </a:txBody>
                  <a:tcPr/>
                </a:tc>
                <a:extLst>
                  <a:ext uri="{0D108BD9-81ED-4DB2-BD59-A6C34878D82A}">
                    <a16:rowId xmlns:a16="http://schemas.microsoft.com/office/drawing/2014/main" val="1056254541"/>
                  </a:ext>
                </a:extLst>
              </a:tr>
              <a:tr h="343534">
                <a:tc>
                  <a:txBody>
                    <a:bodyPr/>
                    <a:lstStyle/>
                    <a:p>
                      <a:pPr algn="ctr"/>
                      <a:r>
                        <a:rPr lang="en-US" sz="1600" dirty="0">
                          <a:latin typeface="+mn-lt"/>
                        </a:rPr>
                        <a:t>5</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algn="ctr"/>
                      <a:r>
                        <a:rPr lang="en-US" sz="1600" dirty="0">
                          <a:latin typeface="+mn-lt"/>
                        </a:rPr>
                        <a:t>NoSQL and Graph Databases; </a:t>
                      </a:r>
                      <a:r>
                        <a:rPr lang="en-US" sz="1600" dirty="0">
                          <a:solidFill>
                            <a:srgbClr val="7030A0"/>
                          </a:solidFill>
                          <a:highlight>
                            <a:srgbClr val="FFFF00"/>
                          </a:highlight>
                          <a:latin typeface="+mn-lt"/>
                        </a:rPr>
                        <a:t>Class Test</a:t>
                      </a:r>
                    </a:p>
                  </a:txBody>
                  <a:tcPr/>
                </a:tc>
                <a:extLst>
                  <a:ext uri="{0D108BD9-81ED-4DB2-BD59-A6C34878D82A}">
                    <a16:rowId xmlns:a16="http://schemas.microsoft.com/office/drawing/2014/main" val="2870486376"/>
                  </a:ext>
                </a:extLst>
              </a:tr>
              <a:tr h="343534">
                <a:tc>
                  <a:txBody>
                    <a:bodyPr/>
                    <a:lstStyle/>
                    <a:p>
                      <a:pPr algn="ctr"/>
                      <a:r>
                        <a:rPr lang="en-US" sz="1600" dirty="0">
                          <a:latin typeface="+mn-lt"/>
                        </a:rPr>
                        <a:t>6</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algn="l"/>
                      <a:r>
                        <a:rPr lang="en-US" sz="1600" dirty="0">
                          <a:latin typeface="+mn-lt"/>
                        </a:rPr>
                        <a:t>Assessment support week</a:t>
                      </a:r>
                    </a:p>
                  </a:txBody>
                  <a:tcPr anchor="ctr"/>
                </a:tc>
                <a:extLst>
                  <a:ext uri="{0D108BD9-81ED-4DB2-BD59-A6C34878D82A}">
                    <a16:rowId xmlns:a16="http://schemas.microsoft.com/office/drawing/2014/main" val="2290216521"/>
                  </a:ext>
                </a:extLst>
              </a:tr>
              <a:tr h="593377">
                <a:tc>
                  <a:txBody>
                    <a:bodyPr/>
                    <a:lstStyle/>
                    <a:p>
                      <a:pPr algn="ctr"/>
                      <a:r>
                        <a:rPr lang="en-US" sz="1600" dirty="0">
                          <a:latin typeface="+mn-lt"/>
                        </a:rPr>
                        <a:t>7</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i="0" u="none" strike="noStrike" kern="1200" dirty="0">
                          <a:solidFill>
                            <a:schemeClr val="dk1"/>
                          </a:solidFill>
                          <a:effectLst/>
                          <a:latin typeface="+mn-lt"/>
                          <a:ea typeface="+mn-ea"/>
                          <a:cs typeface="+mn-cs"/>
                        </a:rPr>
                        <a:t>Web programming introduction; Tech stack, Template application</a:t>
                      </a:r>
                      <a:endParaRPr lang="en-US" sz="1600" dirty="0">
                        <a:latin typeface="+mn-lt"/>
                      </a:endParaRPr>
                    </a:p>
                  </a:txBody>
                  <a:tcPr anchor="ctr"/>
                </a:tc>
                <a:extLst>
                  <a:ext uri="{0D108BD9-81ED-4DB2-BD59-A6C34878D82A}">
                    <a16:rowId xmlns:a16="http://schemas.microsoft.com/office/drawing/2014/main" val="3998008016"/>
                  </a:ext>
                </a:extLst>
              </a:tr>
              <a:tr h="593377">
                <a:tc>
                  <a:txBody>
                    <a:bodyPr/>
                    <a:lstStyle/>
                    <a:p>
                      <a:pPr algn="ctr"/>
                      <a:r>
                        <a:rPr lang="en-US" sz="1600" dirty="0">
                          <a:latin typeface="+mn-lt"/>
                        </a:rPr>
                        <a:t>8</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i="0" u="none" strike="noStrike" kern="1200" dirty="0">
                          <a:solidFill>
                            <a:schemeClr val="dk1"/>
                          </a:solidFill>
                          <a:effectLst/>
                          <a:latin typeface="+mn-lt"/>
                          <a:ea typeface="+mn-ea"/>
                          <a:cs typeface="+mn-cs"/>
                        </a:rPr>
                        <a:t>Web applications vs Static pages; Tech stack concepts; REST APIs; RESTFUL style</a:t>
                      </a:r>
                      <a:endParaRPr lang="en-US" sz="1600" dirty="0">
                        <a:latin typeface="+mn-lt"/>
                      </a:endParaRPr>
                    </a:p>
                  </a:txBody>
                  <a:tcPr anchor="ctr"/>
                </a:tc>
                <a:extLst>
                  <a:ext uri="{0D108BD9-81ED-4DB2-BD59-A6C34878D82A}">
                    <a16:rowId xmlns:a16="http://schemas.microsoft.com/office/drawing/2014/main" val="680997059"/>
                  </a:ext>
                </a:extLst>
              </a:tr>
              <a:tr h="593377">
                <a:tc>
                  <a:txBody>
                    <a:bodyPr/>
                    <a:lstStyle/>
                    <a:p>
                      <a:pPr algn="ctr"/>
                      <a:r>
                        <a:rPr lang="en-US" sz="1600" dirty="0">
                          <a:latin typeface="+mn-lt"/>
                        </a:rPr>
                        <a:t>9</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i="0" u="none" strike="noStrike" kern="1200" dirty="0" err="1">
                          <a:solidFill>
                            <a:schemeClr val="dk1"/>
                          </a:solidFill>
                          <a:effectLst/>
                          <a:latin typeface="+mn-lt"/>
                          <a:ea typeface="+mn-ea"/>
                          <a:cs typeface="+mn-cs"/>
                        </a:rPr>
                        <a:t>SpringBoot</a:t>
                      </a:r>
                      <a:r>
                        <a:rPr lang="en-GB" sz="1600" b="0" i="0" u="none" strike="noStrike" kern="1200" dirty="0">
                          <a:solidFill>
                            <a:schemeClr val="dk1"/>
                          </a:solidFill>
                          <a:effectLst/>
                          <a:latin typeface="+mn-lt"/>
                          <a:ea typeface="+mn-ea"/>
                          <a:cs typeface="+mn-cs"/>
                        </a:rPr>
                        <a:t> application structure,; </a:t>
                      </a:r>
                      <a:r>
                        <a:rPr lang="en-GB" sz="1600" b="0" i="0" u="none" strike="noStrike" kern="1200" dirty="0" err="1">
                          <a:solidFill>
                            <a:schemeClr val="dk1"/>
                          </a:solidFill>
                          <a:effectLst/>
                          <a:latin typeface="+mn-lt"/>
                          <a:ea typeface="+mn-ea"/>
                          <a:cs typeface="+mn-cs"/>
                        </a:rPr>
                        <a:t>SpringBoot</a:t>
                      </a:r>
                      <a:r>
                        <a:rPr lang="en-GB" sz="1600" b="0" i="0" u="none" strike="noStrike" kern="1200" dirty="0">
                          <a:solidFill>
                            <a:schemeClr val="dk1"/>
                          </a:solidFill>
                          <a:effectLst/>
                          <a:latin typeface="+mn-lt"/>
                          <a:ea typeface="+mn-ea"/>
                          <a:cs typeface="+mn-cs"/>
                        </a:rPr>
                        <a:t> annotations, case study</a:t>
                      </a:r>
                      <a:endParaRPr lang="en-US" sz="1600" dirty="0">
                        <a:latin typeface="+mn-lt"/>
                      </a:endParaRPr>
                    </a:p>
                  </a:txBody>
                  <a:tcPr anchor="ctr"/>
                </a:tc>
                <a:extLst>
                  <a:ext uri="{0D108BD9-81ED-4DB2-BD59-A6C34878D82A}">
                    <a16:rowId xmlns:a16="http://schemas.microsoft.com/office/drawing/2014/main" val="968342401"/>
                  </a:ext>
                </a:extLst>
              </a:tr>
              <a:tr h="593377">
                <a:tc>
                  <a:txBody>
                    <a:bodyPr/>
                    <a:lstStyle/>
                    <a:p>
                      <a:pPr algn="ctr"/>
                      <a:r>
                        <a:rPr lang="en-US" sz="1600" dirty="0">
                          <a:latin typeface="+mn-lt"/>
                        </a:rPr>
                        <a:t>10</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Front end concepts, TypeScript fundamentals, Angular front end development, </a:t>
                      </a:r>
                    </a:p>
                  </a:txBody>
                  <a:tcPr anchor="ctr"/>
                </a:tc>
                <a:extLst>
                  <a:ext uri="{0D108BD9-81ED-4DB2-BD59-A6C34878D82A}">
                    <a16:rowId xmlns:a16="http://schemas.microsoft.com/office/drawing/2014/main" val="3604303297"/>
                  </a:ext>
                </a:extLst>
              </a:tr>
              <a:tr h="343534">
                <a:tc>
                  <a:txBody>
                    <a:bodyPr/>
                    <a:lstStyle/>
                    <a:p>
                      <a:pPr algn="ctr"/>
                      <a:r>
                        <a:rPr lang="en-US" sz="1600" dirty="0">
                          <a:latin typeface="+mn-lt"/>
                        </a:rPr>
                        <a:t>11</a:t>
                      </a:r>
                    </a:p>
                  </a:txBody>
                  <a:tcPr anchor="ctr"/>
                </a:tc>
                <a:tc vMerge="1">
                  <a:txBody>
                    <a:bodyPr/>
                    <a:lstStyle/>
                    <a:p>
                      <a:pPr algn="ctr"/>
                      <a:endParaRPr lang="en-US" dirty="0"/>
                    </a:p>
                  </a:txBody>
                  <a:tcPr anchor="ctr"/>
                </a:tc>
                <a:tc vMerge="1">
                  <a:txBody>
                    <a:bodyPr/>
                    <a:lstStyle/>
                    <a:p>
                      <a:pPr algn="ct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7030A0"/>
                          </a:solidFill>
                          <a:highlight>
                            <a:srgbClr val="FFFF00"/>
                          </a:highlight>
                          <a:latin typeface="+mn-lt"/>
                        </a:rPr>
                        <a:t>Class Test</a:t>
                      </a:r>
                    </a:p>
                  </a:txBody>
                  <a:tcPr anchor="ctr"/>
                </a:tc>
                <a:extLst>
                  <a:ext uri="{0D108BD9-81ED-4DB2-BD59-A6C34878D82A}">
                    <a16:rowId xmlns:a16="http://schemas.microsoft.com/office/drawing/2014/main" val="1348074625"/>
                  </a:ext>
                </a:extLst>
              </a:tr>
            </a:tbl>
          </a:graphicData>
        </a:graphic>
      </p:graphicFrame>
      <p:sp>
        <p:nvSpPr>
          <p:cNvPr id="8" name="Right Arrow 7">
            <a:extLst>
              <a:ext uri="{FF2B5EF4-FFF2-40B4-BE49-F238E27FC236}">
                <a16:creationId xmlns:a16="http://schemas.microsoft.com/office/drawing/2014/main" id="{DC395B81-5F84-984E-DA4C-6DC12D540D9C}"/>
              </a:ext>
            </a:extLst>
          </p:cNvPr>
          <p:cNvSpPr/>
          <p:nvPr/>
        </p:nvSpPr>
        <p:spPr>
          <a:xfrm>
            <a:off x="589385" y="1947539"/>
            <a:ext cx="2185639" cy="4683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7980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24DE1-C512-AA34-D321-16CA00355C6B}"/>
              </a:ext>
            </a:extLst>
          </p:cNvPr>
          <p:cNvSpPr>
            <a:spLocks noGrp="1"/>
          </p:cNvSpPr>
          <p:nvPr>
            <p:ph type="title"/>
          </p:nvPr>
        </p:nvSpPr>
        <p:spPr>
          <a:xfrm>
            <a:off x="838200" y="2664572"/>
            <a:ext cx="10515600" cy="1325563"/>
          </a:xfrm>
        </p:spPr>
        <p:txBody>
          <a:bodyPr/>
          <a:lstStyle/>
          <a:p>
            <a:r>
              <a:rPr lang="en-GB" noProof="0" dirty="0"/>
              <a:t>Questions?</a:t>
            </a:r>
          </a:p>
        </p:txBody>
      </p:sp>
    </p:spTree>
    <p:extLst>
      <p:ext uri="{BB962C8B-B14F-4D97-AF65-F5344CB8AC3E}">
        <p14:creationId xmlns:p14="http://schemas.microsoft.com/office/powerpoint/2010/main" val="60533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C854-D9D1-0689-6EE3-FD721F67B51B}"/>
              </a:ext>
            </a:extLst>
          </p:cNvPr>
          <p:cNvSpPr>
            <a:spLocks noGrp="1"/>
          </p:cNvSpPr>
          <p:nvPr>
            <p:ph type="title"/>
          </p:nvPr>
        </p:nvSpPr>
        <p:spPr/>
        <p:txBody>
          <a:bodyPr/>
          <a:lstStyle/>
          <a:p>
            <a:r>
              <a:rPr lang="en-GB"/>
              <a:t>R</a:t>
            </a:r>
            <a:r>
              <a:rPr lang="en-GB" noProof="0" err="1"/>
              <a:t>eferences</a:t>
            </a:r>
            <a:endParaRPr lang="en-GB" noProof="0"/>
          </a:p>
        </p:txBody>
      </p:sp>
      <p:sp>
        <p:nvSpPr>
          <p:cNvPr id="3" name="Content Placeholder 2">
            <a:extLst>
              <a:ext uri="{FF2B5EF4-FFF2-40B4-BE49-F238E27FC236}">
                <a16:creationId xmlns:a16="http://schemas.microsoft.com/office/drawing/2014/main" id="{1A89E008-A9E8-A93E-FC25-AF3631029D38}"/>
              </a:ext>
            </a:extLst>
          </p:cNvPr>
          <p:cNvSpPr>
            <a:spLocks noGrp="1"/>
          </p:cNvSpPr>
          <p:nvPr>
            <p:ph sz="half" idx="1"/>
          </p:nvPr>
        </p:nvSpPr>
        <p:spPr/>
        <p:txBody>
          <a:bodyPr/>
          <a:lstStyle/>
          <a:p>
            <a:endParaRPr lang="en-GB" noProof="0"/>
          </a:p>
          <a:p>
            <a:r>
              <a:rPr lang="en-GB"/>
              <a:t>Ramakrishnan, R., Gehrke, J. and Gehrke, J., 2003. Database management systems (Vol. 3). New York: McGraw-Hill.</a:t>
            </a:r>
            <a:r>
              <a:rPr lang="en-GB" noProof="0"/>
              <a:t>Rochester</a:t>
            </a:r>
          </a:p>
          <a:p>
            <a:r>
              <a:rPr lang="en-GB"/>
              <a:t>University of Cambridge, </a:t>
            </a:r>
            <a:r>
              <a:rPr lang="en-GB">
                <a:hlinkClick r:id="rId2"/>
              </a:rPr>
              <a:t>Lecture 7: Schema Refinement and Normalisation</a:t>
            </a:r>
            <a:endParaRPr lang="en-GB"/>
          </a:p>
          <a:p>
            <a:r>
              <a:rPr lang="en-GB"/>
              <a:t>Examples on database anomalies from </a:t>
            </a:r>
            <a:r>
              <a:rPr lang="en-GB" noProof="0"/>
              <a:t>Rochester Institute of Technology, </a:t>
            </a:r>
            <a:r>
              <a:rPr lang="en-GB" noProof="0">
                <a:hlinkClick r:id="rId3"/>
              </a:rPr>
              <a:t>03- Database Normalisation</a:t>
            </a:r>
            <a:r>
              <a:rPr lang="en-GB" noProof="0"/>
              <a:t>, Available online</a:t>
            </a:r>
            <a:endParaRPr lang="en-GB"/>
          </a:p>
          <a:p>
            <a:endParaRPr lang="en-GB" noProof="0"/>
          </a:p>
        </p:txBody>
      </p:sp>
    </p:spTree>
    <p:extLst>
      <p:ext uri="{BB962C8B-B14F-4D97-AF65-F5344CB8AC3E}">
        <p14:creationId xmlns:p14="http://schemas.microsoft.com/office/powerpoint/2010/main" val="4052658596"/>
      </p:ext>
    </p:extLst>
  </p:cSld>
  <p:clrMapOvr>
    <a:masterClrMapping/>
  </p:clrMapOvr>
</p:sld>
</file>

<file path=ppt/theme/theme1.xml><?xml version="1.0" encoding="utf-8"?>
<a:theme xmlns:a="http://schemas.openxmlformats.org/drawingml/2006/main" name="Light Theme">
  <a:themeElements>
    <a:clrScheme name="Brand Hyperlink">
      <a:dk1>
        <a:srgbClr val="1B1B1B"/>
      </a:dk1>
      <a:lt1>
        <a:srgbClr val="FAFAFA"/>
      </a:lt1>
      <a:dk2>
        <a:srgbClr val="C59A00"/>
      </a:dk2>
      <a:lt2>
        <a:srgbClr val="C20019"/>
      </a:lt2>
      <a:accent1>
        <a:srgbClr val="007838"/>
      </a:accent1>
      <a:accent2>
        <a:srgbClr val="00788E"/>
      </a:accent2>
      <a:accent3>
        <a:srgbClr val="0057BF"/>
      </a:accent3>
      <a:accent4>
        <a:srgbClr val="501D83"/>
      </a:accent4>
      <a:accent5>
        <a:srgbClr val="DB0061"/>
      </a:accent5>
      <a:accent6>
        <a:srgbClr val="CF4527"/>
      </a:accent6>
      <a:hlink>
        <a:srgbClr val="0057BF"/>
      </a:hlink>
      <a:folHlink>
        <a:srgbClr val="0057B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A64A8D97-CF93-F647-93A8-33E362D4269F}" vid="{64564872-FB29-C447-B5D6-A2004310C6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Template</Template>
  <TotalTime>9</TotalTime>
  <Words>2153</Words>
  <Application>Microsoft Macintosh PowerPoint</Application>
  <PresentationFormat>Widescreen</PresentationFormat>
  <Paragraphs>601</Paragraphs>
  <Slides>33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Arial</vt:lpstr>
      <vt:lpstr>Calibri</vt:lpstr>
      <vt:lpstr>Monotype Sorts</vt:lpstr>
      <vt:lpstr>Segoe UI</vt:lpstr>
      <vt:lpstr>Times New Roman</vt:lpstr>
      <vt:lpstr>Light Theme</vt:lpstr>
      <vt:lpstr>Normalisation</vt:lpstr>
      <vt:lpstr>Learning objectives</vt:lpstr>
      <vt:lpstr>What is normalisation?</vt:lpstr>
      <vt:lpstr>What is normalisation?</vt:lpstr>
      <vt:lpstr>Why do we need normalisation?</vt:lpstr>
      <vt:lpstr>Non-normalised Table Example</vt:lpstr>
      <vt:lpstr>Non-normalised Table Example (Cont.)</vt:lpstr>
      <vt:lpstr>Non-normalised Table Example (Cont.)</vt:lpstr>
      <vt:lpstr>Other Anomalies – Modifying Data</vt:lpstr>
      <vt:lpstr>Other Anomalies – Removing Data</vt:lpstr>
      <vt:lpstr>Normalisation Levels</vt:lpstr>
      <vt:lpstr>PowerPoint Presentation</vt:lpstr>
      <vt:lpstr>First Normal Form - 1NF</vt:lpstr>
      <vt:lpstr>1 NF Example</vt:lpstr>
      <vt:lpstr>What can we do?</vt:lpstr>
      <vt:lpstr>Questions</vt:lpstr>
      <vt:lpstr>PowerPoint Presentation</vt:lpstr>
      <vt:lpstr>Second Normal Form – 2 NF</vt:lpstr>
      <vt:lpstr>Functional Dependency</vt:lpstr>
      <vt:lpstr>Functional Dependency Example</vt:lpstr>
      <vt:lpstr>2 NF Example</vt:lpstr>
      <vt:lpstr>Foreign Keys</vt:lpstr>
      <vt:lpstr>How to manage the other tables?</vt:lpstr>
      <vt:lpstr>Questions</vt:lpstr>
      <vt:lpstr>PowerPoint Presentation</vt:lpstr>
      <vt:lpstr>Third Normal Form – 3NF</vt:lpstr>
      <vt:lpstr>Transitive Functional Dependency</vt:lpstr>
      <vt:lpstr>Transitive Functional Dependency Example</vt:lpstr>
      <vt:lpstr>3 NF Example</vt:lpstr>
      <vt:lpstr>Summary</vt:lpstr>
      <vt:lpstr>Next Week</vt:lpstr>
      <vt:lpstr>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Anelia Kurteva (Computer Science)</dc:creator>
  <cp:lastModifiedBy>Anelia Kurteva (Computer Science)</cp:lastModifiedBy>
  <cp:revision>9</cp:revision>
  <dcterms:created xsi:type="dcterms:W3CDTF">2025-06-29T08:49:12Z</dcterms:created>
  <dcterms:modified xsi:type="dcterms:W3CDTF">2025-09-24T14:37:49Z</dcterms:modified>
</cp:coreProperties>
</file>